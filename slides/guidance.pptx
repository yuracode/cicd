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はじめに" id="{5a07560d-d80d-b30d-367d-34c82a586a43}">
          <p14:sldIdLst>
            <p14:sldId id="256"/>
            <p14:sldId id="257"/>
            <p14:sldId id="258"/>
            <p14:sldId id="259"/>
          </p14:sldIdLst>
        </p14:section>
        <p14:section name="全体像" id="{521b44e4-ee8f-7b31-d89f-bfa381493d20}">
          <p14:sldIdLst>
            <p14:sldId id="260"/>
            <p14:sldId id="261"/>
            <p14:sldId id="262"/>
          </p14:sldIdLst>
        </p14:section>
        <p14:section name="Phase 1" id="{577b2a00-f739-15f1-98b4-302b8b26e803}">
          <p14:sldIdLst>
            <p14:sldId id="263"/>
            <p14:sldId id="264"/>
          </p14:sldIdLst>
        </p14:section>
        <p14:section name="Phase 2" id="{85a25228-cff5-60f3-1574-26e9ed9d92a4}">
          <p14:sldIdLst>
            <p14:sldId id="265"/>
            <p14:sldId id="266"/>
            <p14:sldId id="267"/>
          </p14:sldIdLst>
        </p14:section>
        <p14:section name="Phase 3" id="{80e43e3c-b6d0-f49d-8834-1626f164cbfb}">
          <p14:sldIdLst>
            <p14:sldId id="268"/>
            <p14:sldId id="269"/>
            <p14:sldId id="270"/>
            <p14:sldId id="271"/>
          </p14:sldIdLst>
        </p14:section>
        <p14:section name="Phase 4" id="{abcd86a5-f089-717e-20e2-cf5c84cceae5}">
          <p14:sldIdLst>
            <p14:sldId id="272"/>
            <p14:sldId id="273"/>
            <p14:sldId id="274"/>
            <p14:sldId id="275"/>
            <p14:sldId id="276"/>
          </p14:sldIdLst>
        </p14:section>
        <p14:section name="Phase 5・発展編" id="{e5451436-b2ee-236e-7ef4-1c4d434f8c6d}">
          <p14:sldIdLst>
            <p14:sldId id="277"/>
            <p14:sldId id="278"/>
          </p14:sldIdLst>
        </p14:section>
        <p14:section name="おわりに" id="{138641cf-6729-6092-b51d-777d5df0b8d8}">
          <p14:sldIdLst>
            <p14:sldId id="279"/>
            <p14:sldId id="28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F3D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400" b="1" dirty="0">
                <a:solidFill>
                  <a:srgbClr val="FFFFFF"/>
                </a:solidFill>
              </a:defRPr>
            </a:lvl1pPr>
          </a:lstStyle>
          <a:p>
            <a:pPr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474720"/>
            <a:ext cx="106984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rgbClr val="BFE3E2"/>
                </a:solidFill>
              </a:defRPr>
            </a:lvl1pPr>
          </a:lstStyle>
          <a:p>
            <a:pPr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b="1" dirty="0">
                <a:solidFill>
                  <a:srgbClr val="0F3D3E"/>
                </a:solidFill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A8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A8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2801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Webフロントエンド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474720"/>
            <a:ext cx="1069848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BFE3E2"/>
                </a:solidFill>
              </a:rPr>
              <a:t>Next.js で React を学び直し → テスト → GitHub Actions → CI/CD → デプロイ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BFE3E2"/>
                </a:solidFill>
              </a:rPr>
              <a:t>授業ガイダンス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3000" b="1" dirty="0">
                <a:solidFill>
                  <a:srgbClr val="0F3D3E"/>
                </a:solidFill>
              </a:rPr>
              <a:t>この授業のゴール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919B"/>
                </a:solidFill>
              </a:rPr>
              <a:t>「動くものを作れる」から「チームで安全に届け続けられる」へ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1463040" y="2103120"/>
            <a:ext cx="731520" cy="731520"/>
          </a:xfrm>
          <a:prstGeom prst="ellipse">
            <a:avLst/>
          </a:prstGeom>
          <a:solidFill>
            <a:srgbClr val="14919B"/>
          </a:solidFill>
          <a:ln w="12700">
            <a:solidFill>
              <a:srgbClr val="14919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463040" y="21031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548640" y="3017520"/>
            <a:ext cx="2560320" cy="2377440"/>
          </a:xfrm>
          <a:prstGeom prst="roundRect">
            <a:avLst>
              <a:gd name="adj" fmla="val 4615"/>
            </a:avLst>
          </a:prstGeom>
          <a:solidFill>
            <a:srgbClr val="EEF4F3"/>
          </a:solidFill>
          <a:ln w="12700">
            <a:solidFill>
              <a:srgbClr val="EEF4F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3154680"/>
            <a:ext cx="21945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14919B"/>
                </a:solidFill>
              </a:rPr>
              <a:t>作る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1F2A"/>
                </a:solidFill>
              </a:rPr>
              <a:t>Next.js / React で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1F2A"/>
                </a:solidFill>
              </a:rPr>
              <a:t>TODOアプリを作れる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297680" y="2103120"/>
            <a:ext cx="731520" cy="731520"/>
          </a:xfrm>
          <a:prstGeom prst="ellipse">
            <a:avLst/>
          </a:prstGeom>
          <a:solidFill>
            <a:srgbClr val="C47F1A"/>
          </a:solidFill>
          <a:ln w="12700">
            <a:solidFill>
              <a:srgbClr val="C47F1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297680" y="21031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3383280" y="3017520"/>
            <a:ext cx="2560320" cy="2377440"/>
          </a:xfrm>
          <a:prstGeom prst="roundRect">
            <a:avLst>
              <a:gd name="adj" fmla="val 4615"/>
            </a:avLst>
          </a:prstGeom>
          <a:solidFill>
            <a:srgbClr val="EEF4F3"/>
          </a:solidFill>
          <a:ln w="12700">
            <a:solidFill>
              <a:srgbClr val="EEF4F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566160" y="3154680"/>
            <a:ext cx="21945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C47F1A"/>
                </a:solidFill>
              </a:rPr>
              <a:t>確かめる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1F2A"/>
                </a:solidFill>
              </a:rPr>
              <a:t>Jest と Testing Library で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1F2A"/>
                </a:solidFill>
              </a:rPr>
              <a:t>自動テストを書ける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7132320" y="2103120"/>
            <a:ext cx="731520" cy="731520"/>
          </a:xfrm>
          <a:prstGeom prst="ellipse">
            <a:avLst/>
          </a:prstGeom>
          <a:solidFill>
            <a:srgbClr val="6A4BE0"/>
          </a:solidFill>
          <a:ln w="12700">
            <a:solidFill>
              <a:srgbClr val="6A4BE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132320" y="21031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6217920" y="3017520"/>
            <a:ext cx="2560320" cy="2377440"/>
          </a:xfrm>
          <a:prstGeom prst="roundRect">
            <a:avLst>
              <a:gd name="adj" fmla="val 4615"/>
            </a:avLst>
          </a:prstGeom>
          <a:solidFill>
            <a:srgbClr val="EEF4F3"/>
          </a:solidFill>
          <a:ln w="12700">
            <a:solidFill>
              <a:srgbClr val="EEF4F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0" y="3154680"/>
            <a:ext cx="21945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6A4BE0"/>
                </a:solidFill>
              </a:rPr>
              <a:t>自動化する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1F2A"/>
                </a:solidFill>
              </a:rPr>
              <a:t>GitHub Actions で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1F2A"/>
                </a:solidFill>
              </a:rPr>
              <a:t>lint・test・build を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1F2A"/>
                </a:solidFill>
              </a:rPr>
              <a:t>自動で回せる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9966960" y="2103120"/>
            <a:ext cx="731520" cy="731520"/>
          </a:xfrm>
          <a:prstGeom prst="ellipse">
            <a:avLst/>
          </a:prstGeom>
          <a:solidFill>
            <a:srgbClr val="D4471F"/>
          </a:solidFill>
          <a:ln w="12700">
            <a:solidFill>
              <a:srgbClr val="D4471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966960" y="21031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4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9052560" y="3017520"/>
            <a:ext cx="2560320" cy="2377440"/>
          </a:xfrm>
          <a:prstGeom prst="roundRect">
            <a:avLst>
              <a:gd name="adj" fmla="val 4615"/>
            </a:avLst>
          </a:prstGeom>
          <a:solidFill>
            <a:srgbClr val="EEF4F3"/>
          </a:solidFill>
          <a:ln w="12700">
            <a:solidFill>
              <a:srgbClr val="EEF4F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235440" y="3154680"/>
            <a:ext cx="21945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D4471F"/>
                </a:solidFill>
              </a:rPr>
              <a:t>届ける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1F2A"/>
                </a:solidFill>
              </a:rPr>
              <a:t>Vercel / GitHub Pages に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1F2A"/>
                </a:solidFill>
              </a:rPr>
              <a:t>自動で公開できる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57607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1F2A"/>
                </a:solidFill>
              </a:rPr>
              <a:t>push するだけで「テストに通ったものだけ」が公開される仕組みを、自分の手で作ります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A8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3000" b="1" dirty="0">
                <a:solidFill>
                  <a:srgbClr val="0F3D3E"/>
                </a:solidFill>
              </a:rPr>
              <a:t>CI/CD ってなに？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1920240" cy="1371600"/>
          </a:xfrm>
          <a:prstGeom prst="roundRect">
            <a:avLst>
              <a:gd name="adj" fmla="val 8000"/>
            </a:avLst>
          </a:prstGeom>
          <a:solidFill>
            <a:srgbClr val="EEF4F3"/>
          </a:solidFill>
          <a:ln w="12700">
            <a:solidFill>
              <a:srgbClr val="14919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463040"/>
            <a:ext cx="19202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F3D3E"/>
                </a:solidFill>
              </a:rPr>
              <a:t>コードを書く</a:t>
            </a:r>
            <a:endParaRPr lang="en-US" sz="17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0F3D3E"/>
                </a:solidFill>
              </a:rPr>
              <a:t>VS Code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2514600" y="1965960"/>
            <a:ext cx="274320" cy="365760"/>
          </a:xfrm>
          <a:prstGeom prst="rightArrow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34640" y="1463040"/>
            <a:ext cx="1920240" cy="1371600"/>
          </a:xfrm>
          <a:prstGeom prst="roundRect">
            <a:avLst>
              <a:gd name="adj" fmla="val 8000"/>
            </a:avLst>
          </a:prstGeom>
          <a:solidFill>
            <a:srgbClr val="EEF4F3"/>
          </a:solidFill>
          <a:ln w="12700">
            <a:solidFill>
              <a:srgbClr val="14919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834640" y="1463040"/>
            <a:ext cx="19202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F3D3E"/>
                </a:solidFill>
              </a:rPr>
              <a:t>push / PR</a:t>
            </a:r>
            <a:endParaRPr lang="en-US" sz="17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0F3D3E"/>
                </a:solidFill>
              </a:rPr>
              <a:t>GitHub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4800600" y="1965960"/>
            <a:ext cx="274320" cy="365760"/>
          </a:xfrm>
          <a:prstGeom prst="rightArrow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120640" y="1463040"/>
            <a:ext cx="1920240" cy="1371600"/>
          </a:xfrm>
          <a:prstGeom prst="roundRect">
            <a:avLst>
              <a:gd name="adj" fmla="val 8000"/>
            </a:avLst>
          </a:prstGeom>
          <a:solidFill>
            <a:srgbClr val="14919B"/>
          </a:solidFill>
          <a:ln w="12700">
            <a:solidFill>
              <a:srgbClr val="14919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120640" y="1463040"/>
            <a:ext cx="19202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自動チェック</a:t>
            </a:r>
            <a:endParaRPr lang="en-US" sz="17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lint・test・build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086600" y="1965960"/>
            <a:ext cx="274320" cy="365760"/>
          </a:xfrm>
          <a:prstGeom prst="rightArrow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406640" y="1463040"/>
            <a:ext cx="1920240" cy="1371600"/>
          </a:xfrm>
          <a:prstGeom prst="roundRect">
            <a:avLst>
              <a:gd name="adj" fmla="val 8000"/>
            </a:avLst>
          </a:prstGeom>
          <a:solidFill>
            <a:srgbClr val="EEF4F3"/>
          </a:solidFill>
          <a:ln w="12700">
            <a:solidFill>
              <a:srgbClr val="14919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406640" y="1463040"/>
            <a:ext cx="19202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F3D3E"/>
                </a:solidFill>
              </a:rPr>
              <a:t>自動で公開</a:t>
            </a:r>
            <a:endParaRPr lang="en-US" sz="17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0F3D3E"/>
                </a:solidFill>
              </a:rPr>
              <a:t>Vercel / Pages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9372600" y="1965960"/>
            <a:ext cx="274320" cy="365760"/>
          </a:xfrm>
          <a:prstGeom prst="rightArrow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0" y="1463040"/>
            <a:ext cx="1920240" cy="1371600"/>
          </a:xfrm>
          <a:prstGeom prst="roundRect">
            <a:avLst>
              <a:gd name="adj" fmla="val 8000"/>
            </a:avLst>
          </a:prstGeom>
          <a:solidFill>
            <a:srgbClr val="EEF4F3"/>
          </a:solidFill>
          <a:ln w="12700">
            <a:solidFill>
              <a:srgbClr val="14919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692640" y="1463040"/>
            <a:ext cx="19202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F3D3E"/>
                </a:solidFill>
              </a:rPr>
              <a:t>公開 URL</a:t>
            </a:r>
            <a:endParaRPr lang="en-US" sz="17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0F3D3E"/>
                </a:solidFill>
              </a:rPr>
              <a:t>誰でも見られる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548640" y="3291840"/>
            <a:ext cx="5394960" cy="2743200"/>
          </a:xfrm>
          <a:prstGeom prst="roundRect">
            <a:avLst>
              <a:gd name="adj" fmla="val 4000"/>
            </a:avLst>
          </a:prstGeom>
          <a:solidFill>
            <a:srgbClr val="FBEDE8"/>
          </a:solidFill>
          <a:ln w="12700">
            <a:solidFill>
              <a:srgbClr val="FBEDE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31520" y="3429000"/>
            <a:ext cx="5029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D4471F"/>
                </a:solidFill>
              </a:rPr>
              <a:t>手作業だと…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1F2A"/>
                </a:solidFill>
              </a:rPr>
              <a:t>・テストを忘れたまま main に入れてしまう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1F2A"/>
                </a:solidFill>
              </a:rPr>
              <a:t>・人によって確認の手順がバラバラ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1F2A"/>
                </a:solidFill>
              </a:rPr>
              <a:t>・公開のたびに手でコピーして、ミスが起きる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1F2A"/>
                </a:solidFill>
              </a:rPr>
              <a:t>・「自分の PC では動いたのに…」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6217920" y="3291840"/>
            <a:ext cx="5394960" cy="2743200"/>
          </a:xfrm>
          <a:prstGeom prst="roundRect">
            <a:avLst>
              <a:gd name="adj" fmla="val 4000"/>
            </a:avLst>
          </a:prstGeom>
          <a:solidFill>
            <a:srgbClr val="EEF4F3"/>
          </a:solidFill>
          <a:ln w="12700">
            <a:solidFill>
              <a:srgbClr val="EEF4F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00800" y="3429000"/>
            <a:ext cx="5029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14919B"/>
                </a:solidFill>
              </a:rPr>
              <a:t>CI/CD があると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1F2A"/>
                </a:solidFill>
              </a:rPr>
              <a:t>・push のたびに同じ手順で自動チェック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1F2A"/>
                </a:solidFill>
              </a:rPr>
              <a:t>・失敗したら PR をマージできない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1F2A"/>
                </a:solidFill>
              </a:rPr>
              <a:t>・通ったものだけが自動で公開される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1F2A"/>
                </a:solidFill>
              </a:rPr>
              <a:t>・誰がやっても同じ結果になる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A8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3000" b="1" dirty="0">
                <a:solidFill>
                  <a:srgbClr val="0F3D3E"/>
                </a:solidFill>
              </a:rPr>
              <a:t>CI/CD を英語から分解してみよう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1463040" cy="1463040"/>
          </a:xfrm>
          <a:prstGeom prst="ellipse">
            <a:avLst/>
          </a:prstGeom>
          <a:solidFill>
            <a:srgbClr val="14919B"/>
          </a:solidFill>
          <a:ln w="12700">
            <a:solidFill>
              <a:srgbClr val="14919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600200"/>
            <a:ext cx="1463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CI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3977640"/>
            <a:ext cx="1463040" cy="1463040"/>
          </a:xfrm>
          <a:prstGeom prst="ellipse">
            <a:avLst/>
          </a:prstGeom>
          <a:solidFill>
            <a:srgbClr val="D4471F"/>
          </a:solidFill>
          <a:ln w="12700">
            <a:solidFill>
              <a:srgbClr val="D4471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3977640"/>
            <a:ext cx="1463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CD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2286000" y="1280160"/>
            <a:ext cx="4526280" cy="2194560"/>
          </a:xfrm>
          <a:prstGeom prst="roundRect">
            <a:avLst>
              <a:gd name="adj" fmla="val 5000"/>
            </a:avLst>
          </a:prstGeom>
          <a:solidFill>
            <a:srgbClr val="EEF4F3"/>
          </a:solidFill>
          <a:ln w="12700">
            <a:solidFill>
              <a:srgbClr val="EEF4F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468880" y="1417320"/>
            <a:ext cx="41605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14919B"/>
                </a:solidFill>
              </a:rPr>
              <a:t>Continuous（コンティニュアス）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1F2A"/>
                </a:solidFill>
              </a:rPr>
              <a:t>「継続的な・途切れない」。思い出したときにたまにやるのではなく、変更のたびに毎回やる、という意味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7086600" y="1280160"/>
            <a:ext cx="4526280" cy="2194560"/>
          </a:xfrm>
          <a:prstGeom prst="roundRect">
            <a:avLst>
              <a:gd name="adj" fmla="val 5000"/>
            </a:avLst>
          </a:prstGeom>
          <a:solidFill>
            <a:srgbClr val="EEF4F3"/>
          </a:solidFill>
          <a:ln w="12700">
            <a:solidFill>
              <a:srgbClr val="EEF4F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269480" y="1417320"/>
            <a:ext cx="41605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14919B"/>
                </a:solidFill>
              </a:rPr>
              <a:t>Integration（インテグレーション）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1F2A"/>
                </a:solidFill>
              </a:rPr>
              <a:t>「統合」。ラテン語 integer（ひとかたまりの・完全な）が語源。みんなの変更をこまめに main に合流させ、壊れていないか確かめる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2286000" y="3657600"/>
            <a:ext cx="4526280" cy="2194560"/>
          </a:xfrm>
          <a:prstGeom prst="roundRect">
            <a:avLst>
              <a:gd name="adj" fmla="val 5000"/>
            </a:avLst>
          </a:prstGeom>
          <a:solidFill>
            <a:srgbClr val="FBEDE8"/>
          </a:solidFill>
          <a:ln w="12700">
            <a:solidFill>
              <a:srgbClr val="FBEDE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468880" y="3794760"/>
            <a:ext cx="41605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D4471F"/>
                </a:solidFill>
              </a:rPr>
              <a:t>Delivery（デリバリー）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1F2A"/>
                </a:solidFill>
              </a:rPr>
              <a:t>「配達」。いつでも本番に出せる状態まで自動で用意する。最後の「公開する」は人が決める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7086600" y="3657600"/>
            <a:ext cx="4526280" cy="2194560"/>
          </a:xfrm>
          <a:prstGeom prst="roundRect">
            <a:avLst>
              <a:gd name="adj" fmla="val 5000"/>
            </a:avLst>
          </a:prstGeom>
          <a:solidFill>
            <a:srgbClr val="FBEDE8"/>
          </a:solidFill>
          <a:ln w="12700">
            <a:solidFill>
              <a:srgbClr val="FBEDE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269480" y="3794760"/>
            <a:ext cx="41605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D4471F"/>
                </a:solidFill>
              </a:rPr>
              <a:t>Deployment（デプロイメント）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1F2A"/>
                </a:solidFill>
              </a:rPr>
              <a:t>「配備・展開」。テストに通ったら公開まで全部自動。この授業の「main にマージしたら自動で公開」はこちら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98932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6B"/>
                </a:solidFill>
              </a:rPr>
              <a:t>CI は1990年代、XP（Extreme Programming：良い開発習慣を「極端なほど」徹底する手法）で広まった言葉。CD は2つの意味があり、どちらも「CD」と略す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A8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3000" b="1" dirty="0">
                <a:solidFill>
                  <a:srgbClr val="0F3D3E"/>
                </a:solidFill>
              </a:rPr>
              <a:t>全体の流れ：本編30コマ＋発展編6コマ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1645920" cy="731520"/>
          </a:xfrm>
          <a:prstGeom prst="roundRect">
            <a:avLst>
              <a:gd name="adj" fmla="val 12500"/>
            </a:avLst>
          </a:prstGeom>
          <a:solidFill>
            <a:srgbClr val="14919B"/>
          </a:solidFill>
          <a:ln w="12700">
            <a:solidFill>
              <a:srgbClr val="14919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37160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Phase 1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コマ 01–07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2377440" y="137160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1F2A"/>
                </a:solidFill>
              </a:rPr>
              <a:t>Next.js で React 基礎（復習）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548640" y="2286000"/>
            <a:ext cx="1645920" cy="731520"/>
          </a:xfrm>
          <a:prstGeom prst="roundRect">
            <a:avLst>
              <a:gd name="adj" fmla="val 12500"/>
            </a:avLst>
          </a:prstGeom>
          <a:solidFill>
            <a:srgbClr val="C47F1A"/>
          </a:solidFill>
          <a:ln w="12700">
            <a:solidFill>
              <a:srgbClr val="C47F1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28600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Phase 2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コマ 08–13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2377440" y="228600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1F2A"/>
                </a:solidFill>
              </a:rPr>
              <a:t>テスト（Jest・Testing Library）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548640" y="3200400"/>
            <a:ext cx="1645920" cy="731520"/>
          </a:xfrm>
          <a:prstGeom prst="roundRect">
            <a:avLst>
              <a:gd name="adj" fmla="val 12500"/>
            </a:avLst>
          </a:prstGeom>
          <a:solidFill>
            <a:srgbClr val="6A4BE0"/>
          </a:solidFill>
          <a:ln w="12700">
            <a:solidFill>
              <a:srgbClr val="6A4BE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20040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Phase 3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コマ 14–19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2377440" y="320040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1F2A"/>
                </a:solidFill>
              </a:rPr>
              <a:t>GitHub Actions（自動チェック）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548640" y="4114800"/>
            <a:ext cx="1645920" cy="731520"/>
          </a:xfrm>
          <a:prstGeom prst="roundRect">
            <a:avLst>
              <a:gd name="adj" fmla="val 12500"/>
            </a:avLst>
          </a:prstGeom>
          <a:solidFill>
            <a:srgbClr val="D4471F"/>
          </a:solidFill>
          <a:ln w="12700">
            <a:solidFill>
              <a:srgbClr val="D4471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411480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Phase 4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コマ 20–25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2377440" y="411480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1F2A"/>
                </a:solidFill>
              </a:rPr>
              <a:t>CI/CD・デプロイ（自動公開）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548640" y="5029200"/>
            <a:ext cx="1645920" cy="731520"/>
          </a:xfrm>
          <a:prstGeom prst="roundRect">
            <a:avLst>
              <a:gd name="adj" fmla="val 12500"/>
            </a:avLst>
          </a:prstGeom>
          <a:solidFill>
            <a:srgbClr val="2E86AB"/>
          </a:solidFill>
          <a:ln w="12700">
            <a:solidFill>
              <a:srgbClr val="2E86A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502920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Phase 5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コマ 26–30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2377440" y="502920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1F2A"/>
                </a:solidFill>
              </a:rPr>
              <a:t>個人制作・発表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7315200" y="1371600"/>
            <a:ext cx="4297680" cy="4389120"/>
          </a:xfrm>
          <a:prstGeom prst="roundRect">
            <a:avLst>
              <a:gd name="adj" fmla="val 2553"/>
            </a:avLst>
          </a:prstGeom>
          <a:solidFill>
            <a:srgbClr val="EEF4F3"/>
          </a:solidFill>
          <a:ln w="12700">
            <a:solidFill>
              <a:srgbClr val="EEF4F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498080" y="1508760"/>
            <a:ext cx="393192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0F3D3E"/>
                </a:solidFill>
              </a:rPr>
              <a:t>発展編（任意）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1F2A"/>
                </a:solidFill>
              </a:rPr>
              <a:t>a1 TypeScript 化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1F2A"/>
                </a:solidFill>
              </a:rPr>
              <a:t>a2 Tailwind CSS v4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1F2A"/>
                </a:solidFill>
              </a:rPr>
              <a:t>a3 MSW（にせ API）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1F2A"/>
                </a:solidFill>
              </a:rPr>
              <a:t>a4 Playwright で E2E テスト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1F2A"/>
                </a:solidFill>
              </a:rPr>
              <a:t>a5 CI 強化（キャッシュ・Dependabot）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1F2A"/>
                </a:solidFill>
              </a:rPr>
              <a:t>a6 MSW 総合演習（ポケモン図鑑）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60350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B6B"/>
                </a:solidFill>
              </a:rPr>
              <a:t>Phase（フェーズ）＝英語で「段階」。1コマ90分：導入 → 本題（一緒に打つ）→ 演習（各自）→ まとめ → 課題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A8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3000" b="1" dirty="0">
                <a:solidFill>
                  <a:srgbClr val="0F3D3E"/>
                </a:solidFill>
              </a:rPr>
              <a:t>使う道具と開発環境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3474720" cy="1920240"/>
          </a:xfrm>
          <a:prstGeom prst="roundRect">
            <a:avLst>
              <a:gd name="adj" fmla="val 5714"/>
            </a:avLst>
          </a:prstGeom>
          <a:solidFill>
            <a:srgbClr val="EEF4F3"/>
          </a:solidFill>
          <a:ln w="12700">
            <a:solidFill>
              <a:srgbClr val="EEF4F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508760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14919B"/>
                </a:solidFill>
              </a:rPr>
              <a:t>Windows + PowerShell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1F2A"/>
                </a:solidFill>
              </a:rPr>
              <a:t>コマンドはすべて PowerShell で打つ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297680" y="1371600"/>
            <a:ext cx="3474720" cy="1920240"/>
          </a:xfrm>
          <a:prstGeom prst="roundRect">
            <a:avLst>
              <a:gd name="adj" fmla="val 5714"/>
            </a:avLst>
          </a:prstGeom>
          <a:solidFill>
            <a:srgbClr val="EEF4F3"/>
          </a:solidFill>
          <a:ln w="12700">
            <a:solidFill>
              <a:srgbClr val="EEF4F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480560" y="1508760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14919B"/>
                </a:solidFill>
              </a:rPr>
              <a:t>Node.js 24 LTS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1F2A"/>
                </a:solidFill>
              </a:rPr>
              <a:t>winget install OpenJS.NodeJS.LTS で入れる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8046720" y="1371600"/>
            <a:ext cx="3474720" cy="1920240"/>
          </a:xfrm>
          <a:prstGeom prst="roundRect">
            <a:avLst>
              <a:gd name="adj" fmla="val 5714"/>
            </a:avLst>
          </a:prstGeom>
          <a:solidFill>
            <a:srgbClr val="EEF4F3"/>
          </a:solidFill>
          <a:ln w="12700">
            <a:solidFill>
              <a:srgbClr val="EEF4F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0" y="1508760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14919B"/>
                </a:solidFill>
              </a:rPr>
              <a:t>VS Code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1F2A"/>
                </a:solidFill>
              </a:rPr>
              <a:t>改行コードを LF に設定する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3566160"/>
            <a:ext cx="3474720" cy="1920240"/>
          </a:xfrm>
          <a:prstGeom prst="roundRect">
            <a:avLst>
              <a:gd name="adj" fmla="val 5714"/>
            </a:avLst>
          </a:prstGeom>
          <a:solidFill>
            <a:srgbClr val="EEF4F3"/>
          </a:solidFill>
          <a:ln w="12700">
            <a:solidFill>
              <a:srgbClr val="EEF4F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3703320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14919B"/>
                </a:solidFill>
              </a:rPr>
              <a:t>Git for Windows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1F2A"/>
                </a:solidFill>
              </a:rPr>
              <a:t>core.autocrlf を false にする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297680" y="3566160"/>
            <a:ext cx="3474720" cy="1920240"/>
          </a:xfrm>
          <a:prstGeom prst="roundRect">
            <a:avLst>
              <a:gd name="adj" fmla="val 5714"/>
            </a:avLst>
          </a:prstGeom>
          <a:solidFill>
            <a:srgbClr val="EEF4F3"/>
          </a:solidFill>
          <a:ln w="12700">
            <a:solidFill>
              <a:srgbClr val="EEF4F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480560" y="3703320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14919B"/>
                </a:solidFill>
              </a:rPr>
              <a:t>GitHub アカウント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1F2A"/>
                </a:solidFill>
              </a:rPr>
              <a:t>リポジトリ・Actions・Pages を使う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8046720" y="3566160"/>
            <a:ext cx="3474720" cy="1920240"/>
          </a:xfrm>
          <a:prstGeom prst="roundRect">
            <a:avLst>
              <a:gd name="adj" fmla="val 5714"/>
            </a:avLst>
          </a:prstGeom>
          <a:solidFill>
            <a:srgbClr val="EEF4F3"/>
          </a:solidFill>
          <a:ln w="12700">
            <a:solidFill>
              <a:srgbClr val="EEF4F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0" y="3703320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14919B"/>
                </a:solidFill>
              </a:rPr>
              <a:t>Vercel アカウント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1F2A"/>
                </a:solidFill>
              </a:rPr>
              <a:t>GitHub とつないで公開する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943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B6B"/>
                </a:solidFill>
              </a:rPr>
              <a:t>作業フォルダは ~/workspace/（OneDrive の同期外）。セットアップはコマ1で一緒にやります。略語の意味は次のスライドで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A8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3000" b="1" dirty="0">
                <a:solidFill>
                  <a:srgbClr val="0F3D3E"/>
                </a:solidFill>
              </a:rPr>
              <a:t>環境の用語（略語と語源）</a:t>
            </a:r>
            <a:endParaRPr lang="en-US" sz="3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1106424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5303520"/>
                <a:gridCol w="38404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用語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919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元の英語・語源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919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この授業では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919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4919B"/>
                          </a:solidFill>
                        </a:rPr>
                        <a:t>LTS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Long Term Support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「長期サポート」。Node.js は偶数番号の版が LTS になり、約2年半バグや安全性の修正が続く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Node.js 24 LTS を使う。授業の途中でサポートが切れない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4919B"/>
                          </a:solidFill>
                        </a:rPr>
                        <a:t>winget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Windows ＋ get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「Windows」と「get（手に入れる）」を合わせた名前。Windows 公式のパッケージ管理コマンド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winget install で、アプリを1行でインストールする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4919B"/>
                          </a:solidFill>
                        </a:rPr>
                        <a:t>VS Code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Visual Studio Code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Microsoft の無料エディタ。Visual Studio は同社の大型開発ソフトの名前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コードを書き、ターミナルも開く作業場所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4919B"/>
                          </a:solidFill>
                        </a:rPr>
                        <a:t>LF / CRLF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Line Feed / Carriage Return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タイプライター由来。LF＝紙を1行送る、CR＝印字位置を左端へ戻す。Windows は CRLF、他は LF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LF にそろえる。混ざると Git が「全行を変更した」と判定してしまう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4919B"/>
                          </a:solidFill>
                        </a:rPr>
                        <a:t>npm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Node Package Manager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生まれたときの意味。今の公式サイトは冗談めかして「npm は略語ではない」と言っている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npm install で部品を入れ、npm run dev で命令を実行する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4919B"/>
                          </a:solidFill>
                        </a:rPr>
                        <a:t>PowerShell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power ＋ shell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shell＝「殻」。OS の中心を包む殻＝人と OS の間で命令を受け取るソフト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Windows のターミナル。授業のコマンドは全部ここで打つ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A8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3000" b="1" dirty="0">
                <a:solidFill>
                  <a:srgbClr val="0F3D3E"/>
                </a:solidFill>
              </a:rPr>
              <a:t>Phase 1：React を「学び直す」ところから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4919B"/>
                </a:solidFill>
              </a:rPr>
              <a:t>コマ01〜07｜触ったことがある前提で、あいまいなところを固め直します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474720" cy="1920240"/>
          </a:xfrm>
          <a:prstGeom prst="roundRect">
            <a:avLst>
              <a:gd name="adj" fmla="val 5714"/>
            </a:avLst>
          </a:prstGeom>
          <a:solidFill>
            <a:srgbClr val="EEF4F3"/>
          </a:solidFill>
          <a:ln w="12700">
            <a:solidFill>
              <a:srgbClr val="EEF4F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965960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0F3D3E"/>
                </a:solidFill>
              </a:rPr>
              <a:t>JSX と props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1F2A"/>
                </a:solidFill>
              </a:rPr>
              <a:t>部品（コンポーネント）に値を渡して画面を組み立てる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297680" y="1828800"/>
            <a:ext cx="3474720" cy="1920240"/>
          </a:xfrm>
          <a:prstGeom prst="roundRect">
            <a:avLst>
              <a:gd name="adj" fmla="val 5714"/>
            </a:avLst>
          </a:prstGeom>
          <a:solidFill>
            <a:srgbClr val="EEF4F3"/>
          </a:solidFill>
          <a:ln w="12700">
            <a:solidFill>
              <a:srgbClr val="EEF4F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480560" y="1965960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0F3D3E"/>
                </a:solidFill>
              </a:rPr>
              <a:t>state とイベント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1F2A"/>
                </a:solidFill>
              </a:rPr>
              <a:t>useState と 'use client'（この部品はブラウザで動かす、という宣言）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8046720" y="1828800"/>
            <a:ext cx="3474720" cy="1920240"/>
          </a:xfrm>
          <a:prstGeom prst="roundRect">
            <a:avLst>
              <a:gd name="adj" fmla="val 5714"/>
            </a:avLst>
          </a:prstGeom>
          <a:solidFill>
            <a:srgbClr val="EEF4F3"/>
          </a:solidFill>
          <a:ln w="12700">
            <a:solidFill>
              <a:srgbClr val="EEF4F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0" y="1965960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0F3D3E"/>
                </a:solidFill>
              </a:rPr>
              <a:t>リストと条件表示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1F2A"/>
                </a:solidFill>
              </a:rPr>
              <a:t>map・key・三項演算子をおさらい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548640" y="3977640"/>
            <a:ext cx="3474720" cy="1920240"/>
          </a:xfrm>
          <a:prstGeom prst="roundRect">
            <a:avLst>
              <a:gd name="adj" fmla="val 5714"/>
            </a:avLst>
          </a:prstGeom>
          <a:solidFill>
            <a:srgbClr val="EEF4F3"/>
          </a:solidFill>
          <a:ln w="12700">
            <a:solidFill>
              <a:srgbClr val="EEF4F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4114800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0F3D3E"/>
                </a:solidFill>
              </a:rPr>
              <a:t>TODOアプリ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1F2A"/>
                </a:solidFill>
              </a:rPr>
              <a:t>フォーム → 保存 → ページ移動（ルーティング）・layout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4297680" y="3977640"/>
            <a:ext cx="3474720" cy="1920240"/>
          </a:xfrm>
          <a:prstGeom prst="roundRect">
            <a:avLst>
              <a:gd name="adj" fmla="val 5714"/>
            </a:avLst>
          </a:prstGeom>
          <a:solidFill>
            <a:srgbClr val="EEF4F3"/>
          </a:solidFill>
          <a:ln w="12700">
            <a:solidFill>
              <a:srgbClr val="EEF4F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80560" y="4114800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0F3D3E"/>
                </a:solidFill>
              </a:rPr>
              <a:t>Git / GitHub / PR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1F2A"/>
                </a:solidFill>
              </a:rPr>
              <a:t>ブランチを切って、PR で変更を出す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8046720" y="3977640"/>
            <a:ext cx="35661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4471F"/>
                </a:solidFill>
              </a:rPr>
              <a:t>ここで作る TODO アプリを、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D4471F"/>
                </a:solidFill>
              </a:rPr>
              <a:t>Phase 2〜4 でテスト・自動化・公開していきます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A8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3000" b="1" dirty="0">
                <a:solidFill>
                  <a:srgbClr val="0F3D3E"/>
                </a:solidFill>
              </a:rPr>
              <a:t>Phase 1 の用語（略語と語源）</a:t>
            </a:r>
            <a:endParaRPr lang="en-US" sz="3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1106424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5303520"/>
                <a:gridCol w="38404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用語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919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元の英語・語源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919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この授業では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919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4919B"/>
                          </a:solidFill>
                        </a:rPr>
                        <a:t>JSX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JavaScript XML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XML＝eXtensible Markup Language（拡張できるマークアップ言語）。JS の中に XML 風のタグを書ける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return の中に &lt;h1&gt;…&lt;/h1&gt; のようなタグを書く React の書き方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4919B"/>
                          </a:solidFill>
                        </a:rPr>
                        <a:t>props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properties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「プロパティ（性質・属性）」の略。HTML の属性（href など）と同じ発想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親から子の部品へ渡す値。&lt;Header title="TODO" /&gt; の title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4919B"/>
                          </a:solidFill>
                        </a:rPr>
                        <a:t>state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state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英語で「状態」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画面の中で変わる値。useState で持ち、変えると画面が描き直される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4919B"/>
                          </a:solidFill>
                        </a:rPr>
                        <a:t>TODO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to do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「やるべきこと」。コードにも「// TODO: あとで直す」とメモする習慣がある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本編で作り続けるアプリの題材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4919B"/>
                          </a:solidFill>
                        </a:rPr>
                        <a:t>Git / GitHub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略語ではない／Git ＋ hub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Git は Linux の作者 Linus Torvalds が2005年に作成。英国の俗語で「まぬけ」。hub＝車輪の中心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Git＝変更の履歴を記録するツール。GitHub＝それをネットで共有する場所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4919B"/>
                          </a:solidFill>
                        </a:rPr>
                        <a:t>PR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Pull Request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「私の変更を pull（引き込んで）ください」という request（お願い）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ブランチの変更を main に入れる前に、見てもらうための申請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A8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3000" b="1" dirty="0">
                <a:solidFill>
                  <a:srgbClr val="0F3D3E"/>
                </a:solidFill>
              </a:rPr>
              <a:t>Phase 2 テスト：なぜテストを書くの？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5120640" cy="4663440"/>
          </a:xfrm>
          <a:prstGeom prst="roundRect">
            <a:avLst>
              <a:gd name="adj" fmla="val 2353"/>
            </a:avLst>
          </a:prstGeom>
          <a:solidFill>
            <a:srgbClr val="FDF3E3"/>
          </a:solidFill>
          <a:ln w="12700">
            <a:solidFill>
              <a:srgbClr val="FDF3E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508760"/>
            <a:ext cx="475488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C47F1A"/>
                </a:solidFill>
              </a:rPr>
              <a:t>テストを書く理由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B1F2A"/>
                </a:solidFill>
              </a:rPr>
              <a:t>・画面を手で触って確かめるのは、毎回やると大変で見落としも出る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B1F2A"/>
                </a:solidFill>
              </a:rPr>
              <a:t>・1か所直したら別の場所が壊れた（デグレード＝degrade「品質が下がる」）にすぐ気づける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B1F2A"/>
                </a:solidFill>
              </a:rPr>
              <a:t>・テストがあれば、Phase 3 で GitHub Actions に「毎回自動で」確かめてもらえる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B1F2A"/>
                </a:solidFill>
              </a:rPr>
              <a:t>・テストは「この部品はこう動くはず」という説明書にもなる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629400" y="1463040"/>
            <a:ext cx="1371600" cy="1097280"/>
          </a:xfrm>
          <a:prstGeom prst="roundRect">
            <a:avLst>
              <a:gd name="adj" fmla="val 8333"/>
            </a:avLst>
          </a:prstGeom>
          <a:solidFill>
            <a:srgbClr val="D4471F"/>
          </a:solidFill>
          <a:ln w="12700">
            <a:solidFill>
              <a:srgbClr val="D4471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702552" y="1463040"/>
            <a:ext cx="12252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E2E テスト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263640" y="2788920"/>
            <a:ext cx="2103120" cy="1097280"/>
          </a:xfrm>
          <a:prstGeom prst="roundRect">
            <a:avLst>
              <a:gd name="adj" fmla="val 8333"/>
            </a:avLst>
          </a:prstGeom>
          <a:solidFill>
            <a:srgbClr val="C47F1A"/>
          </a:solidFill>
          <a:ln w="12700">
            <a:solidFill>
              <a:srgbClr val="C47F1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36792" y="2788920"/>
            <a:ext cx="195681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結合テスト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897880" y="4114800"/>
            <a:ext cx="2834640" cy="1097280"/>
          </a:xfrm>
          <a:prstGeom prst="roundRect">
            <a:avLst>
              <a:gd name="adj" fmla="val 8333"/>
            </a:avLst>
          </a:prstGeom>
          <a:solidFill>
            <a:srgbClr val="14919B"/>
          </a:solidFill>
          <a:ln w="12700">
            <a:solidFill>
              <a:srgbClr val="14919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71032" y="4114800"/>
            <a:ext cx="268833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単体テスト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8915400" y="1463040"/>
            <a:ext cx="2697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F2A"/>
                </a:solidFill>
              </a:rPr>
              <a:t>End to End（端から端まで）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B1F2A"/>
                </a:solidFill>
              </a:rPr>
              <a:t>ブラウザで最初から最後まで操作。Playwright（発展編 a4）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8915400" y="2788920"/>
            <a:ext cx="2697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F2A"/>
                </a:solidFill>
              </a:rPr>
              <a:t>integration（統合）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B1F2A"/>
                </a:solidFill>
              </a:rPr>
              <a:t>部品を組み合わせて確かめる。Testing Library で TodoApp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114800"/>
            <a:ext cx="2697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F2A"/>
                </a:solidFill>
              </a:rPr>
              <a:t>unit（単位）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B1F2A"/>
                </a:solidFill>
              </a:rPr>
              <a:t>関数1つ・部品1つを確かめる。Jest で lib/todos.js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0" y="5532120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B6B"/>
                </a:solidFill>
              </a:rPr>
              <a:t>下ほど速くてたくさん書ける／上ほど本物に近いが遅い。本編は単体と結合が中心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A8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3000" b="1" dirty="0">
                <a:solidFill>
                  <a:srgbClr val="0F3D3E"/>
                </a:solidFill>
              </a:rPr>
              <a:t>Phase 2 テスト：6コマでやること</a:t>
            </a:r>
            <a:endParaRPr lang="en-US" sz="3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6424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3200400"/>
                <a:gridCol w="70408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コマ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7F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タイトル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7F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できるようになること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7F1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C47F1A"/>
                          </a:solidFill>
                        </a:rPr>
                        <a:t>08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テスト入門と Jest の導入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テストの種類を知り、Jest を入れて npm test で最初のテストを動かす。expect と「マッチャー」（toBe / toEqual）で結果を比べる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C47F1A"/>
                          </a:solidFill>
                        </a:rPr>
                        <a:t>09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Jest 基礎（関数の単体テスト）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TODO の追加・完了・削除を「純粋関数」（同じ入力なら必ず同じ出力）に切り出し、describe / test.each で整理してテスト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C47F1A"/>
                          </a:solidFill>
                        </a:rPr>
                        <a:t>10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Testing Library ①（表示）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render で部品を表示し、getByRole（ボタン・見出しなどの「役割」）で要素を探して、正しく表示されたか確かめる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C47F1A"/>
                          </a:solidFill>
                        </a:rPr>
                        <a:t>11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Testing Library ②（操作）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user-event で入力・クリックを再現。jest.fn()（呼ばれたか記録する偽の関数）で「正しく呼ばれたか」を確かめる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C47F1A"/>
                          </a:solidFill>
                        </a:rPr>
                        <a:t>12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モックと非同期のテスト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ページ移動（next/navigation）や通信（fetch）を偽物に置き換え、成功・失敗や「あとから変わる画面」をテスト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C47F1A"/>
                          </a:solidFill>
                        </a:rPr>
                        <a:t>13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カバレッジとテスト戦略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テストされていない行を見つけ、基準を下回ったら失敗させる。Next.js のどこを何でテストするか決める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A8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3000" b="1" dirty="0">
                <a:solidFill>
                  <a:srgbClr val="0F3D3E"/>
                </a:solidFill>
              </a:rPr>
              <a:t>Phase 2 の用語（略語と語源）</a:t>
            </a:r>
            <a:endParaRPr lang="en-US" sz="3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1106424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5303520"/>
                <a:gridCol w="38404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用語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7F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元の英語・語源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7F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この授業では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7F1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C47F1A"/>
                          </a:solidFill>
                        </a:rPr>
                        <a:t>Jest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略語ではない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英語で「冗談・おふざけ」。Facebook（現 Meta）が開発し、「楽しい JavaScript テスト」を掲げている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テストを実行するツール。npm test で動く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C47F1A"/>
                          </a:solidFill>
                        </a:rPr>
                        <a:t>RTL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React Testing Library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library は「図書館」→ プログラムでは「便利な部品を集めたもの」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部品を画面に表示し、ユーザーと同じ目線（ボタン・文字）で確かめる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C47F1A"/>
                          </a:solidFill>
                        </a:rPr>
                        <a:t>DOM / jsdom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Document Object Model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HTML を JS から操作できる「木の形」のデータ。jsdom は JS で作った「にせブラウザ」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Jest はブラウザなしで動くので、jsdom の上に画面を作ってテストする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C47F1A"/>
                          </a:solidFill>
                        </a:rPr>
                        <a:t>E2E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End to End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「端から端まで」。画面操作からサーバまで、本物どおりに通して確かめる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本編では扱わず、発展編 a4（Playwright）で体験する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C47F1A"/>
                          </a:solidFill>
                        </a:rPr>
                        <a:t>mock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mock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英語で「模造品・まがいもの」。mock-up（模型）と同じ語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通信や画面遷移を偽物に置き換え、テストを速く・安定させる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C47F1A"/>
                          </a:solidFill>
                        </a:rPr>
                        <a:t>coverage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coverage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英語で「覆う範囲」。保険の「補償範囲」と同じ語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テストで実行された行の割合。テストされていない場所を見つける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A8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3000" b="1" dirty="0">
                <a:solidFill>
                  <a:srgbClr val="0F3D3E"/>
                </a:solidFill>
              </a:rPr>
              <a:t>Phase 3 GitHub Actions：自動チェックのしくみ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5852160" cy="640080"/>
          </a:xfrm>
          <a:prstGeom prst="roundRect">
            <a:avLst>
              <a:gd name="adj" fmla="val 14286"/>
            </a:avLst>
          </a:prstGeom>
          <a:solidFill>
            <a:srgbClr val="EEE8FD"/>
          </a:solidFill>
          <a:ln w="12700">
            <a:solidFill>
              <a:srgbClr val="6A4BE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21792" y="1280160"/>
            <a:ext cx="57058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A4BE0"/>
                </a:solidFill>
              </a:rPr>
              <a:t>きっかけ（イベント）：PR を出す／main に push する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3291840" y="1965960"/>
            <a:ext cx="365760" cy="320040"/>
          </a:xfrm>
          <a:prstGeom prst="downArrow">
            <a:avLst/>
          </a:prstGeom>
          <a:solidFill>
            <a:srgbClr val="6A4BE0"/>
          </a:solidFill>
          <a:ln w="12700">
            <a:solidFill>
              <a:srgbClr val="6A4BE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2331720"/>
            <a:ext cx="5852160" cy="3429000"/>
          </a:xfrm>
          <a:prstGeom prst="roundRect">
            <a:avLst>
              <a:gd name="adj" fmla="val 2667"/>
            </a:avLst>
          </a:prstGeom>
          <a:solidFill>
            <a:srgbClr val="F5F2FE"/>
          </a:solidFill>
          <a:ln w="12700">
            <a:solidFill>
              <a:srgbClr val="6A4BE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2423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A4BE0"/>
                </a:solidFill>
              </a:rPr>
              <a:t>ワークフロー（.github/workflows/ci.yml）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31520" y="2880360"/>
            <a:ext cx="1737360" cy="210312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B9A9F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41248" y="2971800"/>
            <a:ext cx="15544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6A4BE0"/>
                </a:solidFill>
              </a:rPr>
              <a:t>ジョブ: lint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5A6B6B"/>
                </a:solidFill>
              </a:rPr>
              <a:t>ステップ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1B1F2A"/>
                </a:solidFill>
              </a:rPr>
              <a:t>① checkout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1B1F2A"/>
                </a:solidFill>
              </a:rPr>
              <a:t>② setup-node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1B1F2A"/>
                </a:solidFill>
              </a:rPr>
              <a:t>③ npm ci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1B1F2A"/>
                </a:solidFill>
              </a:rPr>
              <a:t>④ npm run lint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606040" y="2880360"/>
            <a:ext cx="1737360" cy="210312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B9A9F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715768" y="2971800"/>
            <a:ext cx="15544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6A4BE0"/>
                </a:solidFill>
              </a:rPr>
              <a:t>ジョブ: test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5A6B6B"/>
                </a:solidFill>
              </a:rPr>
              <a:t>ステップ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1B1F2A"/>
                </a:solidFill>
              </a:rPr>
              <a:t>① checkout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1B1F2A"/>
                </a:solidFill>
              </a:rPr>
              <a:t>② setup-node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1B1F2A"/>
                </a:solidFill>
              </a:rPr>
              <a:t>③ npm ci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1B1F2A"/>
                </a:solidFill>
              </a:rPr>
              <a:t>④ npm run test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480560" y="2880360"/>
            <a:ext cx="1737360" cy="210312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B9A9F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90288" y="2971800"/>
            <a:ext cx="15544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6A4BE0"/>
                </a:solidFill>
              </a:rPr>
              <a:t>ジョブ: build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5A6B6B"/>
                </a:solidFill>
              </a:rPr>
              <a:t>ステップ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1B1F2A"/>
                </a:solidFill>
              </a:rPr>
              <a:t>① checkout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1B1F2A"/>
                </a:solidFill>
              </a:rPr>
              <a:t>② setup-node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1B1F2A"/>
                </a:solidFill>
              </a:rPr>
              <a:t>③ npm ci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1B1F2A"/>
                </a:solidFill>
              </a:rPr>
              <a:t>④ npm run build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5074920"/>
            <a:ext cx="5486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F2A"/>
                </a:solidFill>
              </a:rPr>
              <a:t>各ジョブは「ランナー」（ubuntu-latest）＝ GitHub が毎回用意する使い捨てのマシンで動く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89788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B6B"/>
                </a:solidFill>
              </a:rPr>
              <a:t>結果は PR に ✓（成功）／✗（失敗）で表示され、ログで原因を読める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675120" y="1280160"/>
            <a:ext cx="4937760" cy="5074920"/>
          </a:xfrm>
          <a:prstGeom prst="roundRect">
            <a:avLst>
              <a:gd name="adj" fmla="val 1852"/>
            </a:avLst>
          </a:prstGeom>
          <a:solidFill>
            <a:srgbClr val="1B1F2A"/>
          </a:solidFill>
          <a:ln w="12700">
            <a:solidFill>
              <a:srgbClr val="1B1F2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858000" y="1417320"/>
            <a:ext cx="466344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.github/workflows/ci.yml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name: CI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on:                      # いつ動く？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pull_request: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branches: [main]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push: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branches: [main]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jobs: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lint-build:            # ジョブ名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runs-on: ubuntu-latest  # ランナー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steps: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- uses: actions/checkout@v7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- uses: actions/setup-node@v7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with: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node-version: 24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cache: npm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- run: npm ci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- run: npm run lint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- run: npm run build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A8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3000" b="1" dirty="0">
                <a:solidFill>
                  <a:srgbClr val="0F3D3E"/>
                </a:solidFill>
              </a:rPr>
              <a:t>Phase 3 GitHub Actions：6コマでやること</a:t>
            </a:r>
            <a:endParaRPr lang="en-US" sz="30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6424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3200400"/>
                <a:gridCol w="70408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コマ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A4B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タイトル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A4B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できるようになること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A4BE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6A4BE0"/>
                          </a:solidFill>
                        </a:rPr>
                        <a:t>14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Actions 入門（全体像と YAML）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CI/CD とは何か。ワークフロー・ジョブ・ステップ・アクション・ランナーの関係と、YAML の書き方（インデント・リスト）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6A4BE0"/>
                          </a:solidFill>
                        </a:rPr>
                        <a:t>15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はじめてのワークフロー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.github/workflows/ に置いて push し、Actions タブでログを読む。ランナーは毎回「まっさらなマシン」だと確かめる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6A4BE0"/>
                          </a:solidFill>
                        </a:rPr>
                        <a:t>16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CI で lint と build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PR と main への push で npm ci → lint → build を自動実行。失敗した PR のログから原因を見つけて直す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6A4BE0"/>
                          </a:solidFill>
                        </a:rPr>
                        <a:t>17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CI でテスト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Jest とカバレッジの基準を CI に追加。ジョブを分けて「同時に動かす／順番に動かす」を設計する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6A4BE0"/>
                          </a:solidFill>
                        </a:rPr>
                        <a:t>18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ブランチ保護（ルールセット）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main への直接 push を禁止し、「PR＋CI 成功」を必須にする。CI は「知らせる」、ルールセットが「止める」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6A4BE0"/>
                          </a:solidFill>
                        </a:rPr>
                        <a:t>19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Secrets と環境変数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設定値をコードの外へ出す。NEXT_PUBLIC_ 付きはブラウザから見える。秘密の値は Secrets で安全に渡す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A8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3000" b="1" dirty="0">
                <a:solidFill>
                  <a:srgbClr val="0F3D3E"/>
                </a:solidFill>
              </a:rPr>
              <a:t>Phase 3 の用語①（設定ファイルとチェック）</a:t>
            </a:r>
            <a:endParaRPr lang="en-US" sz="30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1106424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5303520"/>
                <a:gridCol w="38404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用語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A4B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元の英語・語源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A4B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この授業では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A4BE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6A4BE0"/>
                          </a:solidFill>
                        </a:rPr>
                        <a:t>YAML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Yet Another Markup Language → YAML Ain't Markup Language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最初は「また別のマークアップ言語」。のちに「YAML はマークアップ言語じゃない」に変更。自分の名前を中に含む「再帰的な略語」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ワークフローを書く形式。インデント（字下げ）で構造を表す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6A4BE0"/>
                          </a:solidFill>
                        </a:rPr>
                        <a:t>lint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lint（糸くず）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服につく「糸くず」。1978年、ベル研究所が C 言語の細かい問題を拾うツールに「糸くず取り」の意味で名づけた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バグのもとや書き方の乱れを、実行する前に自動で見つけること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6A4BE0"/>
                          </a:solidFill>
                        </a:rPr>
                        <a:t>ESLint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ECMAScript ＋ lint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ECMAScript は JS の標準仕様の名前。標準化団体 Ecma International（もとは European Computer Manufacturers Association）から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npm run lint で動くツール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6A4BE0"/>
                          </a:solidFill>
                        </a:rPr>
                        <a:t>build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build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英語で「組み立てる・建てる」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ソースコードを公開できる形に変換する。npm run build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6A4BE0"/>
                          </a:solidFill>
                        </a:rPr>
                        <a:t>npm ci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clean install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「まっさらな状態からインストール」。node_modules を消してから入れ直す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package-lock.json どおり正確に入れる。CI ではこちらを使う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3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A8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3000" b="1" dirty="0">
                <a:solidFill>
                  <a:srgbClr val="0F3D3E"/>
                </a:solidFill>
              </a:rPr>
              <a:t>Phase 3 の用語②（Actions の部品と秘密の値）</a:t>
            </a:r>
            <a:endParaRPr lang="en-US" sz="3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1106424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5303520"/>
                <a:gridCol w="38404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用語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A4B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元の英語・語源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A4B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この授業では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A4BE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6A4BE0"/>
                          </a:solidFill>
                        </a:rPr>
                        <a:t>workflow / job / step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work ＋ flow ほか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仕事（work）の流れ（flow）／ひとまとまりの仕事／階段の1段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ワークフロー＞ジョブ＞ステップの入れ子で自動処理を書く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6A4BE0"/>
                          </a:solidFill>
                        </a:rPr>
                        <a:t>runner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run ＋ er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「走らせる（実行する）もの」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ジョブを実行するマシン。GitHub が毎回まっさらな状態で用意する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6A4BE0"/>
                          </a:solidFill>
                        </a:rPr>
                        <a:t>checkout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check ＋ out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図書館で本を「借り出す」こと。保管場所から取り出す意味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actions/checkout でリポジトリのコードをランナーに取り出す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6A4BE0"/>
                          </a:solidFill>
                        </a:rPr>
                        <a:t>ruleset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rule ＋ set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「規則（rule）のひとそろい（set）」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main を守るルール。PR と CI の成功を必須にする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6A4BE0"/>
                          </a:solidFill>
                        </a:rPr>
                        <a:t>Secrets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secret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「秘密」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パスワードやトークンを、ログに出さず安全にワークフローへ渡す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6A4BE0"/>
                          </a:solidFill>
                        </a:rPr>
                        <a:t>NEXT_PUBLIC_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public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「公開の」。Next.js が決めた名前の目印（接頭辞）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この名前で始まる環境変数はブラウザに埋め込まれ、誰でも見られる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A8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3000" b="1" dirty="0">
                <a:solidFill>
                  <a:srgbClr val="0F3D3E"/>
                </a:solidFill>
              </a:rPr>
              <a:t>Phase 4 CI/CD：どこに公開する？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5440680" cy="1188720"/>
          </a:xfrm>
          <a:prstGeom prst="roundRect">
            <a:avLst>
              <a:gd name="adj" fmla="val 9231"/>
            </a:avLst>
          </a:prstGeom>
          <a:solidFill>
            <a:srgbClr val="EEF4F3"/>
          </a:solidFill>
          <a:ln w="12700">
            <a:solidFill>
              <a:srgbClr val="EEF4F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417320"/>
            <a:ext cx="5074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14919B"/>
                </a:solidFill>
              </a:rPr>
              <a:t>静的ホスティング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1F2A"/>
                </a:solidFill>
              </a:rPr>
              <a:t>できあがった HTML・CSS・JS のファイルを置いて配るだけ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172200" y="1280160"/>
            <a:ext cx="5440680" cy="1188720"/>
          </a:xfrm>
          <a:prstGeom prst="roundRect">
            <a:avLst>
              <a:gd name="adj" fmla="val 9231"/>
            </a:avLst>
          </a:prstGeom>
          <a:solidFill>
            <a:srgbClr val="FBEDE8"/>
          </a:solidFill>
          <a:ln w="12700">
            <a:solidFill>
              <a:srgbClr val="FBEDE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355080" y="1417320"/>
            <a:ext cx="5074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D4471F"/>
                </a:solidFill>
              </a:rPr>
              <a:t>サーバを動かすホスティング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1F2A"/>
                </a:solidFill>
              </a:rPr>
              <a:t>アクセスのたびにサーバでプログラムを動かせる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48640" y="2697480"/>
            <a:ext cx="5440680" cy="3383280"/>
          </a:xfrm>
          <a:prstGeom prst="roundRect">
            <a:avLst>
              <a:gd name="adj" fmla="val 3243"/>
            </a:avLst>
          </a:prstGeom>
          <a:solidFill>
            <a:srgbClr val="F6F8F8"/>
          </a:solidFill>
          <a:ln w="12700">
            <a:solidFill>
              <a:srgbClr val="F6F8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2834640"/>
            <a:ext cx="50749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14919B"/>
                </a:solidFill>
              </a:rPr>
              <a:t>GitHub Pages（静的）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1F2A"/>
                </a:solidFill>
              </a:rPr>
              <a:t>・GitHub の中で完結して、無料で使える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1F2A"/>
                </a:solidFill>
              </a:rPr>
              <a:t>・output: 'export' で静的なファイルに書き出して置く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1F2A"/>
                </a:solidFill>
              </a:rPr>
              <a:t>・URL が https://ユーザー名.github.io/リポジトリ名/ なので、basePath と trailingSlash の設定が必要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1F2A"/>
                </a:solidFill>
              </a:rPr>
              <a:t>・サーバの機能（アクセスごとの処理）は使えない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172200" y="2697480"/>
            <a:ext cx="5440680" cy="3383280"/>
          </a:xfrm>
          <a:prstGeom prst="roundRect">
            <a:avLst>
              <a:gd name="adj" fmla="val 3243"/>
            </a:avLst>
          </a:prstGeom>
          <a:solidFill>
            <a:srgbClr val="F6F8F8"/>
          </a:solidFill>
          <a:ln w="12700">
            <a:solidFill>
              <a:srgbClr val="F6F8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355080" y="2834640"/>
            <a:ext cx="50749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D4471F"/>
                </a:solidFill>
              </a:rPr>
              <a:t>Vercel（サーバも動く）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1F2A"/>
                </a:solidFill>
              </a:rPr>
              <a:t>・Next.js を開発している会社のサービス。Next.js の機能がほぼそのまま動く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1F2A"/>
                </a:solidFill>
              </a:rPr>
              <a:t>・GitHub につなぐと push のたびに自動で公開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1F2A"/>
                </a:solidFill>
              </a:rPr>
              <a:t>・PR ごとに「プレビュー URL」ができ、レビューで実物を見られる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1F2A"/>
                </a:solidFill>
              </a:rPr>
              <a:t>・本番（Production）とプレビューで環境変数を分けられる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62179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B6B"/>
                </a:solidFill>
              </a:rPr>
              <a:t>この授業では両方に公開して、違いを体験します（コマ21・22）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A8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3000" b="1" dirty="0">
                <a:solidFill>
                  <a:srgbClr val="0F3D3E"/>
                </a:solidFill>
              </a:rPr>
              <a:t>Phase 4 CI/CD：完成するパイプライン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A4BE0"/>
                </a:solidFill>
              </a:rPr>
              <a:t>PR を出したとき：検査だけ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1920240" cy="960120"/>
          </a:xfrm>
          <a:prstGeom prst="roundRect">
            <a:avLst>
              <a:gd name="adj" fmla="val 9524"/>
            </a:avLst>
          </a:prstGeom>
          <a:solidFill>
            <a:srgbClr val="EEF4F3"/>
          </a:solidFill>
          <a:ln w="12700">
            <a:solidFill>
              <a:srgbClr val="6A4B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737360"/>
            <a:ext cx="17739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F2A"/>
                </a:solidFill>
              </a:rPr>
              <a:t>PR を出す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514600" y="2039112"/>
            <a:ext cx="274320" cy="365760"/>
          </a:xfrm>
          <a:prstGeom prst="rightArrow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1737360"/>
            <a:ext cx="1920240" cy="960120"/>
          </a:xfrm>
          <a:prstGeom prst="roundRect">
            <a:avLst>
              <a:gd name="adj" fmla="val 9524"/>
            </a:avLst>
          </a:prstGeom>
          <a:solidFill>
            <a:srgbClr val="EEF4F3"/>
          </a:solidFill>
          <a:ln w="12700">
            <a:solidFill>
              <a:srgbClr val="6A4BE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907792" y="1737360"/>
            <a:ext cx="17739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F2A"/>
                </a:solidFill>
              </a:rPr>
              <a:t>lint・test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800600" y="2039112"/>
            <a:ext cx="274320" cy="365760"/>
          </a:xfrm>
          <a:prstGeom prst="rightArrow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0640" y="1737360"/>
            <a:ext cx="1920240" cy="960120"/>
          </a:xfrm>
          <a:prstGeom prst="roundRect">
            <a:avLst>
              <a:gd name="adj" fmla="val 9524"/>
            </a:avLst>
          </a:prstGeom>
          <a:solidFill>
            <a:srgbClr val="EEF4F3"/>
          </a:solidFill>
          <a:ln w="12700">
            <a:solidFill>
              <a:srgbClr val="6A4BE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193792" y="1737360"/>
            <a:ext cx="17739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F2A"/>
                </a:solidFill>
              </a:rPr>
              <a:t>build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086600" y="2039112"/>
            <a:ext cx="274320" cy="365760"/>
          </a:xfrm>
          <a:prstGeom prst="rightArrow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406640" y="1737360"/>
            <a:ext cx="1920240" cy="960120"/>
          </a:xfrm>
          <a:prstGeom prst="roundRect">
            <a:avLst>
              <a:gd name="adj" fmla="val 9524"/>
            </a:avLst>
          </a:prstGeom>
          <a:solidFill>
            <a:srgbClr val="EEF4F3"/>
          </a:solidFill>
          <a:ln w="12700">
            <a:solidFill>
              <a:srgbClr val="6A4BE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479792" y="1737360"/>
            <a:ext cx="17739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F2A"/>
                </a:solidFill>
              </a:rPr>
              <a:t>レビュー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B1F2A"/>
                </a:solidFill>
              </a:rPr>
              <a:t>（プレビュー URL も確認）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9372600" y="2039112"/>
            <a:ext cx="274320" cy="365760"/>
          </a:xfrm>
          <a:prstGeom prst="rightArrow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692640" y="1737360"/>
            <a:ext cx="1920240" cy="960120"/>
          </a:xfrm>
          <a:prstGeom prst="roundRect">
            <a:avLst>
              <a:gd name="adj" fmla="val 9524"/>
            </a:avLst>
          </a:prstGeom>
          <a:solidFill>
            <a:srgbClr val="EEF4F3"/>
          </a:solidFill>
          <a:ln w="12700">
            <a:solidFill>
              <a:srgbClr val="6A4BE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765792" y="1737360"/>
            <a:ext cx="17739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F2A"/>
                </a:solidFill>
              </a:rPr>
              <a:t>マージ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30175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4471F"/>
                </a:solidFill>
              </a:rPr>
              <a:t>main に入ったとき：検査＋自動で公開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548640" y="3520440"/>
            <a:ext cx="1920240" cy="960120"/>
          </a:xfrm>
          <a:prstGeom prst="roundRect">
            <a:avLst>
              <a:gd name="adj" fmla="val 9524"/>
            </a:avLst>
          </a:prstGeom>
          <a:solidFill>
            <a:srgbClr val="EEF4F3"/>
          </a:solidFill>
          <a:ln w="12700">
            <a:solidFill>
              <a:srgbClr val="D4471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21792" y="3520440"/>
            <a:ext cx="17739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F2A"/>
                </a:solidFill>
              </a:rPr>
              <a:t>main に入る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2514600" y="3822192"/>
            <a:ext cx="274320" cy="365760"/>
          </a:xfrm>
          <a:prstGeom prst="rightArrow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834640" y="3520440"/>
            <a:ext cx="1920240" cy="960120"/>
          </a:xfrm>
          <a:prstGeom prst="roundRect">
            <a:avLst>
              <a:gd name="adj" fmla="val 9524"/>
            </a:avLst>
          </a:prstGeom>
          <a:solidFill>
            <a:srgbClr val="EEF4F3"/>
          </a:solidFill>
          <a:ln w="12700">
            <a:solidFill>
              <a:srgbClr val="D4471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907792" y="3520440"/>
            <a:ext cx="17739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F2A"/>
                </a:solidFill>
              </a:rPr>
              <a:t>lint・test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4800600" y="3822192"/>
            <a:ext cx="274320" cy="365760"/>
          </a:xfrm>
          <a:prstGeom prst="rightArrow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120640" y="3520440"/>
            <a:ext cx="1920240" cy="960120"/>
          </a:xfrm>
          <a:prstGeom prst="roundRect">
            <a:avLst>
              <a:gd name="adj" fmla="val 9524"/>
            </a:avLst>
          </a:prstGeom>
          <a:solidFill>
            <a:srgbClr val="EEF4F3"/>
          </a:solidFill>
          <a:ln w="12700">
            <a:solidFill>
              <a:srgbClr val="D4471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193792" y="3520440"/>
            <a:ext cx="17739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F2A"/>
                </a:solidFill>
              </a:rPr>
              <a:t>build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7086600" y="3822192"/>
            <a:ext cx="274320" cy="365760"/>
          </a:xfrm>
          <a:prstGeom prst="rightArrow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06640" y="3520440"/>
            <a:ext cx="1920240" cy="960120"/>
          </a:xfrm>
          <a:prstGeom prst="roundRect">
            <a:avLst>
              <a:gd name="adj" fmla="val 9524"/>
            </a:avLst>
          </a:prstGeom>
          <a:solidFill>
            <a:srgbClr val="D4471F"/>
          </a:solidFill>
          <a:ln w="12700">
            <a:solidFill>
              <a:srgbClr val="D4471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479792" y="3520440"/>
            <a:ext cx="17739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pages-build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（Pages 用）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9372600" y="3822192"/>
            <a:ext cx="274320" cy="365760"/>
          </a:xfrm>
          <a:prstGeom prst="rightArrow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692640" y="3520440"/>
            <a:ext cx="1920240" cy="960120"/>
          </a:xfrm>
          <a:prstGeom prst="roundRect">
            <a:avLst>
              <a:gd name="adj" fmla="val 9524"/>
            </a:avLst>
          </a:prstGeom>
          <a:solidFill>
            <a:srgbClr val="D4471F"/>
          </a:solidFill>
          <a:ln w="12700">
            <a:solidFill>
              <a:srgbClr val="D4471F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765792" y="3520440"/>
            <a:ext cx="17739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pages-deploy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（公開）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548640" y="4846320"/>
            <a:ext cx="11064240" cy="1417320"/>
          </a:xfrm>
          <a:prstGeom prst="roundRect">
            <a:avLst>
              <a:gd name="adj" fmla="val 7742"/>
            </a:avLst>
          </a:prstGeom>
          <a:solidFill>
            <a:srgbClr val="FBEDE8"/>
          </a:solidFill>
          <a:ln w="12700">
            <a:solidFill>
              <a:srgbClr val="FBEDE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31520" y="4983480"/>
            <a:ext cx="10698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D4471F"/>
                </a:solidFill>
              </a:rPr>
              <a:t>ポイント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1F2A"/>
                </a:solidFill>
              </a:rPr>
              <a:t>ci.yml 1本の中で、if: を使って PR と main の動きを書き分ける。どこかで失敗したら先には進まない（needs）。Vercel も main に入ると本番 URL を自動更新。公開後に問題が見つかったら git revert で戻す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A8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3000" b="1" dirty="0">
                <a:solidFill>
                  <a:srgbClr val="0F3D3E"/>
                </a:solidFill>
              </a:rPr>
              <a:t>Phase 4 CI/CD：6コマでやること</a:t>
            </a:r>
            <a:endParaRPr lang="en-US" sz="30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6424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3200400"/>
                <a:gridCol w="70408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コマ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47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タイトル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47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できるようになること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471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D4471F"/>
                          </a:solidFill>
                        </a:rPr>
                        <a:t>20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デプロイ先の比較と選定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静的ホスティングとサーバ付きの違い。output: 'export' を試し、GitHub Pages と Vercel を比べて選ぶ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D4471F"/>
                          </a:solidFill>
                        </a:rPr>
                        <a:t>21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Vercel へのデプロイ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リポジトリをつないで公開。本番とプレビューで環境変数を分け、PR ごとのプレビュー URL で確認・以前の版に戻す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D4471F"/>
                          </a:solidFill>
                        </a:rPr>
                        <a:t>22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GitHub Pages へのデプロイ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Pages 向けビルドのときだけ export・basePath・trailingSlash を有効にし、Actions で公開する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D4471F"/>
                          </a:solidFill>
                        </a:rPr>
                        <a:t>23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CI/CD パイプラインの完成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CI とデプロイを1本に。PR は検査だけ、main は検査＋公開。Issue → PR → マージ → 公開を一人で回す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D4471F"/>
                          </a:solidFill>
                        </a:rPr>
                        <a:t>24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トラブルシューティング演習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「どこで・何が・なぜ」で絞り込む。「手元では通るのに CI で落ちる」典型的な原因を知る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D4471F"/>
                          </a:solidFill>
                        </a:rPr>
                        <a:t>25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チーム開発シミュレーション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Issue を分担して並行開発。レビュー必須のルールでレビューし合い、コンフリクトを相談して解決する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A8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3000" b="1" dirty="0">
                <a:solidFill>
                  <a:srgbClr val="0F3D3E"/>
                </a:solidFill>
              </a:rPr>
              <a:t>Phase 4 の用語①（公開まわり）</a:t>
            </a:r>
            <a:endParaRPr lang="en-US" sz="30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1106424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5303520"/>
                <a:gridCol w="38404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用語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47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元の英語・語源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47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この授業では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471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D4471F"/>
                          </a:solidFill>
                        </a:rPr>
                        <a:t>deploy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déployer（フランス語）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「広げる」が元の意味。軍隊を各地へ「配備」する意味を経て、ソフトを使える場所に置く意味に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アプリをインターネット上に置き、誰でも見られるようにすること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D4471F"/>
                          </a:solidFill>
                        </a:rPr>
                        <a:t>URL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Uniform Resource Locator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「統一された形式で、資源（ページやファイル）の場所を示すもの」＝ Web 上の住所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公開すると https://… の公開 URL が発行される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D4471F"/>
                          </a:solidFill>
                        </a:rPr>
                        <a:t>static（静的）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static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「動かない・固定の」。反対は dynamic（動的）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完成済みのファイルを置くだけのサイト。GitHub Pages はこれ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D4471F"/>
                          </a:solidFill>
                        </a:rPr>
                        <a:t>basePath / trailingSlash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base ＋ path ／ trailing ＋ slash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base＝土台、path＝道。trailing＝後ろに続く、slash＝「/」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Pages の URL は /リポジトリ名/ から始まるので、その土台と末尾の / を設定する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D4471F"/>
                          </a:solidFill>
                        </a:rPr>
                        <a:t>artifact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artifact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「人工物・成果物」。ラテン語 arte（技で）＋ factum（作られたもの）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ワークフローで作ったファイル（ビルド結果など）を保存・受け渡しする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3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A8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3000" b="1" dirty="0">
                <a:solidFill>
                  <a:srgbClr val="0F3D3E"/>
                </a:solidFill>
              </a:rPr>
              <a:t>Phase 4 の用語②（運用とチーム開発）</a:t>
            </a:r>
            <a:endParaRPr lang="en-US" sz="30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1106424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5303520"/>
                <a:gridCol w="38404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用語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47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元の英語・語源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47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この授業では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471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D4471F"/>
                          </a:solidFill>
                        </a:rPr>
                        <a:t>pipeline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pipe ＋ line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パイプ（管）をつないだ線。石油やガスを順に送る管が元の意味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lint → test → build → 公開を1本につなぎ、順に自動で流すしくみ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D4471F"/>
                          </a:solidFill>
                        </a:rPr>
                        <a:t>Production / Preview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production ／ pre ＋ view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production＝生産→「本番」。preview＝前もって（pre）見る（view）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Vercel の本番環境と、PR ごとの確認用環境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D4471F"/>
                          </a:solidFill>
                        </a:rPr>
                        <a:t>revert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re ＋ vert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re（元へ）＋ vert（向ける）＝「元に戻す」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公開後に問題が出たら、その変更を打ち消すコミットを作って戻す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D4471F"/>
                          </a:solidFill>
                        </a:rPr>
                        <a:t>Issue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issue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「問題・論点」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やること・バグを登録する GitHub の機能。Issue → PR の順で開発する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D4471F"/>
                          </a:solidFill>
                        </a:rPr>
                        <a:t>review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re ＋ view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「もう一度見る」→「見直す・批評する」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他の人の PR のコードとプレビューを見て、意見を書く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D4471F"/>
                          </a:solidFill>
                        </a:rPr>
                        <a:t>conflict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con ＋ flict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ラテン語 con（共に）＋ fligere（打つ）＝「ぶつかり合い・衝突」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2人が同じ行を変えたときに起きる。相談して正しい形に直す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A8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3000" b="1" dirty="0">
                <a:solidFill>
                  <a:srgbClr val="0F3D3E"/>
                </a:solidFill>
              </a:rPr>
              <a:t>Phase 5：個人制作で全部をつなげる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822960" y="1737360"/>
            <a:ext cx="731520" cy="731520"/>
          </a:xfrm>
          <a:prstGeom prst="ellipse">
            <a:avLst/>
          </a:prstGeom>
          <a:solidFill>
            <a:srgbClr val="2E86AB"/>
          </a:solidFill>
          <a:ln w="12700">
            <a:solidFill>
              <a:srgbClr val="2E86A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7373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26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365760" y="26060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1F2A"/>
                </a:solidFill>
              </a:rPr>
              <a:t>企画・設計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063240" y="1737360"/>
            <a:ext cx="731520" cy="731520"/>
          </a:xfrm>
          <a:prstGeom prst="ellipse">
            <a:avLst/>
          </a:prstGeom>
          <a:solidFill>
            <a:srgbClr val="2E86AB"/>
          </a:solidFill>
          <a:ln w="12700">
            <a:solidFill>
              <a:srgbClr val="2E86A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063240" y="17373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27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2606040" y="26060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1F2A"/>
                </a:solidFill>
              </a:rPr>
              <a:t>実装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303520" y="1737360"/>
            <a:ext cx="731520" cy="731520"/>
          </a:xfrm>
          <a:prstGeom prst="ellipse">
            <a:avLst/>
          </a:prstGeom>
          <a:solidFill>
            <a:srgbClr val="2E86AB"/>
          </a:solidFill>
          <a:ln w="12700">
            <a:solidFill>
              <a:srgbClr val="2E86A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303520" y="17373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28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4846320" y="26060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1F2A"/>
                </a:solidFill>
              </a:rPr>
              <a:t>テストと CI/CD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543800" y="1737360"/>
            <a:ext cx="731520" cy="731520"/>
          </a:xfrm>
          <a:prstGeom prst="ellipse">
            <a:avLst/>
          </a:prstGeom>
          <a:solidFill>
            <a:srgbClr val="2E86AB"/>
          </a:solidFill>
          <a:ln w="12700">
            <a:solidFill>
              <a:srgbClr val="2E86A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543800" y="17373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29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7086600" y="26060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1F2A"/>
                </a:solidFill>
              </a:rPr>
              <a:t>発表準備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9784080" y="1737360"/>
            <a:ext cx="731520" cy="731520"/>
          </a:xfrm>
          <a:prstGeom prst="ellipse">
            <a:avLst/>
          </a:prstGeom>
          <a:solidFill>
            <a:srgbClr val="2E86AB"/>
          </a:solidFill>
          <a:ln w="12700">
            <a:solidFill>
              <a:srgbClr val="2E86A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784080" y="17373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30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9326880" y="26060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1F2A"/>
                </a:solidFill>
              </a:rPr>
              <a:t>最終発表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48640" y="3383280"/>
            <a:ext cx="11064240" cy="2286000"/>
          </a:xfrm>
          <a:prstGeom prst="roundRect">
            <a:avLst>
              <a:gd name="adj" fmla="val 4800"/>
            </a:avLst>
          </a:prstGeom>
          <a:solidFill>
            <a:srgbClr val="EEF4F3"/>
          </a:solidFill>
          <a:ln w="12700">
            <a:solidFill>
              <a:srgbClr val="EEF4F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31520" y="3520440"/>
            <a:ext cx="106984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2E86AB"/>
                </a:solidFill>
              </a:rPr>
              <a:t>ゴール（例：ポモドーロタイマー）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1F2A"/>
                </a:solidFill>
              </a:rPr>
              <a:t>自分のアプリを Next.js で作り、テストを書き、GitHub Actions で CI を回し、公開 URL で発表する。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1F2A"/>
                </a:solidFill>
              </a:rPr>
              <a:t>「README の URL を開けば動く」「PR にチェックの ✓ が付いている」状態が完成形です。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1F2A"/>
                </a:solidFill>
              </a:rPr>
              <a:t>ポモドーロ（pomodoro）はイタリア語で「トマト」。トマト型のキッチンタイマーで25分集中する勉強法が名前の由来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A8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3000" b="1" dirty="0">
                <a:solidFill>
                  <a:srgbClr val="0F3D3E"/>
                </a:solidFill>
              </a:rPr>
              <a:t>発展編（任意）：6コマと用語</a:t>
            </a:r>
            <a:endParaRPr lang="en-US" sz="30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1106424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6766560"/>
                <a:gridCol w="34747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コマ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86A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名前と語源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86A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何をする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86A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2E86AB"/>
                          </a:solidFill>
                        </a:rPr>
                        <a:t>a1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TypeScript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Type（型）＋ JavaScript。値の「型」を決めて、間違いを書いた時点で見つける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TODO アプリを TypeScript に書き換える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2E86AB"/>
                          </a:solidFill>
                        </a:rPr>
                        <a:t>a2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Tailwind CSS v4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tailwind＝「追い風」。CSS＝Cascading Style Sheets（cascade＝段々に流れ落ちる滝。スタイルが重なって上書きされる）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クラス名を並べるだけで見た目を整える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2E86AB"/>
                          </a:solidFill>
                        </a:rPr>
                        <a:t>a3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MSW（Mock Service Worker）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Service Worker はブラウザの裏で通信を仲介するしくみ。API（Application Programming Interface＝プログラム同士の窓口）の偽物を作る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テストでもブラウザでも、同じ「にせ API」を使う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2E86AB"/>
                          </a:solidFill>
                        </a:rPr>
                        <a:t>a4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Playwright（E2E）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playwright＝「劇作家」。wright は「作る職人」（shipwright＝船大工）。台本どおりにブラウザを操作する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本物のブラウザで最初から最後まで操作するテスト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2E86AB"/>
                          </a:solidFill>
                        </a:rPr>
                        <a:t>a5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Composite Action・Dependabot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composite＝「組み合わせた」。Dependabot＝dependency（依存する部品）＋ bot（robot の略）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キャッシュで CI を速くし、部品の更新 PR を自動で作らせる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2E86AB"/>
                          </a:solidFill>
                        </a:rPr>
                        <a:t>a6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MSW 総合演習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ポケモン図鑑を題材に、独立した Next.js プロジェクトで MSW を総まとめ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偽 API と本物の PokeAPI を切り替えて開発・テストする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A8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3000" b="1" dirty="0">
                <a:solidFill>
                  <a:srgbClr val="0F3D3E"/>
                </a:solidFill>
              </a:rPr>
              <a:t>授業の進め方とお願い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5394960" cy="3840480"/>
          </a:xfrm>
          <a:prstGeom prst="roundRect">
            <a:avLst>
              <a:gd name="adj" fmla="val 2857"/>
            </a:avLst>
          </a:prstGeom>
          <a:solidFill>
            <a:srgbClr val="EEF4F3"/>
          </a:solidFill>
          <a:ln w="12700">
            <a:solidFill>
              <a:srgbClr val="EEF4F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508760"/>
            <a:ext cx="50292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14919B"/>
                </a:solidFill>
              </a:rPr>
              <a:t>毎回の流れ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1B1F2A"/>
                </a:solidFill>
              </a:rPr>
              <a:t>① 導入：今日やる理由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1B1F2A"/>
                </a:solidFill>
              </a:rPr>
              <a:t>② 本題：先生と一緒に打つ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1B1F2A"/>
                </a:solidFill>
              </a:rPr>
              <a:t>③ 演習：自分で解く（解答例は折りたたみ）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1B1F2A"/>
                </a:solidFill>
              </a:rPr>
              <a:t>④ まとめ：詰まりやすいポイントの確認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1B1F2A"/>
                </a:solidFill>
              </a:rPr>
              <a:t>⑤ 課題：基礎／応用／チャレンジ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217920" y="1371600"/>
            <a:ext cx="5394960" cy="3840480"/>
          </a:xfrm>
          <a:prstGeom prst="roundRect">
            <a:avLst>
              <a:gd name="adj" fmla="val 2857"/>
            </a:avLst>
          </a:prstGeom>
          <a:solidFill>
            <a:srgbClr val="FDF3E3"/>
          </a:solidFill>
          <a:ln w="12700">
            <a:solidFill>
              <a:srgbClr val="FDF3E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0" y="1508760"/>
            <a:ext cx="50292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C47F1A"/>
                </a:solidFill>
              </a:rPr>
              <a:t>うまくいくコツ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1B1F2A"/>
                </a:solidFill>
              </a:rPr>
              <a:t>・エラーは全文を読む。そのまま貼って質問する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1B1F2A"/>
                </a:solidFill>
              </a:rPr>
              <a:t>・コピペより手で打つ（理由も一緒に覚える）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1B1F2A"/>
                </a:solidFill>
              </a:rPr>
              <a:t>・小さくコミット、こまめに push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1B1F2A"/>
                </a:solidFill>
              </a:rPr>
              <a:t>・知らない略語は、元の英語を調べると覚えやすい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1B1F2A"/>
                </a:solidFill>
              </a:rPr>
              <a:t>・休んだら、教材の Markdown を1コマ読めば追いつける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A8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2801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次回：コマ1 環境構築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474720"/>
            <a:ext cx="1069848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BFE3E2"/>
                </a:solidFill>
              </a:rPr>
              <a:t>Node.js・Git・VS Code をそろえて、Next.js プロジェクトを動かします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BFE3E2"/>
                </a:solidFill>
              </a:rPr>
              <a:t>PC と GitHub アカウントを準備してきてください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ebFront">
  <a:themeElements>
    <a:clrScheme name="WebFront">
      <a:dk1>
        <a:srgbClr val="1B1F2A"/>
      </a:dk1>
      <a:lt1>
        <a:srgbClr val="FFFFFF"/>
      </a:lt1>
      <a:dk2>
        <a:srgbClr val="0F3D3E"/>
      </a:dk2>
      <a:lt2>
        <a:srgbClr val="EEF4F3"/>
      </a:lt2>
      <a:accent1>
        <a:srgbClr val="14919B"/>
      </a:accent1>
      <a:accent2>
        <a:srgbClr val="C47F1A"/>
      </a:accent2>
      <a:accent3>
        <a:srgbClr val="6A4BE0"/>
      </a:accent3>
      <a:accent4>
        <a:srgbClr val="D4471F"/>
      </a:accent4>
      <a:accent5>
        <a:srgbClr val="2E86AB"/>
      </a:accent5>
      <a:accent6>
        <a:srgbClr val="4CAF50"/>
      </a:accent6>
      <a:hlink>
        <a:srgbClr val="14919B"/>
      </a:hlink>
      <a:folHlink>
        <a:srgbClr val="6A4BE0"/>
      </a:folHlink>
    </a:clrScheme>
    <a:fontScheme name="WebFront">
      <a:majorFont>
        <a:latin typeface="BIZ UDP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BIZ UDP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Webフロントエンド 授業ガイダンス</dc:title>
  <dc:subject>PptxGenJS Presentation</dc:subject>
  <dc:creator>PptxGenJS</dc:creator>
  <cp:lastModifiedBy>PptxGenJS</cp:lastModifiedBy>
  <cp:revision>1</cp:revision>
  <dcterms:created xsi:type="dcterms:W3CDTF">2026-10-05T10:36:55Z</dcterms:created>
  <dcterms:modified xsi:type="dcterms:W3CDTF">2026-10-05T10:36:55Z</dcterms:modified>
</cp:coreProperties>
</file>