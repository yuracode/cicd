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はじめに" id="{b8a5409a-0b77-f427-226a-ca8007784891}">
          <p14:sldIdLst>
            <p14:sldId id="256"/>
            <p14:sldId id="257"/>
            <p14:sldId id="258"/>
            <p14:sldId id="259"/>
          </p14:sldIdLst>
        </p14:section>
        <p14:section name="全体像" id="{544afe39-d1d8-e024-e111-2f302b8de81c}">
          <p14:sldIdLst>
            <p14:sldId id="260"/>
            <p14:sldId id="261"/>
            <p14:sldId id="262"/>
          </p14:sldIdLst>
        </p14:section>
        <p14:section name="Phase 1" id="{d4c0a604-3ba6-31bc-e110-0e6efbcc3d7e}">
          <p14:sldIdLst>
            <p14:sldId id="263"/>
            <p14:sldId id="264"/>
          </p14:sldIdLst>
        </p14:section>
        <p14:section name="Phase 2" id="{bd48c7bc-4be1-217e-5535-1ac942f61ec5}">
          <p14:sldIdLst>
            <p14:sldId id="265"/>
            <p14:sldId id="266"/>
            <p14:sldId id="267"/>
          </p14:sldIdLst>
        </p14:section>
        <p14:section name="Phase 3" id="{accc44ea-212f-498d-639b-ddc4496e69a6}">
          <p14:sldIdLst>
            <p14:sldId id="268"/>
            <p14:sldId id="269"/>
            <p14:sldId id="270"/>
            <p14:sldId id="271"/>
          </p14:sldIdLst>
        </p14:section>
        <p14:section name="Phase 4" id="{e27f6a12-5bdc-865d-c2cf-6941a2060327}">
          <p14:sldIdLst>
            <p14:sldId id="272"/>
            <p14:sldId id="273"/>
            <p14:sldId id="274"/>
            <p14:sldId id="275"/>
            <p14:sldId id="276"/>
          </p14:sldIdLst>
        </p14:section>
        <p14:section name="Phase 5・発展編" id="{6d4e5775-775a-6660-0ad5-3fbaa2968456}">
          <p14:sldIdLst>
            <p14:sldId id="277"/>
            <p14:sldId id="278"/>
          </p14:sldIdLst>
        </p14:section>
        <p14:section name="おわりに" id="{706980d5-2b49-56ee-4f53-7a9c72ef7f1c}">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みなさん、こんにちは。この授業「ウェブフロントエンド」のガイダンスを始めます。
この授業では、ネクストジェイエスを使ってリアクトを学び直すところから始めて、テスト、ギットハブアクションズ、シーアイシーディー、そしてデプロイまでを一通り体験します。
リアクトはもう少し触ったことがあると思うので、まずは復習から入ります。今日は、これから半年で何を学ぶのか、全体の地図をつかんでください。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まず、この授業のゴールです。
ひとことで言うと、「動くものを作れる」から、「チームで安全に届け続けられる」へ、ステップアップすることです。
一つ目は作る。ネクストジェイエスとリアクトで、トゥードゥーアプリを作ります。
二つ目は確かめる。ジェストとテスティングライブラリーで、自動テストを書きます。
三つ目は自動化する。ギットハブアクションズで、リント、テスト、ビルドを自動で回します。
四つ目は届ける。バーセルとギットハブページズに、自動で公開します。
最終的には、プッシュするだけで、テストに通ったものだけが公開される仕組みを、自分の手で作ります。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では、シーアイシーディーとは何でしょうか。
上の図を見てください。コードを書いて、ギットハブにプッシュすると、自動でチェックが走り、通ったら自動で公開され、誰でも見られるユーアールエルになります。
左下は、これを手作業でやった場合です。テストを忘れたまま入れてしまったり、人によって確認の手順がバラバラだったり、公開のたびにミスが起きたりします。「自分のパソコンでは動いたのに」というのもよくある話です。
右下のように、シーアイシーディーがあれば、毎回同じ手順で自動チェックされ、失敗したらマージできず、通ったものだけが公開されます。誰がやっても同じ結果になる、というのが大きなポイントです。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シーアイシーディーという略語を、英語から分解してみましょう。
シーアイは、コンティニュアス・インテグレーション。コンティニュアスは「継続的な、途切れない」という意味で、たまにやるのではなく、変更のたびに毎回やる、ということです。インテグレーションは「統合」。ラテン語のインテジャー、ひとかたまりの、という言葉が語源で、みんなの変更をこまめにメインに合流させて、壊れていないかを確かめます。
シーディーには二つの意味があります。デリバリーは「配達」で、いつでも本番に出せる状態まで自動で用意し、最後の公開は人が決めます。デプロイメントは「配備、展開」で、テストに通ったら公開まで全部自動です。この授業で作るのは、デプロイメントのほうです。
ちなみに、シーアイという言葉は、千九百九十年代に、エクストリーム・プログラミングという開発手法で広まりました。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次に、授業全体の流れです。本編が三十コマ、発展編が六コマあります。
フェーズという言葉は、英語で「段階」という意味です。
フェーズ1は、コマ1から7。ネクストジェイエスでリアクトの基礎を復習します。
フェーズ2は、コマ8から13。テストを学びます。
フェーズ3は、コマ14から19。ギットハブアクションズで、自動チェックを作ります。
フェーズ4は、コマ20から25。シーアイシーディーとデプロイ、つまり自動公開です。
フェーズ5は、コマ26から30。個人制作をして、最後に発表します。
右側の発展編は任意です。興味のあるものから取り組んでください。
毎回の授業は九十分で、導入、本題、演習、まとめ、課題の順に進みます。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この授業で使う道具と、開発環境です。
パソコンはウィンドウズで、コマンドはすべてパワーシェルで打ちます。
ノードジェイエスは、バージョン24のエルティーエス版を、ウィングェットというコマンドで入れます。
エディタはブイエスコードを使い、改行コードをエルエフに設定します。
ギットはギット・フォー・ウィンドウズを入れて、オートシーアールエルエフという設定をオフにします。
ほかに、ギットハブとバーセルのアカウントを使います。
作業フォルダは、ワンドライブの同期の外に作ります。セットアップは、コマ1でみんなと一緒にやるので、安心してください。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ここからは、略語とその語源を紹介していきます。まずは環境の用語です。
エルティーエスは、ロング・ターム・サポート、長期サポートの略です。ノードジェイエスは偶数番号の版がエルティーエスになり、約二年半、修正が続きます。授業の途中でサポートが切れないので、これを使います。
ウィングェットは、ウィンドウズと、手に入れるという意味のゲットを合わせた名前です。
ブイエスコードは、ビジュアル・スタジオ・コードの略です。
エルエフとシーアールエルエフは、タイプライターが語源です。エルエフは紙を一行送る、シーアールは印字の位置を左端に戻す動きのことです。ウィンドウズとそれ以外で改行の書き方が違うので、全員エルエフにそろえます。
エヌピーエムは、ノード・パッケージ・マネージャーとして生まれましたが、今の公式サイトは、冗談めかして「略語ではない」と言っています。
パワーシェルのシェルは「殻」という意味で、人とオーエスの間に立って命令を受け取るソフトのことです。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ここから、各フェーズの中身を見ていきます。フェーズ1は、リアクトを学び直すところからです。
触ったことがある前提で、あいまいなところを固め直します。
ジェイエスエックスとプロップスで部品を組み立て、ステートとイベントで画面を動かします。ユーズクライアントという、この部品はブラウザで動かす、という宣言の意味もここで押さえます。
リストと条件表示では、マップやキー、三項演算子をおさらいします。
そして、トゥードゥーアプリを作り、ギットとギットハブ、プルリクエストの流れを身につけます。
ここで作ったトゥードゥーアプリを、フェーズ2から4で、テストし、自動化し、公開していきます。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フェーズ1の用語です。
ジェイエスエックスは、ジャバスクリプト・エックスエムエルの略とされています。エックスエムエルは、拡張できるマークアップ言語のことで、ジャバスクリプトの中に、エイチティーエムエルのようなタグを書ける書き方です。
プロップスは、プロパティーズの略で、性質や属性という意味です。親の部品から子の部品へ渡す値のことです。
ステートは英語で「状態」。画面の中で変わる値です。
トゥードゥーは「やるべきこと」。
ギットは略語ではありません。リナックスの作者、リーナス・トーバルズが二千五年に作ったもので、イギリスの俗語で「まぬけ」という意味です。ギットハブのハブは、車輪の中心という意味です。
ピーアールは、プルリクエスト。「私の変更を引き込んでください」というお願いです。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フェーズ2はテストです。そもそも、なぜテストを書くのでしょうか。
画面を手で触って確かめるのは、毎回やると大変で、見落としも出ます。
一か所直したら、別の場所が壊れてしまうことがあります。テストがあれば、すぐに気づけます。
そして、テストがあれば、フェーズ3で、ギットハブアクションズに毎回自動で確かめてもらえます。
右の図は、テストの種類です。一番下の単体テストは、関数一つ、部品一つを確かめます。真ん中の結合テストは、部品を組み合わせて確かめます。一番上のイーツーイーテストは、ブラウザで最初から最後まで操作します。
下ほど速くてたくさん書けて、上ほど本物に近いけれど遅い、という関係です。本編では単体テストと結合テストを中心に学びます。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フェーズ2の六コマで、やることです。
コマ8でジェストを導入して、最初のテストを動かします。
コマ9では、トゥードゥーの追加や削除を、純粋関数として切り出してテストします。純粋関数とは、同じ入力なら必ず同じ出力を返す関数のことです。
コマ10と11では、リアクト・テスティング・ライブラリーで、画面の表示と、クリックや入力などの操作をテストします。
コマ12では、通信やページ移動を偽物に置き換える、モックを学びます。
コマ13では、カバレッジを測って、テストされていない場所を見つけます。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フェーズ2の用語です。
ジェストは略語ではなく、英語で「冗談、おふざけ」という意味です。楽しくテストを書こう、という思いが込められています。
アールティーエルは、リアクト・テスティング・ライブラリーの略です。ライブラリーは図書館のことで、プログラムでは便利な部品を集めたもの、という意味になります。
ドムは、ドキュメント・オブジェクト・モデル。エイチティーエムエルを、ジャバスクリプトから操作できる木の形のデータです。ジェイエスドムは、ジャバスクリプトで作った、にせもののブラウザです。
イーツーイーは、エンド・トゥー・エンド、端から端まで、という意味です。
モックは「模造品」、カバレッジは「覆う範囲」という意味です。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フェーズ3は、ギットハブアクションズです。自動チェックのしくみを見てみましょう。
まず、プルリクエストを出したり、メインにプッシュしたりすることが、きっかけ、つまりイベントになります。
イベントが起きると、ワークフローが動きます。ワークフローの中には、リント、テスト、ビルドといったジョブがあり、それぞれのジョブは、いくつかのステップでできています。
ジョブは、ランナーと呼ばれる、ギットハブが毎回用意する使い捨てのマシンで動きます。
右側が、実際に書くワークフローのファイルです。ヤムルという形式で、いつ動くか、どのマシンで動くか、どんな手順で動くかを書きます。
結果は、プルリクエストに、成功ならチェックマーク、失敗ならバツ印で表示されます。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フェーズ3の六コマで、やることです。
コマ14で、ワークフロー、ジョブ、ステップの関係と、ヤムルの書き方を学びます。
コマ15で、はじめてのワークフローを動かし、ログを読みます。
コマ16と17で、リント、ビルド、テストを自動で実行するようにします。
コマ18では、ルールセットを使って、メインを守ります。シーアイは失敗を知らせるだけなので、ルールセットで、失敗したものをマージできないように止めるのがポイントです。
コマ19では、シークレッツと環境変数を学びます。ネクスト・パブリックが付いた変数はブラウザから見えてしまう、という注意点も押さえます。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フェーズ3の用語、一つ目です。
ヤムルは、もともと、イエット・アナザー・マークアップ・ランゲージ、「また別のマークアップ言語」の略でした。のちに、ヤムル・エイント・マークアップ・ランゲージ、「ヤムルはマークアップ言語じゃない」に変わりました。自分の名前を中に含む、ちょっと面白い略語です。
リントは、服につく「糸くず」のことです。千九百七十八年に、ベル研究所が、シー言語の細かい問題を拾うツールに、糸くず取りという意味でこの名前を付けました。
イーエスリントは、ジャバスクリプトの標準仕様であるエクマスクリプトと、リントを合わせた名前です。
ビルドは「組み立てる」。
エヌピーエム・シーアイのシーアイは、クリーン・インストール、まっさらな状態からインストールする、という意味です。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フェーズ3の用語、二つ目です。
ワークフローは、仕事の流れ。ジョブはひとまとまりの仕事、ステップは手順の一段です。
ランナーは、走らせるもの、つまりジョブを実行するマシンです。
チェックアウトは、図書館で本を借り出す、という意味です。リポジトリのコードを、ランナーに取り出します。
ルールセットは、規則のひとそろい。メインを守るためのルールです。
シークレッツは「秘密」。パスワードなどを、安全にワークフローへ渡します。
ネクスト・パブリックのパブリックは「公開」。この名前で始まる環境変数は、ブラウザから誰でも見られるので、秘密の値には使いません。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フェーズ4は、シーアイシーディーとデプロイです。まず、どこに公開するかを考えます。
公開先には、大きく二種類あります。できあがったファイルを置くだけの、静的ホスティングと、アクセスのたびにサーバでプログラムを動かせるホスティングです。
ギットハブページズは静的ホスティングです。無料で、ギットハブの中で完結しますが、サーバの機能は使えません。
バーセルは、ネクストジェイエスを開発している会社のサービスで、サーバの機能も動きます。プルリクエストごとにプレビューのユーアールエルができるのも便利です。
この授業では両方に公開して、違いを体験します。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フェーズ4で完成させる、パイプラインの全体像です。
上の段は、プルリクエストを出したときの流れです。リントとテスト、ビルドで検査をして、レビューをしてからマージします。ここでは検査だけで、公開はしません。
下の段は、メインにマージされたときの流れです。同じように検査をして、通ったらギットハブページズ用のビルドをして、自動で公開します。
どこかで失敗したら、その先には進みません。公開したあとに問題が見つかったら、ギット・リバートで元に戻します。
この一本のパイプラインを、自分の手で作り上げるのが、フェーズ4のゴールです。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フェーズ4の六コマで、やることです。
コマ20で、公開先を比べて選びます。
コマ21でバーセルに、コマ22でギットハブページズに公開します。
コマ23で、シーアイとデプロイを一本のパイプラインにまとめます。
コマ24は、トラブルシューティングの演習です。手元では通るのにシーアイで落ちる、という典型的な原因を学びます。
コマ25では、チーム開発を体験します。イシューを分担して開発し、お互いにレビューし合い、コンフリクトを相談して解決します。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フェーズ4の用語、一つ目は、公開まわりの言葉です。
デプロイは、フランス語の「広げる」という言葉が語源です。軍隊を各地に配備する、という意味を経て、ソフトを使える場所に置く、という意味になりました。
ユーアールエルは、ユニフォーム・リソース・ロケーター。ウェブ上の住所のことです。
スタティック、静的は「動かない、固定の」という意味です。
ベースパスは土台となる道、トレーリングスラッシュは、後ろに続くスラッシュという意味です。ギットハブページズで公開するときに設定します。
アーティファクトは「成果物」。ラテン語の、技で作られたもの、が語源です。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フェーズ4の用語、二つ目は、運用とチーム開発の言葉です。
パイプラインは、石油やガスを順に送る管のことです。リント、テスト、ビルド、公開を、一本につないで順に流すしくみです。
プロダクションは本番、プレビューは前もって見る、という意味です。
リバートは「元に戻す」。
イシューは「問題、論点」。やることやバグを登録する機能です。
レビューは「もう一度見る」。ほかの人のコードを見て意見を書きます。
コンフリクトは「衝突」。二人が同じ行を変えたときに起きます。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フェーズ5は、個人制作です。ここまで学んだことを、全部つなげます。
コマ26で企画と設計、27で実装、28でテストとシーアイシーディーを仕上げ、29で発表の準備、30で最終発表です。
たとえば、ポモドーロタイマーのようなアプリを、ネクストジェイエスで作り、テストを書き、シーアイを回して、公開ユーアールエルで発表します。
ちなみに、ポモドーロはイタリア語で「トマト」という意味です。トマトの形のキッチンタイマーで、二十五分集中する勉強法が由来です。
リードミーのユーアールエルを開けば動く、プルリクエストにチェックマークが付いている、という状態が完成形です。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発展編は任意の教材です。全部で六コマあります。
エーワンは、タイプスクリプト。型とジャバスクリプトを合わせた名前で、値の型を決めて、間違いを早く見つけます。
エーツーは、テイルウィンド・シーエスエス。テイルウィンドは「追い風」という意味です。
エースリーは、エムエスダブリュー、モック・サービス・ワーカーで、にせものの通信相手を作ります。
エーフォーは、プレイライト。「劇作家」という意味で、台本どおりにブラウザを操作するテストを書きます。
エーファイブはシーアイの強化、エーシックスは、ポケモン図鑑を題材にした総合演習です。
興味のある順に、自由に取り組んでください。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最後に、授業の進め方とお願いです。
毎回の授業は、導入、本題、演習、まとめ、課題の順に進みます。本題では、先生と一緒にコマンドを打っていきます。
うまくいくコツをいくつか紹介します。
エラーが出たら、まず全文を読んでください。質問するときは、そのまま貼り付けてくれると助かります。
コピーアンドペーストより、手で打つほうが身につきます。
小さくコミットして、こまめにプッシュしましょう。
知らない略語が出てきたら、元の英語を調べると覚えやすくなります。
休んでしまったときは、教材を一コマ分読めば、追いつけるようになっています。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このあとは、コマ1の環境構築です。
ノードジェイエス、ギット、ブイエスコードをそろえて、ネクストジェイエスのプロジェクトを動かしてみます。
パソコンと、ギットハブのアカウントを準備しておいてください。
それでは、これから一緒に頑張っていきましょう。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3D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3" name="Text 0"/>
          <p:cNvSpPr/>
          <p:nvPr>
            <p:ph idx="101" type="body" hasCustomPrompt="1"/>
          </p:nvPr>
        </p:nvSpPr>
        <p:spPr>
          <a:xfrm>
            <a:off x="731520" y="3474720"/>
            <a:ext cx="10698480" cy="1280160"/>
          </a:xfrm>
          <a:prstGeom prst="rect">
            <a:avLst/>
          </a:prstGeom>
          <a:noFill/>
          <a:ln/>
        </p:spPr>
        <p:txBody>
          <a:bodyPr wrap="square" rtlCol="0"/>
          <a:lstStyle>
            <a:lvl1pPr indent="0" marL="0">
              <a:buNone/>
              <a:defRPr lang="en-US" sz="2000" dirty="0">
                <a:solidFill>
                  <a:srgbClr val="BFE3E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000" b="1" dirty="0">
                <a:solidFill>
                  <a:srgbClr val="0F3D3E"/>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p>
            <a:pPr indent="0" marL="0">
              <a:buNone/>
            </a:pPr>
            <a:r>
              <a:rPr lang="en-US" sz="4400" b="1" dirty="0">
                <a:solidFill>
                  <a:srgbClr val="FFFFFF"/>
                </a:solidFill>
              </a:rPr>
              <a:t>Webフロントエンド</a:t>
            </a:r>
            <a:endParaRPr lang="en-US" sz="4400" dirty="0"/>
          </a:p>
        </p:txBody>
      </p:sp>
      <p:sp>
        <p:nvSpPr>
          <p:cNvPr id="4" name="Text 0"/>
          <p:cNvSpPr/>
          <p:nvPr>
            <p:ph idx="101" type="body" hasCustomPrompt="1"/>
          </p:nvPr>
        </p:nvSpPr>
        <p:spPr>
          <a:xfrm>
            <a:off x="731520" y="3474720"/>
            <a:ext cx="10698480" cy="1280160"/>
          </a:xfrm>
          <a:prstGeom prst="rect">
            <a:avLst/>
          </a:prstGeom>
          <a:noFill/>
          <a:ln/>
        </p:spPr>
        <p:txBody>
          <a:bodyPr wrap="square" rtlCol="0" anchor="t"/>
          <a:lstStyle/>
          <a:p>
            <a:pPr indent="0" marL="0">
              <a:buNone/>
            </a:pPr>
            <a:r>
              <a:rPr lang="en-US" sz="2000" dirty="0">
                <a:solidFill>
                  <a:srgbClr val="BFE3E2"/>
                </a:solidFill>
              </a:rPr>
              <a:t>Next.js で React を学び直し → テスト → GitHub Actions → CI/CD → デプロイ</a:t>
            </a:r>
            <a:endParaRPr lang="en-US" sz="2000" dirty="0"/>
          </a:p>
          <a:p>
            <a:pPr indent="0" marL="0">
              <a:buNone/>
            </a:pPr>
            <a:r>
              <a:rPr lang="en-US" sz="2000" dirty="0">
                <a:solidFill>
                  <a:srgbClr val="BFE3E2"/>
                </a:solidFill>
              </a:rPr>
              <a:t>授業ガイダンス</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この授業のゴール</a:t>
            </a:r>
            <a:endParaRPr lang="en-US" sz="3000" dirty="0"/>
          </a:p>
        </p:txBody>
      </p:sp>
      <p:sp>
        <p:nvSpPr>
          <p:cNvPr id="4" name="Text 1"/>
          <p:cNvSpPr txBox="1"/>
          <p:nvPr/>
        </p:nvSpPr>
        <p:spPr>
          <a:xfrm>
            <a:off x="548640" y="1280160"/>
            <a:ext cx="11064240" cy="548640"/>
          </a:xfrm>
          <a:prstGeom prst="rect">
            <a:avLst/>
          </a:prstGeom>
          <a:noFill/>
          <a:ln/>
        </p:spPr>
        <p:txBody>
          <a:bodyPr wrap="square" lIns="0" tIns="0" rIns="0" bIns="0" rtlCol="0" anchor="ctr"/>
          <a:lstStyle/>
          <a:p>
            <a:pPr indent="0" marL="0">
              <a:buNone/>
            </a:pPr>
            <a:r>
              <a:rPr lang="en-US" sz="2000" b="1" dirty="0">
                <a:solidFill>
                  <a:srgbClr val="14919B"/>
                </a:solidFill>
              </a:rPr>
              <a:t>「動くものを作れる」から「チームで安全に届け続けられる」へ</a:t>
            </a:r>
            <a:endParaRPr lang="en-US" sz="2000" dirty="0"/>
          </a:p>
        </p:txBody>
      </p:sp>
      <p:sp>
        <p:nvSpPr>
          <p:cNvPr id="5" name="Shape 2"/>
          <p:cNvSpPr/>
          <p:nvPr/>
        </p:nvSpPr>
        <p:spPr>
          <a:xfrm>
            <a:off x="1463040" y="2103120"/>
            <a:ext cx="731520" cy="731520"/>
          </a:xfrm>
          <a:prstGeom prst="ellipse">
            <a:avLst/>
          </a:prstGeom>
          <a:solidFill>
            <a:srgbClr val="14919B"/>
          </a:solidFill>
          <a:ln w="12700">
            <a:solidFill>
              <a:srgbClr val="14919B"/>
            </a:solidFill>
            <a:prstDash val="solid"/>
          </a:ln>
        </p:spPr>
      </p:sp>
      <p:sp>
        <p:nvSpPr>
          <p:cNvPr id="6" name="Text 3"/>
          <p:cNvSpPr txBox="1"/>
          <p:nvPr/>
        </p:nvSpPr>
        <p:spPr>
          <a:xfrm>
            <a:off x="1463040" y="21031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Shape 4"/>
          <p:cNvSpPr/>
          <p:nvPr/>
        </p:nvSpPr>
        <p:spPr>
          <a:xfrm>
            <a:off x="548640" y="3017520"/>
            <a:ext cx="2560320" cy="2377440"/>
          </a:xfrm>
          <a:prstGeom prst="roundRect">
            <a:avLst>
              <a:gd name="adj" fmla="val 4615"/>
            </a:avLst>
          </a:prstGeom>
          <a:solidFill>
            <a:srgbClr val="EEF4F3"/>
          </a:solidFill>
          <a:ln w="12700">
            <a:solidFill>
              <a:srgbClr val="EEF4F3"/>
            </a:solidFill>
            <a:prstDash val="solid"/>
          </a:ln>
        </p:spPr>
      </p:sp>
      <p:sp>
        <p:nvSpPr>
          <p:cNvPr id="8" name="Text 5"/>
          <p:cNvSpPr txBox="1"/>
          <p:nvPr/>
        </p:nvSpPr>
        <p:spPr>
          <a:xfrm>
            <a:off x="731520" y="3154680"/>
            <a:ext cx="2194560" cy="21031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作る</a:t>
            </a:r>
            <a:endParaRPr lang="en-US" sz="1800" dirty="0"/>
          </a:p>
          <a:p>
            <a:pPr indent="0" marL="0">
              <a:spcAft>
                <a:spcPts val="600"/>
              </a:spcAft>
              <a:buNone/>
            </a:pPr>
            <a:r>
              <a:rPr lang="en-US" sz="1400" dirty="0">
                <a:solidFill>
                  <a:srgbClr val="1B1F2A"/>
                </a:solidFill>
              </a:rPr>
              <a:t>Next.js / React で</a:t>
            </a:r>
            <a:endParaRPr lang="en-US" sz="1800" dirty="0"/>
          </a:p>
          <a:p>
            <a:pPr indent="0" marL="0">
              <a:spcAft>
                <a:spcPts val="600"/>
              </a:spcAft>
              <a:buNone/>
            </a:pPr>
            <a:r>
              <a:rPr lang="en-US" sz="1400" dirty="0">
                <a:solidFill>
                  <a:srgbClr val="1B1F2A"/>
                </a:solidFill>
              </a:rPr>
              <a:t>TODOアプリを作れる</a:t>
            </a:r>
            <a:endParaRPr lang="en-US" sz="1800" dirty="0"/>
          </a:p>
        </p:txBody>
      </p:sp>
      <p:sp>
        <p:nvSpPr>
          <p:cNvPr id="9" name="Shape 6"/>
          <p:cNvSpPr/>
          <p:nvPr/>
        </p:nvSpPr>
        <p:spPr>
          <a:xfrm>
            <a:off x="4297680" y="2103120"/>
            <a:ext cx="731520" cy="731520"/>
          </a:xfrm>
          <a:prstGeom prst="ellipse">
            <a:avLst/>
          </a:prstGeom>
          <a:solidFill>
            <a:srgbClr val="C47F1A"/>
          </a:solidFill>
          <a:ln w="12700">
            <a:solidFill>
              <a:srgbClr val="C47F1A"/>
            </a:solidFill>
            <a:prstDash val="solid"/>
          </a:ln>
        </p:spPr>
      </p:sp>
      <p:sp>
        <p:nvSpPr>
          <p:cNvPr id="10" name="Text 7"/>
          <p:cNvSpPr txBox="1"/>
          <p:nvPr/>
        </p:nvSpPr>
        <p:spPr>
          <a:xfrm>
            <a:off x="4297680" y="21031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Shape 8"/>
          <p:cNvSpPr/>
          <p:nvPr/>
        </p:nvSpPr>
        <p:spPr>
          <a:xfrm>
            <a:off x="3383280" y="3017520"/>
            <a:ext cx="2560320" cy="2377440"/>
          </a:xfrm>
          <a:prstGeom prst="roundRect">
            <a:avLst>
              <a:gd name="adj" fmla="val 4615"/>
            </a:avLst>
          </a:prstGeom>
          <a:solidFill>
            <a:srgbClr val="EEF4F3"/>
          </a:solidFill>
          <a:ln w="12700">
            <a:solidFill>
              <a:srgbClr val="EEF4F3"/>
            </a:solidFill>
            <a:prstDash val="solid"/>
          </a:ln>
        </p:spPr>
      </p:sp>
      <p:sp>
        <p:nvSpPr>
          <p:cNvPr id="12" name="Text 9"/>
          <p:cNvSpPr txBox="1"/>
          <p:nvPr/>
        </p:nvSpPr>
        <p:spPr>
          <a:xfrm>
            <a:off x="3566160" y="3154680"/>
            <a:ext cx="2194560" cy="2103120"/>
          </a:xfrm>
          <a:prstGeom prst="rect">
            <a:avLst/>
          </a:prstGeom>
          <a:noFill/>
          <a:ln/>
        </p:spPr>
        <p:txBody>
          <a:bodyPr wrap="square" lIns="0" tIns="0" rIns="0" bIns="0" rtlCol="0" anchor="t"/>
          <a:lstStyle/>
          <a:p>
            <a:pPr indent="0" marL="0">
              <a:spcAft>
                <a:spcPts val="600"/>
              </a:spcAft>
              <a:buNone/>
            </a:pPr>
            <a:r>
              <a:rPr lang="en-US" sz="1800" b="1" dirty="0">
                <a:solidFill>
                  <a:srgbClr val="C47F1A"/>
                </a:solidFill>
              </a:rPr>
              <a:t>確かめる</a:t>
            </a:r>
            <a:endParaRPr lang="en-US" sz="1800" dirty="0"/>
          </a:p>
          <a:p>
            <a:pPr indent="0" marL="0">
              <a:spcAft>
                <a:spcPts val="600"/>
              </a:spcAft>
              <a:buNone/>
            </a:pPr>
            <a:r>
              <a:rPr lang="en-US" sz="1400" dirty="0">
                <a:solidFill>
                  <a:srgbClr val="1B1F2A"/>
                </a:solidFill>
              </a:rPr>
              <a:t>Jest と Testing Library で</a:t>
            </a:r>
            <a:endParaRPr lang="en-US" sz="1800" dirty="0"/>
          </a:p>
          <a:p>
            <a:pPr indent="0" marL="0">
              <a:spcAft>
                <a:spcPts val="600"/>
              </a:spcAft>
              <a:buNone/>
            </a:pPr>
            <a:r>
              <a:rPr lang="en-US" sz="1400" dirty="0">
                <a:solidFill>
                  <a:srgbClr val="1B1F2A"/>
                </a:solidFill>
              </a:rPr>
              <a:t>自動テストを書ける</a:t>
            </a:r>
            <a:endParaRPr lang="en-US" sz="1800" dirty="0"/>
          </a:p>
        </p:txBody>
      </p:sp>
      <p:sp>
        <p:nvSpPr>
          <p:cNvPr id="13" name="Shape 10"/>
          <p:cNvSpPr/>
          <p:nvPr/>
        </p:nvSpPr>
        <p:spPr>
          <a:xfrm>
            <a:off x="7132320" y="2103120"/>
            <a:ext cx="731520" cy="731520"/>
          </a:xfrm>
          <a:prstGeom prst="ellipse">
            <a:avLst/>
          </a:prstGeom>
          <a:solidFill>
            <a:srgbClr val="6A4BE0"/>
          </a:solidFill>
          <a:ln w="12700">
            <a:solidFill>
              <a:srgbClr val="6A4BE0"/>
            </a:solidFill>
            <a:prstDash val="solid"/>
          </a:ln>
        </p:spPr>
      </p:sp>
      <p:sp>
        <p:nvSpPr>
          <p:cNvPr id="14" name="Text 11"/>
          <p:cNvSpPr txBox="1"/>
          <p:nvPr/>
        </p:nvSpPr>
        <p:spPr>
          <a:xfrm>
            <a:off x="7132320" y="21031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Shape 12"/>
          <p:cNvSpPr/>
          <p:nvPr/>
        </p:nvSpPr>
        <p:spPr>
          <a:xfrm>
            <a:off x="6217920" y="3017520"/>
            <a:ext cx="2560320" cy="2377440"/>
          </a:xfrm>
          <a:prstGeom prst="roundRect">
            <a:avLst>
              <a:gd name="adj" fmla="val 4615"/>
            </a:avLst>
          </a:prstGeom>
          <a:solidFill>
            <a:srgbClr val="EEF4F3"/>
          </a:solidFill>
          <a:ln w="12700">
            <a:solidFill>
              <a:srgbClr val="EEF4F3"/>
            </a:solidFill>
            <a:prstDash val="solid"/>
          </a:ln>
        </p:spPr>
      </p:sp>
      <p:sp>
        <p:nvSpPr>
          <p:cNvPr id="16" name="Text 13"/>
          <p:cNvSpPr txBox="1"/>
          <p:nvPr/>
        </p:nvSpPr>
        <p:spPr>
          <a:xfrm>
            <a:off x="6400800" y="3154680"/>
            <a:ext cx="2194560" cy="2103120"/>
          </a:xfrm>
          <a:prstGeom prst="rect">
            <a:avLst/>
          </a:prstGeom>
          <a:noFill/>
          <a:ln/>
        </p:spPr>
        <p:txBody>
          <a:bodyPr wrap="square" lIns="0" tIns="0" rIns="0" bIns="0" rtlCol="0" anchor="t"/>
          <a:lstStyle/>
          <a:p>
            <a:pPr indent="0" marL="0">
              <a:spcAft>
                <a:spcPts val="600"/>
              </a:spcAft>
              <a:buNone/>
            </a:pPr>
            <a:r>
              <a:rPr lang="en-US" sz="1800" b="1" dirty="0">
                <a:solidFill>
                  <a:srgbClr val="6A4BE0"/>
                </a:solidFill>
              </a:rPr>
              <a:t>自動化する</a:t>
            </a:r>
            <a:endParaRPr lang="en-US" sz="1800" dirty="0"/>
          </a:p>
          <a:p>
            <a:pPr indent="0" marL="0">
              <a:spcAft>
                <a:spcPts val="600"/>
              </a:spcAft>
              <a:buNone/>
            </a:pPr>
            <a:r>
              <a:rPr lang="en-US" sz="1400" dirty="0">
                <a:solidFill>
                  <a:srgbClr val="1B1F2A"/>
                </a:solidFill>
              </a:rPr>
              <a:t>GitHub Actions で</a:t>
            </a:r>
            <a:endParaRPr lang="en-US" sz="1800" dirty="0"/>
          </a:p>
          <a:p>
            <a:pPr indent="0" marL="0">
              <a:spcAft>
                <a:spcPts val="600"/>
              </a:spcAft>
              <a:buNone/>
            </a:pPr>
            <a:r>
              <a:rPr lang="en-US" sz="1400" dirty="0">
                <a:solidFill>
                  <a:srgbClr val="1B1F2A"/>
                </a:solidFill>
              </a:rPr>
              <a:t>lint・test・build を</a:t>
            </a:r>
            <a:endParaRPr lang="en-US" sz="1800" dirty="0"/>
          </a:p>
          <a:p>
            <a:pPr indent="0" marL="0">
              <a:spcAft>
                <a:spcPts val="600"/>
              </a:spcAft>
              <a:buNone/>
            </a:pPr>
            <a:r>
              <a:rPr lang="en-US" sz="1400" dirty="0">
                <a:solidFill>
                  <a:srgbClr val="1B1F2A"/>
                </a:solidFill>
              </a:rPr>
              <a:t>自動で回せる</a:t>
            </a:r>
            <a:endParaRPr lang="en-US" sz="1800" dirty="0"/>
          </a:p>
        </p:txBody>
      </p:sp>
      <p:sp>
        <p:nvSpPr>
          <p:cNvPr id="17" name="Shape 14"/>
          <p:cNvSpPr/>
          <p:nvPr/>
        </p:nvSpPr>
        <p:spPr>
          <a:xfrm>
            <a:off x="9966960" y="2103120"/>
            <a:ext cx="731520" cy="731520"/>
          </a:xfrm>
          <a:prstGeom prst="ellipse">
            <a:avLst/>
          </a:prstGeom>
          <a:solidFill>
            <a:srgbClr val="D4471F"/>
          </a:solidFill>
          <a:ln w="12700">
            <a:solidFill>
              <a:srgbClr val="D4471F"/>
            </a:solidFill>
            <a:prstDash val="solid"/>
          </a:ln>
        </p:spPr>
      </p:sp>
      <p:sp>
        <p:nvSpPr>
          <p:cNvPr id="18" name="Text 15"/>
          <p:cNvSpPr txBox="1"/>
          <p:nvPr/>
        </p:nvSpPr>
        <p:spPr>
          <a:xfrm>
            <a:off x="9966960" y="210312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9" name="Shape 16"/>
          <p:cNvSpPr/>
          <p:nvPr/>
        </p:nvSpPr>
        <p:spPr>
          <a:xfrm>
            <a:off x="9052560" y="3017520"/>
            <a:ext cx="2560320" cy="2377440"/>
          </a:xfrm>
          <a:prstGeom prst="roundRect">
            <a:avLst>
              <a:gd name="adj" fmla="val 4615"/>
            </a:avLst>
          </a:prstGeom>
          <a:solidFill>
            <a:srgbClr val="EEF4F3"/>
          </a:solidFill>
          <a:ln w="12700">
            <a:solidFill>
              <a:srgbClr val="EEF4F3"/>
            </a:solidFill>
            <a:prstDash val="solid"/>
          </a:ln>
        </p:spPr>
      </p:sp>
      <p:sp>
        <p:nvSpPr>
          <p:cNvPr id="20" name="Text 17"/>
          <p:cNvSpPr txBox="1"/>
          <p:nvPr/>
        </p:nvSpPr>
        <p:spPr>
          <a:xfrm>
            <a:off x="9235440" y="3154680"/>
            <a:ext cx="2194560" cy="210312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届ける</a:t>
            </a:r>
            <a:endParaRPr lang="en-US" sz="1800" dirty="0"/>
          </a:p>
          <a:p>
            <a:pPr indent="0" marL="0">
              <a:spcAft>
                <a:spcPts val="600"/>
              </a:spcAft>
              <a:buNone/>
            </a:pPr>
            <a:r>
              <a:rPr lang="en-US" sz="1400" dirty="0">
                <a:solidFill>
                  <a:srgbClr val="1B1F2A"/>
                </a:solidFill>
              </a:rPr>
              <a:t>Vercel / GitHub Pages に</a:t>
            </a:r>
            <a:endParaRPr lang="en-US" sz="1800" dirty="0"/>
          </a:p>
          <a:p>
            <a:pPr indent="0" marL="0">
              <a:spcAft>
                <a:spcPts val="600"/>
              </a:spcAft>
              <a:buNone/>
            </a:pPr>
            <a:r>
              <a:rPr lang="en-US" sz="1400" dirty="0">
                <a:solidFill>
                  <a:srgbClr val="1B1F2A"/>
                </a:solidFill>
              </a:rPr>
              <a:t>自動で公開できる</a:t>
            </a:r>
            <a:endParaRPr lang="en-US" sz="1800" dirty="0"/>
          </a:p>
        </p:txBody>
      </p:sp>
      <p:sp>
        <p:nvSpPr>
          <p:cNvPr id="21" name="Text 18"/>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600" dirty="0">
                <a:solidFill>
                  <a:srgbClr val="1B1F2A"/>
                </a:solidFill>
              </a:rPr>
              <a:t>push するだけで「テストに通ったものだけ」が公開される仕組みを、自分の手で作ります</a:t>
            </a:r>
            <a:endParaRPr lang="en-US" sz="16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CI/CD ってなに？</a:t>
            </a:r>
            <a:endParaRPr lang="en-US" sz="3000" dirty="0"/>
          </a:p>
        </p:txBody>
      </p:sp>
      <p:sp>
        <p:nvSpPr>
          <p:cNvPr id="4" name="Shape 1"/>
          <p:cNvSpPr/>
          <p:nvPr/>
        </p:nvSpPr>
        <p:spPr>
          <a:xfrm>
            <a:off x="548640" y="1463040"/>
            <a:ext cx="1920240" cy="1371600"/>
          </a:xfrm>
          <a:prstGeom prst="roundRect">
            <a:avLst>
              <a:gd name="adj" fmla="val 8000"/>
            </a:avLst>
          </a:prstGeom>
          <a:solidFill>
            <a:srgbClr val="EEF4F3"/>
          </a:solidFill>
          <a:ln w="12700">
            <a:solidFill>
              <a:srgbClr val="14919B"/>
            </a:solidFill>
            <a:prstDash val="solid"/>
          </a:ln>
        </p:spPr>
      </p:sp>
      <p:sp>
        <p:nvSpPr>
          <p:cNvPr id="5" name="Text 2"/>
          <p:cNvSpPr txBox="1"/>
          <p:nvPr/>
        </p:nvSpPr>
        <p:spPr>
          <a:xfrm>
            <a:off x="548640" y="1463040"/>
            <a:ext cx="1920240" cy="1371600"/>
          </a:xfrm>
          <a:prstGeom prst="rect">
            <a:avLst/>
          </a:prstGeom>
          <a:noFill/>
          <a:ln/>
        </p:spPr>
        <p:txBody>
          <a:bodyPr wrap="square" rtlCol="0" anchor="ctr"/>
          <a:lstStyle/>
          <a:p>
            <a:pPr algn="ctr" indent="0" marL="0">
              <a:buNone/>
            </a:pPr>
            <a:r>
              <a:rPr lang="en-US" sz="1700" b="1" dirty="0">
                <a:solidFill>
                  <a:srgbClr val="0F3D3E"/>
                </a:solidFill>
              </a:rPr>
              <a:t>コードを書く</a:t>
            </a:r>
            <a:endParaRPr lang="en-US" sz="1700" dirty="0"/>
          </a:p>
          <a:p>
            <a:pPr algn="ctr" indent="0" marL="0">
              <a:buNone/>
            </a:pPr>
            <a:r>
              <a:rPr lang="en-US" sz="1300" dirty="0">
                <a:solidFill>
                  <a:srgbClr val="0F3D3E"/>
                </a:solidFill>
              </a:rPr>
              <a:t>VS Code</a:t>
            </a:r>
            <a:endParaRPr lang="en-US" sz="1700" dirty="0"/>
          </a:p>
        </p:txBody>
      </p:sp>
      <p:sp>
        <p:nvSpPr>
          <p:cNvPr id="6" name="Shape 3"/>
          <p:cNvSpPr/>
          <p:nvPr/>
        </p:nvSpPr>
        <p:spPr>
          <a:xfrm>
            <a:off x="2514600" y="1965960"/>
            <a:ext cx="274320" cy="365760"/>
          </a:xfrm>
          <a:prstGeom prst="rightArrow">
            <a:avLst/>
          </a:prstGeom>
          <a:solidFill>
            <a:srgbClr val="F2A541"/>
          </a:solidFill>
          <a:ln w="12700">
            <a:solidFill>
              <a:srgbClr val="F2A541"/>
            </a:solidFill>
            <a:prstDash val="solid"/>
          </a:ln>
        </p:spPr>
      </p:sp>
      <p:sp>
        <p:nvSpPr>
          <p:cNvPr id="7" name="Shape 4"/>
          <p:cNvSpPr/>
          <p:nvPr/>
        </p:nvSpPr>
        <p:spPr>
          <a:xfrm>
            <a:off x="2834640" y="1463040"/>
            <a:ext cx="1920240" cy="1371600"/>
          </a:xfrm>
          <a:prstGeom prst="roundRect">
            <a:avLst>
              <a:gd name="adj" fmla="val 8000"/>
            </a:avLst>
          </a:prstGeom>
          <a:solidFill>
            <a:srgbClr val="EEF4F3"/>
          </a:solidFill>
          <a:ln w="12700">
            <a:solidFill>
              <a:srgbClr val="14919B"/>
            </a:solidFill>
            <a:prstDash val="solid"/>
          </a:ln>
        </p:spPr>
      </p:sp>
      <p:sp>
        <p:nvSpPr>
          <p:cNvPr id="8" name="Text 5"/>
          <p:cNvSpPr txBox="1"/>
          <p:nvPr/>
        </p:nvSpPr>
        <p:spPr>
          <a:xfrm>
            <a:off x="2834640" y="1463040"/>
            <a:ext cx="1920240" cy="1371600"/>
          </a:xfrm>
          <a:prstGeom prst="rect">
            <a:avLst/>
          </a:prstGeom>
          <a:noFill/>
          <a:ln/>
        </p:spPr>
        <p:txBody>
          <a:bodyPr wrap="square" rtlCol="0" anchor="ctr"/>
          <a:lstStyle/>
          <a:p>
            <a:pPr algn="ctr" indent="0" marL="0">
              <a:buNone/>
            </a:pPr>
            <a:r>
              <a:rPr lang="en-US" sz="1700" b="1" dirty="0">
                <a:solidFill>
                  <a:srgbClr val="0F3D3E"/>
                </a:solidFill>
              </a:rPr>
              <a:t>push / PR</a:t>
            </a:r>
            <a:endParaRPr lang="en-US" sz="1700" dirty="0"/>
          </a:p>
          <a:p>
            <a:pPr algn="ctr" indent="0" marL="0">
              <a:buNone/>
            </a:pPr>
            <a:r>
              <a:rPr lang="en-US" sz="1300" dirty="0">
                <a:solidFill>
                  <a:srgbClr val="0F3D3E"/>
                </a:solidFill>
              </a:rPr>
              <a:t>GitHub</a:t>
            </a:r>
            <a:endParaRPr lang="en-US" sz="1700" dirty="0"/>
          </a:p>
        </p:txBody>
      </p:sp>
      <p:sp>
        <p:nvSpPr>
          <p:cNvPr id="9" name="Shape 6"/>
          <p:cNvSpPr/>
          <p:nvPr/>
        </p:nvSpPr>
        <p:spPr>
          <a:xfrm>
            <a:off x="4800600" y="1965960"/>
            <a:ext cx="274320" cy="365760"/>
          </a:xfrm>
          <a:prstGeom prst="rightArrow">
            <a:avLst/>
          </a:prstGeom>
          <a:solidFill>
            <a:srgbClr val="F2A541"/>
          </a:solidFill>
          <a:ln w="12700">
            <a:solidFill>
              <a:srgbClr val="F2A541"/>
            </a:solidFill>
            <a:prstDash val="solid"/>
          </a:ln>
        </p:spPr>
      </p:sp>
      <p:sp>
        <p:nvSpPr>
          <p:cNvPr id="10" name="Shape 7"/>
          <p:cNvSpPr/>
          <p:nvPr/>
        </p:nvSpPr>
        <p:spPr>
          <a:xfrm>
            <a:off x="5120640" y="1463040"/>
            <a:ext cx="1920240" cy="1371600"/>
          </a:xfrm>
          <a:prstGeom prst="roundRect">
            <a:avLst>
              <a:gd name="adj" fmla="val 8000"/>
            </a:avLst>
          </a:prstGeom>
          <a:solidFill>
            <a:srgbClr val="14919B"/>
          </a:solidFill>
          <a:ln w="12700">
            <a:solidFill>
              <a:srgbClr val="14919B"/>
            </a:solidFill>
            <a:prstDash val="solid"/>
          </a:ln>
        </p:spPr>
      </p:sp>
      <p:sp>
        <p:nvSpPr>
          <p:cNvPr id="11" name="Text 8"/>
          <p:cNvSpPr txBox="1"/>
          <p:nvPr/>
        </p:nvSpPr>
        <p:spPr>
          <a:xfrm>
            <a:off x="5120640" y="1463040"/>
            <a:ext cx="1920240" cy="1371600"/>
          </a:xfrm>
          <a:prstGeom prst="rect">
            <a:avLst/>
          </a:prstGeom>
          <a:noFill/>
          <a:ln/>
        </p:spPr>
        <p:txBody>
          <a:bodyPr wrap="square" rtlCol="0" anchor="ctr"/>
          <a:lstStyle/>
          <a:p>
            <a:pPr algn="ctr" indent="0" marL="0">
              <a:buNone/>
            </a:pPr>
            <a:r>
              <a:rPr lang="en-US" sz="1700" b="1" dirty="0">
                <a:solidFill>
                  <a:srgbClr val="FFFFFF"/>
                </a:solidFill>
              </a:rPr>
              <a:t>自動チェック</a:t>
            </a:r>
            <a:endParaRPr lang="en-US" sz="1700" dirty="0"/>
          </a:p>
          <a:p>
            <a:pPr algn="ctr" indent="0" marL="0">
              <a:buNone/>
            </a:pPr>
            <a:r>
              <a:rPr lang="en-US" sz="1300" dirty="0">
                <a:solidFill>
                  <a:srgbClr val="FFFFFF"/>
                </a:solidFill>
              </a:rPr>
              <a:t>lint・test・build</a:t>
            </a:r>
            <a:endParaRPr lang="en-US" sz="1700" dirty="0"/>
          </a:p>
        </p:txBody>
      </p:sp>
      <p:sp>
        <p:nvSpPr>
          <p:cNvPr id="12" name="Shape 9"/>
          <p:cNvSpPr/>
          <p:nvPr/>
        </p:nvSpPr>
        <p:spPr>
          <a:xfrm>
            <a:off x="7086600" y="1965960"/>
            <a:ext cx="274320" cy="365760"/>
          </a:xfrm>
          <a:prstGeom prst="rightArrow">
            <a:avLst/>
          </a:prstGeom>
          <a:solidFill>
            <a:srgbClr val="F2A541"/>
          </a:solidFill>
          <a:ln w="12700">
            <a:solidFill>
              <a:srgbClr val="F2A541"/>
            </a:solidFill>
            <a:prstDash val="solid"/>
          </a:ln>
        </p:spPr>
      </p:sp>
      <p:sp>
        <p:nvSpPr>
          <p:cNvPr id="13" name="Shape 10"/>
          <p:cNvSpPr/>
          <p:nvPr/>
        </p:nvSpPr>
        <p:spPr>
          <a:xfrm>
            <a:off x="7406640" y="1463040"/>
            <a:ext cx="1920240" cy="1371600"/>
          </a:xfrm>
          <a:prstGeom prst="roundRect">
            <a:avLst>
              <a:gd name="adj" fmla="val 8000"/>
            </a:avLst>
          </a:prstGeom>
          <a:solidFill>
            <a:srgbClr val="EEF4F3"/>
          </a:solidFill>
          <a:ln w="12700">
            <a:solidFill>
              <a:srgbClr val="14919B"/>
            </a:solidFill>
            <a:prstDash val="solid"/>
          </a:ln>
        </p:spPr>
      </p:sp>
      <p:sp>
        <p:nvSpPr>
          <p:cNvPr id="14" name="Text 11"/>
          <p:cNvSpPr txBox="1"/>
          <p:nvPr/>
        </p:nvSpPr>
        <p:spPr>
          <a:xfrm>
            <a:off x="7406640" y="1463040"/>
            <a:ext cx="1920240" cy="1371600"/>
          </a:xfrm>
          <a:prstGeom prst="rect">
            <a:avLst/>
          </a:prstGeom>
          <a:noFill/>
          <a:ln/>
        </p:spPr>
        <p:txBody>
          <a:bodyPr wrap="square" rtlCol="0" anchor="ctr"/>
          <a:lstStyle/>
          <a:p>
            <a:pPr algn="ctr" indent="0" marL="0">
              <a:buNone/>
            </a:pPr>
            <a:r>
              <a:rPr lang="en-US" sz="1700" b="1" dirty="0">
                <a:solidFill>
                  <a:srgbClr val="0F3D3E"/>
                </a:solidFill>
              </a:rPr>
              <a:t>自動で公開</a:t>
            </a:r>
            <a:endParaRPr lang="en-US" sz="1700" dirty="0"/>
          </a:p>
          <a:p>
            <a:pPr algn="ctr" indent="0" marL="0">
              <a:buNone/>
            </a:pPr>
            <a:r>
              <a:rPr lang="en-US" sz="1300" dirty="0">
                <a:solidFill>
                  <a:srgbClr val="0F3D3E"/>
                </a:solidFill>
              </a:rPr>
              <a:t>Vercel / Pages</a:t>
            </a:r>
            <a:endParaRPr lang="en-US" sz="1700" dirty="0"/>
          </a:p>
        </p:txBody>
      </p:sp>
      <p:sp>
        <p:nvSpPr>
          <p:cNvPr id="15" name="Shape 12"/>
          <p:cNvSpPr/>
          <p:nvPr/>
        </p:nvSpPr>
        <p:spPr>
          <a:xfrm>
            <a:off x="9372600" y="1965960"/>
            <a:ext cx="274320" cy="365760"/>
          </a:xfrm>
          <a:prstGeom prst="rightArrow">
            <a:avLst/>
          </a:prstGeom>
          <a:solidFill>
            <a:srgbClr val="F2A541"/>
          </a:solidFill>
          <a:ln w="12700">
            <a:solidFill>
              <a:srgbClr val="F2A541"/>
            </a:solidFill>
            <a:prstDash val="solid"/>
          </a:ln>
        </p:spPr>
      </p:sp>
      <p:sp>
        <p:nvSpPr>
          <p:cNvPr id="16" name="Shape 13"/>
          <p:cNvSpPr/>
          <p:nvPr/>
        </p:nvSpPr>
        <p:spPr>
          <a:xfrm>
            <a:off x="9692640" y="1463040"/>
            <a:ext cx="1920240" cy="1371600"/>
          </a:xfrm>
          <a:prstGeom prst="roundRect">
            <a:avLst>
              <a:gd name="adj" fmla="val 8000"/>
            </a:avLst>
          </a:prstGeom>
          <a:solidFill>
            <a:srgbClr val="EEF4F3"/>
          </a:solidFill>
          <a:ln w="12700">
            <a:solidFill>
              <a:srgbClr val="14919B"/>
            </a:solidFill>
            <a:prstDash val="solid"/>
          </a:ln>
        </p:spPr>
      </p:sp>
      <p:sp>
        <p:nvSpPr>
          <p:cNvPr id="17" name="Text 14"/>
          <p:cNvSpPr txBox="1"/>
          <p:nvPr/>
        </p:nvSpPr>
        <p:spPr>
          <a:xfrm>
            <a:off x="9692640" y="1463040"/>
            <a:ext cx="1920240" cy="1371600"/>
          </a:xfrm>
          <a:prstGeom prst="rect">
            <a:avLst/>
          </a:prstGeom>
          <a:noFill/>
          <a:ln/>
        </p:spPr>
        <p:txBody>
          <a:bodyPr wrap="square" rtlCol="0" anchor="ctr"/>
          <a:lstStyle/>
          <a:p>
            <a:pPr algn="ctr" indent="0" marL="0">
              <a:buNone/>
            </a:pPr>
            <a:r>
              <a:rPr lang="en-US" sz="1700" b="1" dirty="0">
                <a:solidFill>
                  <a:srgbClr val="0F3D3E"/>
                </a:solidFill>
              </a:rPr>
              <a:t>公開 URL</a:t>
            </a:r>
            <a:endParaRPr lang="en-US" sz="1700" dirty="0"/>
          </a:p>
          <a:p>
            <a:pPr algn="ctr" indent="0" marL="0">
              <a:buNone/>
            </a:pPr>
            <a:r>
              <a:rPr lang="en-US" sz="1300" dirty="0">
                <a:solidFill>
                  <a:srgbClr val="0F3D3E"/>
                </a:solidFill>
              </a:rPr>
              <a:t>誰でも見られる</a:t>
            </a:r>
            <a:endParaRPr lang="en-US" sz="1700" dirty="0"/>
          </a:p>
        </p:txBody>
      </p:sp>
      <p:sp>
        <p:nvSpPr>
          <p:cNvPr id="18" name="Shape 15"/>
          <p:cNvSpPr/>
          <p:nvPr/>
        </p:nvSpPr>
        <p:spPr>
          <a:xfrm>
            <a:off x="548640" y="3291840"/>
            <a:ext cx="5394960" cy="2743200"/>
          </a:xfrm>
          <a:prstGeom prst="roundRect">
            <a:avLst>
              <a:gd name="adj" fmla="val 4000"/>
            </a:avLst>
          </a:prstGeom>
          <a:solidFill>
            <a:srgbClr val="FBEDE8"/>
          </a:solidFill>
          <a:ln w="12700">
            <a:solidFill>
              <a:srgbClr val="FBEDE8"/>
            </a:solidFill>
            <a:prstDash val="solid"/>
          </a:ln>
        </p:spPr>
      </p:sp>
      <p:sp>
        <p:nvSpPr>
          <p:cNvPr id="19" name="Text 16"/>
          <p:cNvSpPr txBox="1"/>
          <p:nvPr/>
        </p:nvSpPr>
        <p:spPr>
          <a:xfrm>
            <a:off x="731520" y="3429000"/>
            <a:ext cx="5029200" cy="246888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手作業だと…</a:t>
            </a:r>
            <a:endParaRPr lang="en-US" sz="1800" dirty="0"/>
          </a:p>
          <a:p>
            <a:pPr indent="0" marL="0">
              <a:spcAft>
                <a:spcPts val="600"/>
              </a:spcAft>
              <a:buNone/>
            </a:pPr>
            <a:r>
              <a:rPr lang="en-US" sz="1400" dirty="0">
                <a:solidFill>
                  <a:srgbClr val="1B1F2A"/>
                </a:solidFill>
              </a:rPr>
              <a:t>・テストを忘れたまま main に入れてしまう</a:t>
            </a:r>
            <a:endParaRPr lang="en-US" sz="1800" dirty="0"/>
          </a:p>
          <a:p>
            <a:pPr indent="0" marL="0">
              <a:spcAft>
                <a:spcPts val="600"/>
              </a:spcAft>
              <a:buNone/>
            </a:pPr>
            <a:r>
              <a:rPr lang="en-US" sz="1400" dirty="0">
                <a:solidFill>
                  <a:srgbClr val="1B1F2A"/>
                </a:solidFill>
              </a:rPr>
              <a:t>・人によって確認の手順がバラバラ</a:t>
            </a:r>
            <a:endParaRPr lang="en-US" sz="1800" dirty="0"/>
          </a:p>
          <a:p>
            <a:pPr indent="0" marL="0">
              <a:spcAft>
                <a:spcPts val="600"/>
              </a:spcAft>
              <a:buNone/>
            </a:pPr>
            <a:r>
              <a:rPr lang="en-US" sz="1400" dirty="0">
                <a:solidFill>
                  <a:srgbClr val="1B1F2A"/>
                </a:solidFill>
              </a:rPr>
              <a:t>・公開のたびに手でコピーして、ミスが起きる</a:t>
            </a:r>
            <a:endParaRPr lang="en-US" sz="1800" dirty="0"/>
          </a:p>
          <a:p>
            <a:pPr indent="0" marL="0">
              <a:spcAft>
                <a:spcPts val="600"/>
              </a:spcAft>
              <a:buNone/>
            </a:pPr>
            <a:r>
              <a:rPr lang="en-US" sz="1400" dirty="0">
                <a:solidFill>
                  <a:srgbClr val="1B1F2A"/>
                </a:solidFill>
              </a:rPr>
              <a:t>・「自分の PC では動いたのに…」</a:t>
            </a:r>
            <a:endParaRPr lang="en-US" sz="1800" dirty="0"/>
          </a:p>
        </p:txBody>
      </p:sp>
      <p:sp>
        <p:nvSpPr>
          <p:cNvPr id="20" name="Shape 17"/>
          <p:cNvSpPr/>
          <p:nvPr/>
        </p:nvSpPr>
        <p:spPr>
          <a:xfrm>
            <a:off x="6217920" y="3291840"/>
            <a:ext cx="5394960" cy="2743200"/>
          </a:xfrm>
          <a:prstGeom prst="roundRect">
            <a:avLst>
              <a:gd name="adj" fmla="val 4000"/>
            </a:avLst>
          </a:prstGeom>
          <a:solidFill>
            <a:srgbClr val="EEF4F3"/>
          </a:solidFill>
          <a:ln w="12700">
            <a:solidFill>
              <a:srgbClr val="EEF4F3"/>
            </a:solidFill>
            <a:prstDash val="solid"/>
          </a:ln>
        </p:spPr>
      </p:sp>
      <p:sp>
        <p:nvSpPr>
          <p:cNvPr id="21" name="Text 18"/>
          <p:cNvSpPr txBox="1"/>
          <p:nvPr/>
        </p:nvSpPr>
        <p:spPr>
          <a:xfrm>
            <a:off x="6400800" y="3429000"/>
            <a:ext cx="5029200" cy="246888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CI/CD があると</a:t>
            </a:r>
            <a:endParaRPr lang="en-US" sz="1800" dirty="0"/>
          </a:p>
          <a:p>
            <a:pPr indent="0" marL="0">
              <a:spcAft>
                <a:spcPts val="600"/>
              </a:spcAft>
              <a:buNone/>
            </a:pPr>
            <a:r>
              <a:rPr lang="en-US" sz="1400" dirty="0">
                <a:solidFill>
                  <a:srgbClr val="1B1F2A"/>
                </a:solidFill>
              </a:rPr>
              <a:t>・push のたびに同じ手順で自動チェック</a:t>
            </a:r>
            <a:endParaRPr lang="en-US" sz="1800" dirty="0"/>
          </a:p>
          <a:p>
            <a:pPr indent="0" marL="0">
              <a:spcAft>
                <a:spcPts val="600"/>
              </a:spcAft>
              <a:buNone/>
            </a:pPr>
            <a:r>
              <a:rPr lang="en-US" sz="1400" dirty="0">
                <a:solidFill>
                  <a:srgbClr val="1B1F2A"/>
                </a:solidFill>
              </a:rPr>
              <a:t>・失敗したら PR をマージできない</a:t>
            </a:r>
            <a:endParaRPr lang="en-US" sz="1800" dirty="0"/>
          </a:p>
          <a:p>
            <a:pPr indent="0" marL="0">
              <a:spcAft>
                <a:spcPts val="600"/>
              </a:spcAft>
              <a:buNone/>
            </a:pPr>
            <a:r>
              <a:rPr lang="en-US" sz="1400" dirty="0">
                <a:solidFill>
                  <a:srgbClr val="1B1F2A"/>
                </a:solidFill>
              </a:rPr>
              <a:t>・通ったものだけが自動で公開される</a:t>
            </a:r>
            <a:endParaRPr lang="en-US" sz="1800" dirty="0"/>
          </a:p>
          <a:p>
            <a:pPr indent="0" marL="0">
              <a:spcAft>
                <a:spcPts val="600"/>
              </a:spcAft>
              <a:buNone/>
            </a:pPr>
            <a:r>
              <a:rPr lang="en-US" sz="1400" dirty="0">
                <a:solidFill>
                  <a:srgbClr val="1B1F2A"/>
                </a:solidFill>
              </a:rPr>
              <a:t>・誰がやっても同じ結果になる</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CI/CD を英語から分解してみよう</a:t>
            </a:r>
            <a:endParaRPr lang="en-US" sz="3000" dirty="0"/>
          </a:p>
        </p:txBody>
      </p:sp>
      <p:sp>
        <p:nvSpPr>
          <p:cNvPr id="4" name="Shape 1"/>
          <p:cNvSpPr/>
          <p:nvPr/>
        </p:nvSpPr>
        <p:spPr>
          <a:xfrm>
            <a:off x="548640" y="1600200"/>
            <a:ext cx="1463040" cy="1463040"/>
          </a:xfrm>
          <a:prstGeom prst="ellipse">
            <a:avLst/>
          </a:prstGeom>
          <a:solidFill>
            <a:srgbClr val="14919B"/>
          </a:solidFill>
          <a:ln w="12700">
            <a:solidFill>
              <a:srgbClr val="14919B"/>
            </a:solidFill>
            <a:prstDash val="solid"/>
          </a:ln>
        </p:spPr>
      </p:sp>
      <p:sp>
        <p:nvSpPr>
          <p:cNvPr id="5" name="Text 2"/>
          <p:cNvSpPr txBox="1"/>
          <p:nvPr/>
        </p:nvSpPr>
        <p:spPr>
          <a:xfrm>
            <a:off x="548640" y="1600200"/>
            <a:ext cx="1463040" cy="1463040"/>
          </a:xfrm>
          <a:prstGeom prst="rect">
            <a:avLst/>
          </a:prstGeom>
          <a:noFill/>
          <a:ln/>
        </p:spPr>
        <p:txBody>
          <a:bodyPr wrap="square" lIns="0" tIns="0" rIns="0" bIns="0" rtlCol="0" anchor="ctr"/>
          <a:lstStyle/>
          <a:p>
            <a:pPr algn="ctr" indent="0" marL="0">
              <a:buNone/>
            </a:pPr>
            <a:r>
              <a:rPr lang="en-US" sz="1800" b="1" dirty="0">
                <a:solidFill>
                  <a:srgbClr val="FFFFFF"/>
                </a:solidFill>
              </a:rPr>
              <a:t>CI</a:t>
            </a:r>
            <a:endParaRPr lang="en-US" sz="1800" dirty="0"/>
          </a:p>
        </p:txBody>
      </p:sp>
      <p:sp>
        <p:nvSpPr>
          <p:cNvPr id="6" name="Shape 3"/>
          <p:cNvSpPr/>
          <p:nvPr/>
        </p:nvSpPr>
        <p:spPr>
          <a:xfrm>
            <a:off x="548640" y="3977640"/>
            <a:ext cx="1463040" cy="1463040"/>
          </a:xfrm>
          <a:prstGeom prst="ellipse">
            <a:avLst/>
          </a:prstGeom>
          <a:solidFill>
            <a:srgbClr val="D4471F"/>
          </a:solidFill>
          <a:ln w="12700">
            <a:solidFill>
              <a:srgbClr val="D4471F"/>
            </a:solidFill>
            <a:prstDash val="solid"/>
          </a:ln>
        </p:spPr>
      </p:sp>
      <p:sp>
        <p:nvSpPr>
          <p:cNvPr id="7" name="Text 4"/>
          <p:cNvSpPr txBox="1"/>
          <p:nvPr/>
        </p:nvSpPr>
        <p:spPr>
          <a:xfrm>
            <a:off x="548640" y="3977640"/>
            <a:ext cx="1463040" cy="1463040"/>
          </a:xfrm>
          <a:prstGeom prst="rect">
            <a:avLst/>
          </a:prstGeom>
          <a:noFill/>
          <a:ln/>
        </p:spPr>
        <p:txBody>
          <a:bodyPr wrap="square" lIns="0" tIns="0" rIns="0" bIns="0" rtlCol="0" anchor="ctr"/>
          <a:lstStyle/>
          <a:p>
            <a:pPr algn="ctr" indent="0" marL="0">
              <a:buNone/>
            </a:pPr>
            <a:r>
              <a:rPr lang="en-US" sz="1800" b="1" dirty="0">
                <a:solidFill>
                  <a:srgbClr val="FFFFFF"/>
                </a:solidFill>
              </a:rPr>
              <a:t>CD</a:t>
            </a:r>
            <a:endParaRPr lang="en-US" sz="1800" dirty="0"/>
          </a:p>
        </p:txBody>
      </p:sp>
      <p:sp>
        <p:nvSpPr>
          <p:cNvPr id="8" name="Shape 5"/>
          <p:cNvSpPr/>
          <p:nvPr/>
        </p:nvSpPr>
        <p:spPr>
          <a:xfrm>
            <a:off x="2286000" y="1280160"/>
            <a:ext cx="4526280" cy="2194560"/>
          </a:xfrm>
          <a:prstGeom prst="roundRect">
            <a:avLst>
              <a:gd name="adj" fmla="val 5000"/>
            </a:avLst>
          </a:prstGeom>
          <a:solidFill>
            <a:srgbClr val="EEF4F3"/>
          </a:solidFill>
          <a:ln w="12700">
            <a:solidFill>
              <a:srgbClr val="EEF4F3"/>
            </a:solidFill>
            <a:prstDash val="solid"/>
          </a:ln>
        </p:spPr>
      </p:sp>
      <p:sp>
        <p:nvSpPr>
          <p:cNvPr id="9" name="Text 6"/>
          <p:cNvSpPr txBox="1"/>
          <p:nvPr/>
        </p:nvSpPr>
        <p:spPr>
          <a:xfrm>
            <a:off x="2468880" y="1417320"/>
            <a:ext cx="4160520" cy="192024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Continuous（コンティニュアス）</a:t>
            </a:r>
            <a:endParaRPr lang="en-US" sz="1800" dirty="0"/>
          </a:p>
          <a:p>
            <a:pPr indent="0" marL="0">
              <a:spcAft>
                <a:spcPts val="600"/>
              </a:spcAft>
              <a:buNone/>
            </a:pPr>
            <a:r>
              <a:rPr lang="en-US" sz="1400" dirty="0">
                <a:solidFill>
                  <a:srgbClr val="1B1F2A"/>
                </a:solidFill>
              </a:rPr>
              <a:t>「継続的な・途切れない」。思い出したときにたまにやるのではなく、変更のたびに毎回やる、という意味</a:t>
            </a:r>
            <a:endParaRPr lang="en-US" sz="1800" dirty="0"/>
          </a:p>
        </p:txBody>
      </p:sp>
      <p:sp>
        <p:nvSpPr>
          <p:cNvPr id="10" name="Shape 7"/>
          <p:cNvSpPr/>
          <p:nvPr/>
        </p:nvSpPr>
        <p:spPr>
          <a:xfrm>
            <a:off x="7086600" y="1280160"/>
            <a:ext cx="4526280" cy="2194560"/>
          </a:xfrm>
          <a:prstGeom prst="roundRect">
            <a:avLst>
              <a:gd name="adj" fmla="val 5000"/>
            </a:avLst>
          </a:prstGeom>
          <a:solidFill>
            <a:srgbClr val="EEF4F3"/>
          </a:solidFill>
          <a:ln w="12700">
            <a:solidFill>
              <a:srgbClr val="EEF4F3"/>
            </a:solidFill>
            <a:prstDash val="solid"/>
          </a:ln>
        </p:spPr>
      </p:sp>
      <p:sp>
        <p:nvSpPr>
          <p:cNvPr id="11" name="Text 8"/>
          <p:cNvSpPr txBox="1"/>
          <p:nvPr/>
        </p:nvSpPr>
        <p:spPr>
          <a:xfrm>
            <a:off x="7269480" y="1417320"/>
            <a:ext cx="4160520" cy="192024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Integration（インテグレーション）</a:t>
            </a:r>
            <a:endParaRPr lang="en-US" sz="1800" dirty="0"/>
          </a:p>
          <a:p>
            <a:pPr indent="0" marL="0">
              <a:spcAft>
                <a:spcPts val="600"/>
              </a:spcAft>
              <a:buNone/>
            </a:pPr>
            <a:r>
              <a:rPr lang="en-US" sz="1400" dirty="0">
                <a:solidFill>
                  <a:srgbClr val="1B1F2A"/>
                </a:solidFill>
              </a:rPr>
              <a:t>「統合」。ラテン語 integer（ひとかたまりの・完全な）が語源。みんなの変更をこまめに main に合流させ、壊れていないか確かめる</a:t>
            </a:r>
            <a:endParaRPr lang="en-US" sz="1800" dirty="0"/>
          </a:p>
        </p:txBody>
      </p:sp>
      <p:sp>
        <p:nvSpPr>
          <p:cNvPr id="12" name="Shape 9"/>
          <p:cNvSpPr/>
          <p:nvPr/>
        </p:nvSpPr>
        <p:spPr>
          <a:xfrm>
            <a:off x="2286000" y="3657600"/>
            <a:ext cx="4526280" cy="2194560"/>
          </a:xfrm>
          <a:prstGeom prst="roundRect">
            <a:avLst>
              <a:gd name="adj" fmla="val 5000"/>
            </a:avLst>
          </a:prstGeom>
          <a:solidFill>
            <a:srgbClr val="FBEDE8"/>
          </a:solidFill>
          <a:ln w="12700">
            <a:solidFill>
              <a:srgbClr val="FBEDE8"/>
            </a:solidFill>
            <a:prstDash val="solid"/>
          </a:ln>
        </p:spPr>
      </p:sp>
      <p:sp>
        <p:nvSpPr>
          <p:cNvPr id="13" name="Text 10"/>
          <p:cNvSpPr txBox="1"/>
          <p:nvPr/>
        </p:nvSpPr>
        <p:spPr>
          <a:xfrm>
            <a:off x="2468880" y="3794760"/>
            <a:ext cx="4160520" cy="192024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Delivery（デリバリー）</a:t>
            </a:r>
            <a:endParaRPr lang="en-US" sz="1800" dirty="0"/>
          </a:p>
          <a:p>
            <a:pPr indent="0" marL="0">
              <a:spcAft>
                <a:spcPts val="600"/>
              </a:spcAft>
              <a:buNone/>
            </a:pPr>
            <a:r>
              <a:rPr lang="en-US" sz="1400" dirty="0">
                <a:solidFill>
                  <a:srgbClr val="1B1F2A"/>
                </a:solidFill>
              </a:rPr>
              <a:t>「配達」。いつでも本番に出せる状態まで自動で用意する。最後の「公開する」は人が決める</a:t>
            </a:r>
            <a:endParaRPr lang="en-US" sz="1800" dirty="0"/>
          </a:p>
        </p:txBody>
      </p:sp>
      <p:sp>
        <p:nvSpPr>
          <p:cNvPr id="14" name="Shape 11"/>
          <p:cNvSpPr/>
          <p:nvPr/>
        </p:nvSpPr>
        <p:spPr>
          <a:xfrm>
            <a:off x="7086600" y="3657600"/>
            <a:ext cx="4526280" cy="2194560"/>
          </a:xfrm>
          <a:prstGeom prst="roundRect">
            <a:avLst>
              <a:gd name="adj" fmla="val 5000"/>
            </a:avLst>
          </a:prstGeom>
          <a:solidFill>
            <a:srgbClr val="FBEDE8"/>
          </a:solidFill>
          <a:ln w="12700">
            <a:solidFill>
              <a:srgbClr val="FBEDE8"/>
            </a:solidFill>
            <a:prstDash val="solid"/>
          </a:ln>
        </p:spPr>
      </p:sp>
      <p:sp>
        <p:nvSpPr>
          <p:cNvPr id="15" name="Text 12"/>
          <p:cNvSpPr txBox="1"/>
          <p:nvPr/>
        </p:nvSpPr>
        <p:spPr>
          <a:xfrm>
            <a:off x="7269480" y="3794760"/>
            <a:ext cx="4160520" cy="192024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Deployment（デプロイメント）</a:t>
            </a:r>
            <a:endParaRPr lang="en-US" sz="1800" dirty="0"/>
          </a:p>
          <a:p>
            <a:pPr indent="0" marL="0">
              <a:spcAft>
                <a:spcPts val="600"/>
              </a:spcAft>
              <a:buNone/>
            </a:pPr>
            <a:r>
              <a:rPr lang="en-US" sz="1400" dirty="0">
                <a:solidFill>
                  <a:srgbClr val="1B1F2A"/>
                </a:solidFill>
              </a:rPr>
              <a:t>「配備・展開」。テストに通ったら公開まで全部自動。この授業の「main にマージしたら自動で公開」はこちら</a:t>
            </a:r>
            <a:endParaRPr lang="en-US" sz="1800" dirty="0"/>
          </a:p>
        </p:txBody>
      </p:sp>
      <p:sp>
        <p:nvSpPr>
          <p:cNvPr id="16" name="Text 13"/>
          <p:cNvSpPr txBox="1"/>
          <p:nvPr/>
        </p:nvSpPr>
        <p:spPr>
          <a:xfrm>
            <a:off x="548640" y="5989320"/>
            <a:ext cx="11064240" cy="548640"/>
          </a:xfrm>
          <a:prstGeom prst="rect">
            <a:avLst/>
          </a:prstGeom>
          <a:noFill/>
          <a:ln/>
        </p:spPr>
        <p:txBody>
          <a:bodyPr wrap="square" lIns="0" tIns="0" rIns="0" bIns="0" rtlCol="0" anchor="ctr"/>
          <a:lstStyle/>
          <a:p>
            <a:pPr indent="0" marL="0">
              <a:buNone/>
            </a:pPr>
            <a:r>
              <a:rPr lang="en-US" sz="1300" dirty="0">
                <a:solidFill>
                  <a:srgbClr val="5A6B6B"/>
                </a:solidFill>
              </a:rPr>
              <a:t>CI は1990年代、XP（Extreme Programming：良い開発習慣を「極端なほど」徹底する手法）で広まった言葉。CD は2つの意味があり、どちらも「CD」と略す</a:t>
            </a:r>
            <a:endParaRPr lang="en-US" sz="13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全体の流れ：本編30コマ＋発展編6コマ</a:t>
            </a:r>
            <a:endParaRPr lang="en-US" sz="3000" dirty="0"/>
          </a:p>
        </p:txBody>
      </p:sp>
      <p:sp>
        <p:nvSpPr>
          <p:cNvPr id="4" name="Shape 1"/>
          <p:cNvSpPr/>
          <p:nvPr/>
        </p:nvSpPr>
        <p:spPr>
          <a:xfrm>
            <a:off x="548640" y="1371600"/>
            <a:ext cx="1645920" cy="731520"/>
          </a:xfrm>
          <a:prstGeom prst="roundRect">
            <a:avLst>
              <a:gd name="adj" fmla="val 12500"/>
            </a:avLst>
          </a:prstGeom>
          <a:solidFill>
            <a:srgbClr val="14919B"/>
          </a:solidFill>
          <a:ln w="12700">
            <a:solidFill>
              <a:srgbClr val="14919B"/>
            </a:solidFill>
            <a:prstDash val="solid"/>
          </a:ln>
        </p:spPr>
      </p:sp>
      <p:sp>
        <p:nvSpPr>
          <p:cNvPr id="5" name="Text 2"/>
          <p:cNvSpPr txBox="1"/>
          <p:nvPr/>
        </p:nvSpPr>
        <p:spPr>
          <a:xfrm>
            <a:off x="548640" y="1371600"/>
            <a:ext cx="1645920" cy="731520"/>
          </a:xfrm>
          <a:prstGeom prst="rect">
            <a:avLst/>
          </a:prstGeom>
          <a:noFill/>
          <a:ln/>
        </p:spPr>
        <p:txBody>
          <a:bodyPr wrap="square" lIns="0" tIns="0" rIns="0" bIns="0" rtlCol="0" anchor="ctr"/>
          <a:lstStyle/>
          <a:p>
            <a:pPr algn="ctr" indent="0" marL="0">
              <a:buNone/>
            </a:pPr>
            <a:r>
              <a:rPr lang="en-US" sz="1600" b="1" dirty="0">
                <a:solidFill>
                  <a:srgbClr val="FFFFFF"/>
                </a:solidFill>
              </a:rPr>
              <a:t>Phase 1</a:t>
            </a:r>
            <a:endParaRPr lang="en-US" sz="1600" dirty="0"/>
          </a:p>
          <a:p>
            <a:pPr algn="ctr" indent="0" marL="0">
              <a:buNone/>
            </a:pPr>
            <a:r>
              <a:rPr lang="en-US" sz="1200" dirty="0">
                <a:solidFill>
                  <a:srgbClr val="FFFFFF"/>
                </a:solidFill>
              </a:rPr>
              <a:t>コマ 01–07</a:t>
            </a:r>
            <a:endParaRPr lang="en-US" sz="1600" dirty="0"/>
          </a:p>
        </p:txBody>
      </p:sp>
      <p:sp>
        <p:nvSpPr>
          <p:cNvPr id="6" name="Text 3"/>
          <p:cNvSpPr txBox="1"/>
          <p:nvPr/>
        </p:nvSpPr>
        <p:spPr>
          <a:xfrm>
            <a:off x="2377440" y="1371600"/>
            <a:ext cx="4754880" cy="731520"/>
          </a:xfrm>
          <a:prstGeom prst="rect">
            <a:avLst/>
          </a:prstGeom>
          <a:noFill/>
          <a:ln/>
        </p:spPr>
        <p:txBody>
          <a:bodyPr wrap="square" lIns="0" tIns="0" rIns="0" bIns="0" rtlCol="0" anchor="ctr"/>
          <a:lstStyle/>
          <a:p>
            <a:pPr indent="0" marL="0">
              <a:buNone/>
            </a:pPr>
            <a:r>
              <a:rPr lang="en-US" sz="1700" dirty="0">
                <a:solidFill>
                  <a:srgbClr val="1B1F2A"/>
                </a:solidFill>
              </a:rPr>
              <a:t>Next.js で React 基礎（復習）</a:t>
            </a:r>
            <a:endParaRPr lang="en-US" sz="1700" dirty="0"/>
          </a:p>
        </p:txBody>
      </p:sp>
      <p:sp>
        <p:nvSpPr>
          <p:cNvPr id="7" name="Shape 4"/>
          <p:cNvSpPr/>
          <p:nvPr/>
        </p:nvSpPr>
        <p:spPr>
          <a:xfrm>
            <a:off x="548640" y="2286000"/>
            <a:ext cx="1645920" cy="731520"/>
          </a:xfrm>
          <a:prstGeom prst="roundRect">
            <a:avLst>
              <a:gd name="adj" fmla="val 12500"/>
            </a:avLst>
          </a:prstGeom>
          <a:solidFill>
            <a:srgbClr val="C47F1A"/>
          </a:solidFill>
          <a:ln w="12700">
            <a:solidFill>
              <a:srgbClr val="C47F1A"/>
            </a:solidFill>
            <a:prstDash val="solid"/>
          </a:ln>
        </p:spPr>
      </p:sp>
      <p:sp>
        <p:nvSpPr>
          <p:cNvPr id="8" name="Text 5"/>
          <p:cNvSpPr txBox="1"/>
          <p:nvPr/>
        </p:nvSpPr>
        <p:spPr>
          <a:xfrm>
            <a:off x="548640" y="2286000"/>
            <a:ext cx="1645920" cy="731520"/>
          </a:xfrm>
          <a:prstGeom prst="rect">
            <a:avLst/>
          </a:prstGeom>
          <a:noFill/>
          <a:ln/>
        </p:spPr>
        <p:txBody>
          <a:bodyPr wrap="square" lIns="0" tIns="0" rIns="0" bIns="0" rtlCol="0" anchor="ctr"/>
          <a:lstStyle/>
          <a:p>
            <a:pPr algn="ctr" indent="0" marL="0">
              <a:buNone/>
            </a:pPr>
            <a:r>
              <a:rPr lang="en-US" sz="1600" b="1" dirty="0">
                <a:solidFill>
                  <a:srgbClr val="FFFFFF"/>
                </a:solidFill>
              </a:rPr>
              <a:t>Phase 2</a:t>
            </a:r>
            <a:endParaRPr lang="en-US" sz="1600" dirty="0"/>
          </a:p>
          <a:p>
            <a:pPr algn="ctr" indent="0" marL="0">
              <a:buNone/>
            </a:pPr>
            <a:r>
              <a:rPr lang="en-US" sz="1200" dirty="0">
                <a:solidFill>
                  <a:srgbClr val="FFFFFF"/>
                </a:solidFill>
              </a:rPr>
              <a:t>コマ 08–13</a:t>
            </a:r>
            <a:endParaRPr lang="en-US" sz="1600" dirty="0"/>
          </a:p>
        </p:txBody>
      </p:sp>
      <p:sp>
        <p:nvSpPr>
          <p:cNvPr id="9" name="Text 6"/>
          <p:cNvSpPr txBox="1"/>
          <p:nvPr/>
        </p:nvSpPr>
        <p:spPr>
          <a:xfrm>
            <a:off x="2377440" y="2286000"/>
            <a:ext cx="4754880" cy="731520"/>
          </a:xfrm>
          <a:prstGeom prst="rect">
            <a:avLst/>
          </a:prstGeom>
          <a:noFill/>
          <a:ln/>
        </p:spPr>
        <p:txBody>
          <a:bodyPr wrap="square" lIns="0" tIns="0" rIns="0" bIns="0" rtlCol="0" anchor="ctr"/>
          <a:lstStyle/>
          <a:p>
            <a:pPr indent="0" marL="0">
              <a:buNone/>
            </a:pPr>
            <a:r>
              <a:rPr lang="en-US" sz="1700" dirty="0">
                <a:solidFill>
                  <a:srgbClr val="1B1F2A"/>
                </a:solidFill>
              </a:rPr>
              <a:t>テスト（Jest・Testing Library）</a:t>
            </a:r>
            <a:endParaRPr lang="en-US" sz="1700" dirty="0"/>
          </a:p>
        </p:txBody>
      </p:sp>
      <p:sp>
        <p:nvSpPr>
          <p:cNvPr id="10" name="Shape 7"/>
          <p:cNvSpPr/>
          <p:nvPr/>
        </p:nvSpPr>
        <p:spPr>
          <a:xfrm>
            <a:off x="548640" y="3200400"/>
            <a:ext cx="1645920" cy="731520"/>
          </a:xfrm>
          <a:prstGeom prst="roundRect">
            <a:avLst>
              <a:gd name="adj" fmla="val 12500"/>
            </a:avLst>
          </a:prstGeom>
          <a:solidFill>
            <a:srgbClr val="6A4BE0"/>
          </a:solidFill>
          <a:ln w="12700">
            <a:solidFill>
              <a:srgbClr val="6A4BE0"/>
            </a:solidFill>
            <a:prstDash val="solid"/>
          </a:ln>
        </p:spPr>
      </p:sp>
      <p:sp>
        <p:nvSpPr>
          <p:cNvPr id="11" name="Text 8"/>
          <p:cNvSpPr txBox="1"/>
          <p:nvPr/>
        </p:nvSpPr>
        <p:spPr>
          <a:xfrm>
            <a:off x="548640" y="3200400"/>
            <a:ext cx="1645920" cy="731520"/>
          </a:xfrm>
          <a:prstGeom prst="rect">
            <a:avLst/>
          </a:prstGeom>
          <a:noFill/>
          <a:ln/>
        </p:spPr>
        <p:txBody>
          <a:bodyPr wrap="square" lIns="0" tIns="0" rIns="0" bIns="0" rtlCol="0" anchor="ctr"/>
          <a:lstStyle/>
          <a:p>
            <a:pPr algn="ctr" indent="0" marL="0">
              <a:buNone/>
            </a:pPr>
            <a:r>
              <a:rPr lang="en-US" sz="1600" b="1" dirty="0">
                <a:solidFill>
                  <a:srgbClr val="FFFFFF"/>
                </a:solidFill>
              </a:rPr>
              <a:t>Phase 3</a:t>
            </a:r>
            <a:endParaRPr lang="en-US" sz="1600" dirty="0"/>
          </a:p>
          <a:p>
            <a:pPr algn="ctr" indent="0" marL="0">
              <a:buNone/>
            </a:pPr>
            <a:r>
              <a:rPr lang="en-US" sz="1200" dirty="0">
                <a:solidFill>
                  <a:srgbClr val="FFFFFF"/>
                </a:solidFill>
              </a:rPr>
              <a:t>コマ 14–19</a:t>
            </a:r>
            <a:endParaRPr lang="en-US" sz="1600" dirty="0"/>
          </a:p>
        </p:txBody>
      </p:sp>
      <p:sp>
        <p:nvSpPr>
          <p:cNvPr id="12" name="Text 9"/>
          <p:cNvSpPr txBox="1"/>
          <p:nvPr/>
        </p:nvSpPr>
        <p:spPr>
          <a:xfrm>
            <a:off x="2377440" y="3200400"/>
            <a:ext cx="4754880" cy="731520"/>
          </a:xfrm>
          <a:prstGeom prst="rect">
            <a:avLst/>
          </a:prstGeom>
          <a:noFill/>
          <a:ln/>
        </p:spPr>
        <p:txBody>
          <a:bodyPr wrap="square" lIns="0" tIns="0" rIns="0" bIns="0" rtlCol="0" anchor="ctr"/>
          <a:lstStyle/>
          <a:p>
            <a:pPr indent="0" marL="0">
              <a:buNone/>
            </a:pPr>
            <a:r>
              <a:rPr lang="en-US" sz="1700" dirty="0">
                <a:solidFill>
                  <a:srgbClr val="1B1F2A"/>
                </a:solidFill>
              </a:rPr>
              <a:t>GitHub Actions（自動チェック）</a:t>
            </a:r>
            <a:endParaRPr lang="en-US" sz="1700" dirty="0"/>
          </a:p>
        </p:txBody>
      </p:sp>
      <p:sp>
        <p:nvSpPr>
          <p:cNvPr id="13" name="Shape 10"/>
          <p:cNvSpPr/>
          <p:nvPr/>
        </p:nvSpPr>
        <p:spPr>
          <a:xfrm>
            <a:off x="548640" y="4114800"/>
            <a:ext cx="1645920" cy="731520"/>
          </a:xfrm>
          <a:prstGeom prst="roundRect">
            <a:avLst>
              <a:gd name="adj" fmla="val 12500"/>
            </a:avLst>
          </a:prstGeom>
          <a:solidFill>
            <a:srgbClr val="D4471F"/>
          </a:solidFill>
          <a:ln w="12700">
            <a:solidFill>
              <a:srgbClr val="D4471F"/>
            </a:solidFill>
            <a:prstDash val="solid"/>
          </a:ln>
        </p:spPr>
      </p:sp>
      <p:sp>
        <p:nvSpPr>
          <p:cNvPr id="14" name="Text 11"/>
          <p:cNvSpPr txBox="1"/>
          <p:nvPr/>
        </p:nvSpPr>
        <p:spPr>
          <a:xfrm>
            <a:off x="548640" y="4114800"/>
            <a:ext cx="1645920" cy="731520"/>
          </a:xfrm>
          <a:prstGeom prst="rect">
            <a:avLst/>
          </a:prstGeom>
          <a:noFill/>
          <a:ln/>
        </p:spPr>
        <p:txBody>
          <a:bodyPr wrap="square" lIns="0" tIns="0" rIns="0" bIns="0" rtlCol="0" anchor="ctr"/>
          <a:lstStyle/>
          <a:p>
            <a:pPr algn="ctr" indent="0" marL="0">
              <a:buNone/>
            </a:pPr>
            <a:r>
              <a:rPr lang="en-US" sz="1600" b="1" dirty="0">
                <a:solidFill>
                  <a:srgbClr val="FFFFFF"/>
                </a:solidFill>
              </a:rPr>
              <a:t>Phase 4</a:t>
            </a:r>
            <a:endParaRPr lang="en-US" sz="1600" dirty="0"/>
          </a:p>
          <a:p>
            <a:pPr algn="ctr" indent="0" marL="0">
              <a:buNone/>
            </a:pPr>
            <a:r>
              <a:rPr lang="en-US" sz="1200" dirty="0">
                <a:solidFill>
                  <a:srgbClr val="FFFFFF"/>
                </a:solidFill>
              </a:rPr>
              <a:t>コマ 20–25</a:t>
            </a:r>
            <a:endParaRPr lang="en-US" sz="1600" dirty="0"/>
          </a:p>
        </p:txBody>
      </p:sp>
      <p:sp>
        <p:nvSpPr>
          <p:cNvPr id="15" name="Text 12"/>
          <p:cNvSpPr txBox="1"/>
          <p:nvPr/>
        </p:nvSpPr>
        <p:spPr>
          <a:xfrm>
            <a:off x="2377440" y="4114800"/>
            <a:ext cx="4754880" cy="731520"/>
          </a:xfrm>
          <a:prstGeom prst="rect">
            <a:avLst/>
          </a:prstGeom>
          <a:noFill/>
          <a:ln/>
        </p:spPr>
        <p:txBody>
          <a:bodyPr wrap="square" lIns="0" tIns="0" rIns="0" bIns="0" rtlCol="0" anchor="ctr"/>
          <a:lstStyle/>
          <a:p>
            <a:pPr indent="0" marL="0">
              <a:buNone/>
            </a:pPr>
            <a:r>
              <a:rPr lang="en-US" sz="1700" dirty="0">
                <a:solidFill>
                  <a:srgbClr val="1B1F2A"/>
                </a:solidFill>
              </a:rPr>
              <a:t>CI/CD・デプロイ（自動公開）</a:t>
            </a:r>
            <a:endParaRPr lang="en-US" sz="1700" dirty="0"/>
          </a:p>
        </p:txBody>
      </p:sp>
      <p:sp>
        <p:nvSpPr>
          <p:cNvPr id="16" name="Shape 13"/>
          <p:cNvSpPr/>
          <p:nvPr/>
        </p:nvSpPr>
        <p:spPr>
          <a:xfrm>
            <a:off x="548640" y="5029200"/>
            <a:ext cx="1645920" cy="731520"/>
          </a:xfrm>
          <a:prstGeom prst="roundRect">
            <a:avLst>
              <a:gd name="adj" fmla="val 12500"/>
            </a:avLst>
          </a:prstGeom>
          <a:solidFill>
            <a:srgbClr val="2E86AB"/>
          </a:solidFill>
          <a:ln w="12700">
            <a:solidFill>
              <a:srgbClr val="2E86AB"/>
            </a:solidFill>
            <a:prstDash val="solid"/>
          </a:ln>
        </p:spPr>
      </p:sp>
      <p:sp>
        <p:nvSpPr>
          <p:cNvPr id="17" name="Text 14"/>
          <p:cNvSpPr txBox="1"/>
          <p:nvPr/>
        </p:nvSpPr>
        <p:spPr>
          <a:xfrm>
            <a:off x="548640" y="5029200"/>
            <a:ext cx="1645920" cy="731520"/>
          </a:xfrm>
          <a:prstGeom prst="rect">
            <a:avLst/>
          </a:prstGeom>
          <a:noFill/>
          <a:ln/>
        </p:spPr>
        <p:txBody>
          <a:bodyPr wrap="square" lIns="0" tIns="0" rIns="0" bIns="0" rtlCol="0" anchor="ctr"/>
          <a:lstStyle/>
          <a:p>
            <a:pPr algn="ctr" indent="0" marL="0">
              <a:buNone/>
            </a:pPr>
            <a:r>
              <a:rPr lang="en-US" sz="1600" b="1" dirty="0">
                <a:solidFill>
                  <a:srgbClr val="FFFFFF"/>
                </a:solidFill>
              </a:rPr>
              <a:t>Phase 5</a:t>
            </a:r>
            <a:endParaRPr lang="en-US" sz="1600" dirty="0"/>
          </a:p>
          <a:p>
            <a:pPr algn="ctr" indent="0" marL="0">
              <a:buNone/>
            </a:pPr>
            <a:r>
              <a:rPr lang="en-US" sz="1200" dirty="0">
                <a:solidFill>
                  <a:srgbClr val="FFFFFF"/>
                </a:solidFill>
              </a:rPr>
              <a:t>コマ 26–30</a:t>
            </a:r>
            <a:endParaRPr lang="en-US" sz="1600" dirty="0"/>
          </a:p>
        </p:txBody>
      </p:sp>
      <p:sp>
        <p:nvSpPr>
          <p:cNvPr id="18" name="Text 15"/>
          <p:cNvSpPr txBox="1"/>
          <p:nvPr/>
        </p:nvSpPr>
        <p:spPr>
          <a:xfrm>
            <a:off x="2377440" y="5029200"/>
            <a:ext cx="4754880" cy="731520"/>
          </a:xfrm>
          <a:prstGeom prst="rect">
            <a:avLst/>
          </a:prstGeom>
          <a:noFill/>
          <a:ln/>
        </p:spPr>
        <p:txBody>
          <a:bodyPr wrap="square" lIns="0" tIns="0" rIns="0" bIns="0" rtlCol="0" anchor="ctr"/>
          <a:lstStyle/>
          <a:p>
            <a:pPr indent="0" marL="0">
              <a:buNone/>
            </a:pPr>
            <a:r>
              <a:rPr lang="en-US" sz="1700" dirty="0">
                <a:solidFill>
                  <a:srgbClr val="1B1F2A"/>
                </a:solidFill>
              </a:rPr>
              <a:t>個人制作・発表</a:t>
            </a:r>
            <a:endParaRPr lang="en-US" sz="1700" dirty="0"/>
          </a:p>
        </p:txBody>
      </p:sp>
      <p:sp>
        <p:nvSpPr>
          <p:cNvPr id="19" name="Shape 16"/>
          <p:cNvSpPr/>
          <p:nvPr/>
        </p:nvSpPr>
        <p:spPr>
          <a:xfrm>
            <a:off x="7315200" y="1371600"/>
            <a:ext cx="4297680" cy="4389120"/>
          </a:xfrm>
          <a:prstGeom prst="roundRect">
            <a:avLst>
              <a:gd name="adj" fmla="val 2553"/>
            </a:avLst>
          </a:prstGeom>
          <a:solidFill>
            <a:srgbClr val="EEF4F3"/>
          </a:solidFill>
          <a:ln w="12700">
            <a:solidFill>
              <a:srgbClr val="EEF4F3"/>
            </a:solidFill>
            <a:prstDash val="solid"/>
          </a:ln>
        </p:spPr>
      </p:sp>
      <p:sp>
        <p:nvSpPr>
          <p:cNvPr id="20" name="Text 17"/>
          <p:cNvSpPr txBox="1"/>
          <p:nvPr/>
        </p:nvSpPr>
        <p:spPr>
          <a:xfrm>
            <a:off x="7498080" y="1508760"/>
            <a:ext cx="3931920" cy="4114800"/>
          </a:xfrm>
          <a:prstGeom prst="rect">
            <a:avLst/>
          </a:prstGeom>
          <a:noFill/>
          <a:ln/>
        </p:spPr>
        <p:txBody>
          <a:bodyPr wrap="square" lIns="0" tIns="0" rIns="0" bIns="0" rtlCol="0" anchor="t"/>
          <a:lstStyle/>
          <a:p>
            <a:pPr indent="0" marL="0">
              <a:spcAft>
                <a:spcPts val="600"/>
              </a:spcAft>
              <a:buNone/>
            </a:pPr>
            <a:r>
              <a:rPr lang="en-US" sz="1800" b="1" dirty="0">
                <a:solidFill>
                  <a:srgbClr val="0F3D3E"/>
                </a:solidFill>
              </a:rPr>
              <a:t>発展編（任意）</a:t>
            </a:r>
            <a:endParaRPr lang="en-US" sz="1800" dirty="0"/>
          </a:p>
          <a:p>
            <a:pPr indent="0" marL="0">
              <a:spcAft>
                <a:spcPts val="600"/>
              </a:spcAft>
              <a:buNone/>
            </a:pPr>
            <a:r>
              <a:rPr lang="en-US" sz="1400" dirty="0">
                <a:solidFill>
                  <a:srgbClr val="1B1F2A"/>
                </a:solidFill>
              </a:rPr>
              <a:t>a1 TypeScript 化</a:t>
            </a:r>
            <a:endParaRPr lang="en-US" sz="1800" dirty="0"/>
          </a:p>
          <a:p>
            <a:pPr indent="0" marL="0">
              <a:spcAft>
                <a:spcPts val="600"/>
              </a:spcAft>
              <a:buNone/>
            </a:pPr>
            <a:r>
              <a:rPr lang="en-US" sz="1400" dirty="0">
                <a:solidFill>
                  <a:srgbClr val="1B1F2A"/>
                </a:solidFill>
              </a:rPr>
              <a:t>a2 Tailwind CSS v4</a:t>
            </a:r>
            <a:endParaRPr lang="en-US" sz="1800" dirty="0"/>
          </a:p>
          <a:p>
            <a:pPr indent="0" marL="0">
              <a:spcAft>
                <a:spcPts val="600"/>
              </a:spcAft>
              <a:buNone/>
            </a:pPr>
            <a:r>
              <a:rPr lang="en-US" sz="1400" dirty="0">
                <a:solidFill>
                  <a:srgbClr val="1B1F2A"/>
                </a:solidFill>
              </a:rPr>
              <a:t>a3 MSW（にせ API）</a:t>
            </a:r>
            <a:endParaRPr lang="en-US" sz="1800" dirty="0"/>
          </a:p>
          <a:p>
            <a:pPr indent="0" marL="0">
              <a:spcAft>
                <a:spcPts val="600"/>
              </a:spcAft>
              <a:buNone/>
            </a:pPr>
            <a:r>
              <a:rPr lang="en-US" sz="1400" dirty="0">
                <a:solidFill>
                  <a:srgbClr val="1B1F2A"/>
                </a:solidFill>
              </a:rPr>
              <a:t>a4 Playwright で E2E テスト</a:t>
            </a:r>
            <a:endParaRPr lang="en-US" sz="1800" dirty="0"/>
          </a:p>
          <a:p>
            <a:pPr indent="0" marL="0">
              <a:spcAft>
                <a:spcPts val="600"/>
              </a:spcAft>
              <a:buNone/>
            </a:pPr>
            <a:r>
              <a:rPr lang="en-US" sz="1400" dirty="0">
                <a:solidFill>
                  <a:srgbClr val="1B1F2A"/>
                </a:solidFill>
              </a:rPr>
              <a:t>a5 CI 強化（キャッシュ・Dependabot）</a:t>
            </a:r>
            <a:endParaRPr lang="en-US" sz="1800" dirty="0"/>
          </a:p>
          <a:p>
            <a:pPr indent="0" marL="0">
              <a:spcAft>
                <a:spcPts val="600"/>
              </a:spcAft>
              <a:buNone/>
            </a:pPr>
            <a:r>
              <a:rPr lang="en-US" sz="1400" dirty="0">
                <a:solidFill>
                  <a:srgbClr val="1B1F2A"/>
                </a:solidFill>
              </a:rPr>
              <a:t>a6 MSW 総合演習（ポケモン図鑑）</a:t>
            </a:r>
            <a:endParaRPr lang="en-US" sz="1800" dirty="0"/>
          </a:p>
        </p:txBody>
      </p:sp>
      <p:sp>
        <p:nvSpPr>
          <p:cNvPr id="21" name="Text 18"/>
          <p:cNvSpPr txBox="1"/>
          <p:nvPr/>
        </p:nvSpPr>
        <p:spPr>
          <a:xfrm>
            <a:off x="548640" y="6035040"/>
            <a:ext cx="11064240" cy="365760"/>
          </a:xfrm>
          <a:prstGeom prst="rect">
            <a:avLst/>
          </a:prstGeom>
          <a:noFill/>
          <a:ln/>
        </p:spPr>
        <p:txBody>
          <a:bodyPr wrap="square" lIns="0" tIns="0" rIns="0" bIns="0" rtlCol="0" anchor="ctr"/>
          <a:lstStyle/>
          <a:p>
            <a:pPr indent="0" marL="0">
              <a:buNone/>
            </a:pPr>
            <a:r>
              <a:rPr lang="en-US" sz="1400" dirty="0">
                <a:solidFill>
                  <a:srgbClr val="5A6B6B"/>
                </a:solidFill>
              </a:rPr>
              <a:t>Phase（フェーズ）＝英語で「段階」。1コマ90分：導入 → 本題（一緒に打つ）→ 演習（各自）→ まとめ → 課題</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使う道具と開発環境</a:t>
            </a:r>
            <a:endParaRPr lang="en-US" sz="3000" dirty="0"/>
          </a:p>
        </p:txBody>
      </p:sp>
      <p:sp>
        <p:nvSpPr>
          <p:cNvPr id="4" name="Shape 1"/>
          <p:cNvSpPr/>
          <p:nvPr/>
        </p:nvSpPr>
        <p:spPr>
          <a:xfrm>
            <a:off x="548640" y="1371600"/>
            <a:ext cx="3474720" cy="1920240"/>
          </a:xfrm>
          <a:prstGeom prst="roundRect">
            <a:avLst>
              <a:gd name="adj" fmla="val 5714"/>
            </a:avLst>
          </a:prstGeom>
          <a:solidFill>
            <a:srgbClr val="EEF4F3"/>
          </a:solidFill>
          <a:ln w="12700">
            <a:solidFill>
              <a:srgbClr val="EEF4F3"/>
            </a:solidFill>
            <a:prstDash val="solid"/>
          </a:ln>
        </p:spPr>
      </p:sp>
      <p:sp>
        <p:nvSpPr>
          <p:cNvPr id="5" name="Text 2"/>
          <p:cNvSpPr txBox="1"/>
          <p:nvPr/>
        </p:nvSpPr>
        <p:spPr>
          <a:xfrm>
            <a:off x="731520" y="150876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Windows + PowerShell</a:t>
            </a:r>
            <a:endParaRPr lang="en-US" sz="1800" dirty="0"/>
          </a:p>
          <a:p>
            <a:pPr indent="0" marL="0">
              <a:spcAft>
                <a:spcPts val="600"/>
              </a:spcAft>
              <a:buNone/>
            </a:pPr>
            <a:r>
              <a:rPr lang="en-US" sz="1400" dirty="0">
                <a:solidFill>
                  <a:srgbClr val="1B1F2A"/>
                </a:solidFill>
              </a:rPr>
              <a:t>コマンドはすべて PowerShell で打つ</a:t>
            </a:r>
            <a:endParaRPr lang="en-US" sz="1800" dirty="0"/>
          </a:p>
        </p:txBody>
      </p:sp>
      <p:sp>
        <p:nvSpPr>
          <p:cNvPr id="6" name="Shape 3"/>
          <p:cNvSpPr/>
          <p:nvPr/>
        </p:nvSpPr>
        <p:spPr>
          <a:xfrm>
            <a:off x="4297680" y="1371600"/>
            <a:ext cx="3474720" cy="1920240"/>
          </a:xfrm>
          <a:prstGeom prst="roundRect">
            <a:avLst>
              <a:gd name="adj" fmla="val 5714"/>
            </a:avLst>
          </a:prstGeom>
          <a:solidFill>
            <a:srgbClr val="EEF4F3"/>
          </a:solidFill>
          <a:ln w="12700">
            <a:solidFill>
              <a:srgbClr val="EEF4F3"/>
            </a:solidFill>
            <a:prstDash val="solid"/>
          </a:ln>
        </p:spPr>
      </p:sp>
      <p:sp>
        <p:nvSpPr>
          <p:cNvPr id="7" name="Text 4"/>
          <p:cNvSpPr txBox="1"/>
          <p:nvPr/>
        </p:nvSpPr>
        <p:spPr>
          <a:xfrm>
            <a:off x="4480560" y="150876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Node.js 24 LTS</a:t>
            </a:r>
            <a:endParaRPr lang="en-US" sz="1800" dirty="0"/>
          </a:p>
          <a:p>
            <a:pPr indent="0" marL="0">
              <a:spcAft>
                <a:spcPts val="600"/>
              </a:spcAft>
              <a:buNone/>
            </a:pPr>
            <a:r>
              <a:rPr lang="en-US" sz="1400" dirty="0">
                <a:solidFill>
                  <a:srgbClr val="1B1F2A"/>
                </a:solidFill>
              </a:rPr>
              <a:t>winget install OpenJS.NodeJS.LTS で入れる</a:t>
            </a:r>
            <a:endParaRPr lang="en-US" sz="1800" dirty="0"/>
          </a:p>
        </p:txBody>
      </p:sp>
      <p:sp>
        <p:nvSpPr>
          <p:cNvPr id="8" name="Shape 5"/>
          <p:cNvSpPr/>
          <p:nvPr/>
        </p:nvSpPr>
        <p:spPr>
          <a:xfrm>
            <a:off x="8046720" y="1371600"/>
            <a:ext cx="3474720" cy="1920240"/>
          </a:xfrm>
          <a:prstGeom prst="roundRect">
            <a:avLst>
              <a:gd name="adj" fmla="val 5714"/>
            </a:avLst>
          </a:prstGeom>
          <a:solidFill>
            <a:srgbClr val="EEF4F3"/>
          </a:solidFill>
          <a:ln w="12700">
            <a:solidFill>
              <a:srgbClr val="EEF4F3"/>
            </a:solidFill>
            <a:prstDash val="solid"/>
          </a:ln>
        </p:spPr>
      </p:sp>
      <p:sp>
        <p:nvSpPr>
          <p:cNvPr id="9" name="Text 6"/>
          <p:cNvSpPr txBox="1"/>
          <p:nvPr/>
        </p:nvSpPr>
        <p:spPr>
          <a:xfrm>
            <a:off x="8229600" y="150876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VS Code</a:t>
            </a:r>
            <a:endParaRPr lang="en-US" sz="1800" dirty="0"/>
          </a:p>
          <a:p>
            <a:pPr indent="0" marL="0">
              <a:spcAft>
                <a:spcPts val="600"/>
              </a:spcAft>
              <a:buNone/>
            </a:pPr>
            <a:r>
              <a:rPr lang="en-US" sz="1400" dirty="0">
                <a:solidFill>
                  <a:srgbClr val="1B1F2A"/>
                </a:solidFill>
              </a:rPr>
              <a:t>改行コードを LF に設定する</a:t>
            </a:r>
            <a:endParaRPr lang="en-US" sz="1800" dirty="0"/>
          </a:p>
        </p:txBody>
      </p:sp>
      <p:sp>
        <p:nvSpPr>
          <p:cNvPr id="10" name="Shape 7"/>
          <p:cNvSpPr/>
          <p:nvPr/>
        </p:nvSpPr>
        <p:spPr>
          <a:xfrm>
            <a:off x="548640" y="3566160"/>
            <a:ext cx="3474720" cy="1920240"/>
          </a:xfrm>
          <a:prstGeom prst="roundRect">
            <a:avLst>
              <a:gd name="adj" fmla="val 5714"/>
            </a:avLst>
          </a:prstGeom>
          <a:solidFill>
            <a:srgbClr val="EEF4F3"/>
          </a:solidFill>
          <a:ln w="12700">
            <a:solidFill>
              <a:srgbClr val="EEF4F3"/>
            </a:solidFill>
            <a:prstDash val="solid"/>
          </a:ln>
        </p:spPr>
      </p:sp>
      <p:sp>
        <p:nvSpPr>
          <p:cNvPr id="11" name="Text 8"/>
          <p:cNvSpPr txBox="1"/>
          <p:nvPr/>
        </p:nvSpPr>
        <p:spPr>
          <a:xfrm>
            <a:off x="731520" y="370332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Git for Windows</a:t>
            </a:r>
            <a:endParaRPr lang="en-US" sz="1800" dirty="0"/>
          </a:p>
          <a:p>
            <a:pPr indent="0" marL="0">
              <a:spcAft>
                <a:spcPts val="600"/>
              </a:spcAft>
              <a:buNone/>
            </a:pPr>
            <a:r>
              <a:rPr lang="en-US" sz="1400" dirty="0">
                <a:solidFill>
                  <a:srgbClr val="1B1F2A"/>
                </a:solidFill>
              </a:rPr>
              <a:t>core.autocrlf を false にする</a:t>
            </a:r>
            <a:endParaRPr lang="en-US" sz="1800" dirty="0"/>
          </a:p>
        </p:txBody>
      </p:sp>
      <p:sp>
        <p:nvSpPr>
          <p:cNvPr id="12" name="Shape 9"/>
          <p:cNvSpPr/>
          <p:nvPr/>
        </p:nvSpPr>
        <p:spPr>
          <a:xfrm>
            <a:off x="4297680" y="3566160"/>
            <a:ext cx="3474720" cy="1920240"/>
          </a:xfrm>
          <a:prstGeom prst="roundRect">
            <a:avLst>
              <a:gd name="adj" fmla="val 5714"/>
            </a:avLst>
          </a:prstGeom>
          <a:solidFill>
            <a:srgbClr val="EEF4F3"/>
          </a:solidFill>
          <a:ln w="12700">
            <a:solidFill>
              <a:srgbClr val="EEF4F3"/>
            </a:solidFill>
            <a:prstDash val="solid"/>
          </a:ln>
        </p:spPr>
      </p:sp>
      <p:sp>
        <p:nvSpPr>
          <p:cNvPr id="13" name="Text 10"/>
          <p:cNvSpPr txBox="1"/>
          <p:nvPr/>
        </p:nvSpPr>
        <p:spPr>
          <a:xfrm>
            <a:off x="4480560" y="370332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GitHub アカウント</a:t>
            </a:r>
            <a:endParaRPr lang="en-US" sz="1800" dirty="0"/>
          </a:p>
          <a:p>
            <a:pPr indent="0" marL="0">
              <a:spcAft>
                <a:spcPts val="600"/>
              </a:spcAft>
              <a:buNone/>
            </a:pPr>
            <a:r>
              <a:rPr lang="en-US" sz="1400" dirty="0">
                <a:solidFill>
                  <a:srgbClr val="1B1F2A"/>
                </a:solidFill>
              </a:rPr>
              <a:t>リポジトリ・Actions・Pages を使う</a:t>
            </a:r>
            <a:endParaRPr lang="en-US" sz="1800" dirty="0"/>
          </a:p>
        </p:txBody>
      </p:sp>
      <p:sp>
        <p:nvSpPr>
          <p:cNvPr id="14" name="Shape 11"/>
          <p:cNvSpPr/>
          <p:nvPr/>
        </p:nvSpPr>
        <p:spPr>
          <a:xfrm>
            <a:off x="8046720" y="3566160"/>
            <a:ext cx="3474720" cy="1920240"/>
          </a:xfrm>
          <a:prstGeom prst="roundRect">
            <a:avLst>
              <a:gd name="adj" fmla="val 5714"/>
            </a:avLst>
          </a:prstGeom>
          <a:solidFill>
            <a:srgbClr val="EEF4F3"/>
          </a:solidFill>
          <a:ln w="12700">
            <a:solidFill>
              <a:srgbClr val="EEF4F3"/>
            </a:solidFill>
            <a:prstDash val="solid"/>
          </a:ln>
        </p:spPr>
      </p:sp>
      <p:sp>
        <p:nvSpPr>
          <p:cNvPr id="15" name="Text 12"/>
          <p:cNvSpPr txBox="1"/>
          <p:nvPr/>
        </p:nvSpPr>
        <p:spPr>
          <a:xfrm>
            <a:off x="8229600" y="370332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Vercel アカウント</a:t>
            </a:r>
            <a:endParaRPr lang="en-US" sz="1800" dirty="0"/>
          </a:p>
          <a:p>
            <a:pPr indent="0" marL="0">
              <a:spcAft>
                <a:spcPts val="600"/>
              </a:spcAft>
              <a:buNone/>
            </a:pPr>
            <a:r>
              <a:rPr lang="en-US" sz="1400" dirty="0">
                <a:solidFill>
                  <a:srgbClr val="1B1F2A"/>
                </a:solidFill>
              </a:rPr>
              <a:t>GitHub とつないで公開する</a:t>
            </a:r>
            <a:endParaRPr lang="en-US" sz="1800" dirty="0"/>
          </a:p>
        </p:txBody>
      </p:sp>
      <p:sp>
        <p:nvSpPr>
          <p:cNvPr id="16" name="Text 13"/>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400" dirty="0">
                <a:solidFill>
                  <a:srgbClr val="5A6B6B"/>
                </a:solidFill>
              </a:rPr>
              <a:t>作業フォルダは ~/workspace/（OneDrive の同期外）。セットアップはコマ1で一緒にやります。略語の意味は次のスライドで</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環境の用語（略語と語源）</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14919B"/>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14919B"/>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14919B"/>
                    </a:solidFill>
                  </a:tcPr>
                </a:tc>
              </a:tr>
              <a:tr h="0">
                <a:tc>
                  <a:txBody>
                    <a:bodyPr/>
                    <a:lstStyle/>
                    <a:p>
                      <a:pPr indent="0" marL="0">
                        <a:buNone/>
                      </a:pPr>
                      <a:r>
                        <a:rPr lang="en-US" sz="1600" b="1" dirty="0">
                          <a:solidFill>
                            <a:srgbClr val="14919B"/>
                          </a:solidFill>
                        </a:rPr>
                        <a:t>LTS</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Long Term Support</a:t>
                      </a:r>
                      <a:endParaRPr lang="en-US" sz="1400" dirty="0"/>
                    </a:p>
                    <a:p>
                      <a:pPr indent="0" marL="0">
                        <a:buNone/>
                      </a:pPr>
                      <a:r>
                        <a:rPr lang="en-US" sz="1400" dirty="0">
                          <a:solidFill>
                            <a:srgbClr val="1B1F2A"/>
                          </a:solidFill>
                        </a:rPr>
                        <a:t>「長期サポート」。Node.js は偶数番号の版が LTS になり、約2年半バグや安全性の修正が続く</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Node.js 24 LTS を使う。授業の途中でサポートが切れない</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14919B"/>
                          </a:solidFill>
                        </a:rPr>
                        <a:t>winget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Windows ＋ get</a:t>
                      </a:r>
                      <a:endParaRPr lang="en-US" sz="1400" dirty="0"/>
                    </a:p>
                    <a:p>
                      <a:pPr indent="0" marL="0">
                        <a:buNone/>
                      </a:pPr>
                      <a:r>
                        <a:rPr lang="en-US" sz="1400" dirty="0">
                          <a:solidFill>
                            <a:srgbClr val="1B1F2A"/>
                          </a:solidFill>
                        </a:rPr>
                        <a:t>「Windows」と「get（手に入れる）」を合わせた名前。Windows 公式のパッケージ管理コマンド</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winget install で、アプリを1行でインストールする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919B"/>
                          </a:solidFill>
                        </a:rPr>
                        <a:t>VS Code</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Visual Studio Code</a:t>
                      </a:r>
                      <a:endParaRPr lang="en-US" sz="1400" dirty="0"/>
                    </a:p>
                    <a:p>
                      <a:pPr indent="0" marL="0">
                        <a:buNone/>
                      </a:pPr>
                      <a:r>
                        <a:rPr lang="en-US" sz="1400" dirty="0">
                          <a:solidFill>
                            <a:srgbClr val="1B1F2A"/>
                          </a:solidFill>
                        </a:rPr>
                        <a:t>Microsoft の無料エディタ。Visual Studio は同社の大型開発ソフトの名前</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コードを書き、ターミナルも開く作業場所</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14919B"/>
                          </a:solidFill>
                        </a:rPr>
                        <a:t>LF / CRLF</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Line Feed / Carriage Return</a:t>
                      </a:r>
                      <a:endParaRPr lang="en-US" sz="1400" dirty="0"/>
                    </a:p>
                    <a:p>
                      <a:pPr indent="0" marL="0">
                        <a:buNone/>
                      </a:pPr>
                      <a:r>
                        <a:rPr lang="en-US" sz="1400" dirty="0">
                          <a:solidFill>
                            <a:srgbClr val="1B1F2A"/>
                          </a:solidFill>
                        </a:rPr>
                        <a:t>タイプライター由来。LF＝紙を1行送る、CR＝印字位置を左端へ戻す。Windows は CRLF、他は LF</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LF にそろえる。混ざると Git が「全行を変更した」と判定してしまう</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919B"/>
                          </a:solidFill>
                        </a:rPr>
                        <a:t>npm</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Node Package Manager</a:t>
                      </a:r>
                      <a:endParaRPr lang="en-US" sz="1400" dirty="0"/>
                    </a:p>
                    <a:p>
                      <a:pPr indent="0" marL="0">
                        <a:buNone/>
                      </a:pPr>
                      <a:r>
                        <a:rPr lang="en-US" sz="1400" dirty="0">
                          <a:solidFill>
                            <a:srgbClr val="1B1F2A"/>
                          </a:solidFill>
                        </a:rPr>
                        <a:t>生まれたときの意味。今の公式サイトは冗談めかして「npm は略語ではない」と言っている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npm install で部品を入れ、npm run dev で命令を実行する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14919B"/>
                          </a:solidFill>
                        </a:rPr>
                        <a:t>PowerShell</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power ＋ shell</a:t>
                      </a:r>
                      <a:endParaRPr lang="en-US" sz="1400" dirty="0"/>
                    </a:p>
                    <a:p>
                      <a:pPr indent="0" marL="0">
                        <a:buNone/>
                      </a:pPr>
                      <a:r>
                        <a:rPr lang="en-US" sz="1400" dirty="0">
                          <a:solidFill>
                            <a:srgbClr val="1B1F2A"/>
                          </a:solidFill>
                        </a:rPr>
                        <a:t>shell＝「殻」。OS の中心を包む殻＝人と OS の間で命令を受け取るソフト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Windows のターミナル。授業のコマンドは全部ここで打つ</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1：React を「学び直す」ところから</a:t>
            </a:r>
            <a:endParaRPr lang="en-US" sz="3000" dirty="0"/>
          </a:p>
        </p:txBody>
      </p:sp>
      <p:sp>
        <p:nvSpPr>
          <p:cNvPr id="4" name="Text 1"/>
          <p:cNvSpPr txBox="1"/>
          <p:nvPr/>
        </p:nvSpPr>
        <p:spPr>
          <a:xfrm>
            <a:off x="548640" y="1234440"/>
            <a:ext cx="11064240" cy="457200"/>
          </a:xfrm>
          <a:prstGeom prst="rect">
            <a:avLst/>
          </a:prstGeom>
          <a:noFill/>
          <a:ln/>
        </p:spPr>
        <p:txBody>
          <a:bodyPr wrap="square" lIns="0" tIns="0" rIns="0" bIns="0" rtlCol="0" anchor="ctr"/>
          <a:lstStyle/>
          <a:p>
            <a:pPr indent="0" marL="0">
              <a:buNone/>
            </a:pPr>
            <a:r>
              <a:rPr lang="en-US" sz="1800" dirty="0">
                <a:solidFill>
                  <a:srgbClr val="14919B"/>
                </a:solidFill>
              </a:rPr>
              <a:t>コマ01〜07｜触ったことがある前提で、あいまいなところを固め直します</a:t>
            </a:r>
            <a:endParaRPr lang="en-US" sz="1800" dirty="0"/>
          </a:p>
        </p:txBody>
      </p:sp>
      <p:sp>
        <p:nvSpPr>
          <p:cNvPr id="5" name="Shape 2"/>
          <p:cNvSpPr/>
          <p:nvPr/>
        </p:nvSpPr>
        <p:spPr>
          <a:xfrm>
            <a:off x="548640" y="1828800"/>
            <a:ext cx="3474720" cy="1920240"/>
          </a:xfrm>
          <a:prstGeom prst="roundRect">
            <a:avLst>
              <a:gd name="adj" fmla="val 5714"/>
            </a:avLst>
          </a:prstGeom>
          <a:solidFill>
            <a:srgbClr val="EEF4F3"/>
          </a:solidFill>
          <a:ln w="12700">
            <a:solidFill>
              <a:srgbClr val="EEF4F3"/>
            </a:solidFill>
            <a:prstDash val="solid"/>
          </a:ln>
        </p:spPr>
      </p:sp>
      <p:sp>
        <p:nvSpPr>
          <p:cNvPr id="6" name="Text 3"/>
          <p:cNvSpPr txBox="1"/>
          <p:nvPr/>
        </p:nvSpPr>
        <p:spPr>
          <a:xfrm>
            <a:off x="731520" y="196596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0F3D3E"/>
                </a:solidFill>
              </a:rPr>
              <a:t>JSX と props</a:t>
            </a:r>
            <a:endParaRPr lang="en-US" sz="1800" dirty="0"/>
          </a:p>
          <a:p>
            <a:pPr indent="0" marL="0">
              <a:spcAft>
                <a:spcPts val="600"/>
              </a:spcAft>
              <a:buNone/>
            </a:pPr>
            <a:r>
              <a:rPr lang="en-US" sz="1400" dirty="0">
                <a:solidFill>
                  <a:srgbClr val="1B1F2A"/>
                </a:solidFill>
              </a:rPr>
              <a:t>部品（コンポーネント）に値を渡して画面を組み立てる</a:t>
            </a:r>
            <a:endParaRPr lang="en-US" sz="1800" dirty="0"/>
          </a:p>
        </p:txBody>
      </p:sp>
      <p:sp>
        <p:nvSpPr>
          <p:cNvPr id="7" name="Shape 4"/>
          <p:cNvSpPr/>
          <p:nvPr/>
        </p:nvSpPr>
        <p:spPr>
          <a:xfrm>
            <a:off x="4297680" y="1828800"/>
            <a:ext cx="3474720" cy="1920240"/>
          </a:xfrm>
          <a:prstGeom prst="roundRect">
            <a:avLst>
              <a:gd name="adj" fmla="val 5714"/>
            </a:avLst>
          </a:prstGeom>
          <a:solidFill>
            <a:srgbClr val="EEF4F3"/>
          </a:solidFill>
          <a:ln w="12700">
            <a:solidFill>
              <a:srgbClr val="EEF4F3"/>
            </a:solidFill>
            <a:prstDash val="solid"/>
          </a:ln>
        </p:spPr>
      </p:sp>
      <p:sp>
        <p:nvSpPr>
          <p:cNvPr id="8" name="Text 5"/>
          <p:cNvSpPr txBox="1"/>
          <p:nvPr/>
        </p:nvSpPr>
        <p:spPr>
          <a:xfrm>
            <a:off x="4480560" y="196596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0F3D3E"/>
                </a:solidFill>
              </a:rPr>
              <a:t>state とイベント</a:t>
            </a:r>
            <a:endParaRPr lang="en-US" sz="1800" dirty="0"/>
          </a:p>
          <a:p>
            <a:pPr indent="0" marL="0">
              <a:spcAft>
                <a:spcPts val="600"/>
              </a:spcAft>
              <a:buNone/>
            </a:pPr>
            <a:r>
              <a:rPr lang="en-US" sz="1400" dirty="0">
                <a:solidFill>
                  <a:srgbClr val="1B1F2A"/>
                </a:solidFill>
              </a:rPr>
              <a:t>useState と 'use client'（この部品はブラウザで動かす、という宣言）</a:t>
            </a:r>
            <a:endParaRPr lang="en-US" sz="1800" dirty="0"/>
          </a:p>
        </p:txBody>
      </p:sp>
      <p:sp>
        <p:nvSpPr>
          <p:cNvPr id="9" name="Shape 6"/>
          <p:cNvSpPr/>
          <p:nvPr/>
        </p:nvSpPr>
        <p:spPr>
          <a:xfrm>
            <a:off x="8046720" y="1828800"/>
            <a:ext cx="3474720" cy="1920240"/>
          </a:xfrm>
          <a:prstGeom prst="roundRect">
            <a:avLst>
              <a:gd name="adj" fmla="val 5714"/>
            </a:avLst>
          </a:prstGeom>
          <a:solidFill>
            <a:srgbClr val="EEF4F3"/>
          </a:solidFill>
          <a:ln w="12700">
            <a:solidFill>
              <a:srgbClr val="EEF4F3"/>
            </a:solidFill>
            <a:prstDash val="solid"/>
          </a:ln>
        </p:spPr>
      </p:sp>
      <p:sp>
        <p:nvSpPr>
          <p:cNvPr id="10" name="Text 7"/>
          <p:cNvSpPr txBox="1"/>
          <p:nvPr/>
        </p:nvSpPr>
        <p:spPr>
          <a:xfrm>
            <a:off x="8229600" y="196596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0F3D3E"/>
                </a:solidFill>
              </a:rPr>
              <a:t>リストと条件表示</a:t>
            </a:r>
            <a:endParaRPr lang="en-US" sz="1800" dirty="0"/>
          </a:p>
          <a:p>
            <a:pPr indent="0" marL="0">
              <a:spcAft>
                <a:spcPts val="600"/>
              </a:spcAft>
              <a:buNone/>
            </a:pPr>
            <a:r>
              <a:rPr lang="en-US" sz="1400" dirty="0">
                <a:solidFill>
                  <a:srgbClr val="1B1F2A"/>
                </a:solidFill>
              </a:rPr>
              <a:t>map・key・三項演算子をおさらい</a:t>
            </a:r>
            <a:endParaRPr lang="en-US" sz="1800" dirty="0"/>
          </a:p>
        </p:txBody>
      </p:sp>
      <p:sp>
        <p:nvSpPr>
          <p:cNvPr id="11" name="Shape 8"/>
          <p:cNvSpPr/>
          <p:nvPr/>
        </p:nvSpPr>
        <p:spPr>
          <a:xfrm>
            <a:off x="548640" y="3977640"/>
            <a:ext cx="3474720" cy="1920240"/>
          </a:xfrm>
          <a:prstGeom prst="roundRect">
            <a:avLst>
              <a:gd name="adj" fmla="val 5714"/>
            </a:avLst>
          </a:prstGeom>
          <a:solidFill>
            <a:srgbClr val="EEF4F3"/>
          </a:solidFill>
          <a:ln w="12700">
            <a:solidFill>
              <a:srgbClr val="EEF4F3"/>
            </a:solidFill>
            <a:prstDash val="solid"/>
          </a:ln>
        </p:spPr>
      </p:sp>
      <p:sp>
        <p:nvSpPr>
          <p:cNvPr id="12" name="Text 9"/>
          <p:cNvSpPr txBox="1"/>
          <p:nvPr/>
        </p:nvSpPr>
        <p:spPr>
          <a:xfrm>
            <a:off x="731520" y="411480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0F3D3E"/>
                </a:solidFill>
              </a:rPr>
              <a:t>TODOアプリ</a:t>
            </a:r>
            <a:endParaRPr lang="en-US" sz="1800" dirty="0"/>
          </a:p>
          <a:p>
            <a:pPr indent="0" marL="0">
              <a:spcAft>
                <a:spcPts val="600"/>
              </a:spcAft>
              <a:buNone/>
            </a:pPr>
            <a:r>
              <a:rPr lang="en-US" sz="1400" dirty="0">
                <a:solidFill>
                  <a:srgbClr val="1B1F2A"/>
                </a:solidFill>
              </a:rPr>
              <a:t>フォーム → 保存 → ページ移動（ルーティング）・layout</a:t>
            </a:r>
            <a:endParaRPr lang="en-US" sz="1800" dirty="0"/>
          </a:p>
        </p:txBody>
      </p:sp>
      <p:sp>
        <p:nvSpPr>
          <p:cNvPr id="13" name="Shape 10"/>
          <p:cNvSpPr/>
          <p:nvPr/>
        </p:nvSpPr>
        <p:spPr>
          <a:xfrm>
            <a:off x="4297680" y="3977640"/>
            <a:ext cx="3474720" cy="1920240"/>
          </a:xfrm>
          <a:prstGeom prst="roundRect">
            <a:avLst>
              <a:gd name="adj" fmla="val 5714"/>
            </a:avLst>
          </a:prstGeom>
          <a:solidFill>
            <a:srgbClr val="EEF4F3"/>
          </a:solidFill>
          <a:ln w="12700">
            <a:solidFill>
              <a:srgbClr val="EEF4F3"/>
            </a:solidFill>
            <a:prstDash val="solid"/>
          </a:ln>
        </p:spPr>
      </p:sp>
      <p:sp>
        <p:nvSpPr>
          <p:cNvPr id="14" name="Text 11"/>
          <p:cNvSpPr txBox="1"/>
          <p:nvPr/>
        </p:nvSpPr>
        <p:spPr>
          <a:xfrm>
            <a:off x="4480560" y="4114800"/>
            <a:ext cx="3108960" cy="1645920"/>
          </a:xfrm>
          <a:prstGeom prst="rect">
            <a:avLst/>
          </a:prstGeom>
          <a:noFill/>
          <a:ln/>
        </p:spPr>
        <p:txBody>
          <a:bodyPr wrap="square" lIns="0" tIns="0" rIns="0" bIns="0" rtlCol="0" anchor="t"/>
          <a:lstStyle/>
          <a:p>
            <a:pPr indent="0" marL="0">
              <a:spcAft>
                <a:spcPts val="600"/>
              </a:spcAft>
              <a:buNone/>
            </a:pPr>
            <a:r>
              <a:rPr lang="en-US" sz="1800" b="1" dirty="0">
                <a:solidFill>
                  <a:srgbClr val="0F3D3E"/>
                </a:solidFill>
              </a:rPr>
              <a:t>Git / GitHub / PR</a:t>
            </a:r>
            <a:endParaRPr lang="en-US" sz="1800" dirty="0"/>
          </a:p>
          <a:p>
            <a:pPr indent="0" marL="0">
              <a:spcAft>
                <a:spcPts val="600"/>
              </a:spcAft>
              <a:buNone/>
            </a:pPr>
            <a:r>
              <a:rPr lang="en-US" sz="1400" dirty="0">
                <a:solidFill>
                  <a:srgbClr val="1B1F2A"/>
                </a:solidFill>
              </a:rPr>
              <a:t>ブランチを切って、PR で変更を出す</a:t>
            </a:r>
            <a:endParaRPr lang="en-US" sz="1800" dirty="0"/>
          </a:p>
        </p:txBody>
      </p:sp>
      <p:sp>
        <p:nvSpPr>
          <p:cNvPr id="15" name="Text 12"/>
          <p:cNvSpPr txBox="1"/>
          <p:nvPr/>
        </p:nvSpPr>
        <p:spPr>
          <a:xfrm>
            <a:off x="8046720" y="3977640"/>
            <a:ext cx="3566160" cy="1920240"/>
          </a:xfrm>
          <a:prstGeom prst="rect">
            <a:avLst/>
          </a:prstGeom>
          <a:noFill/>
          <a:ln/>
        </p:spPr>
        <p:txBody>
          <a:bodyPr wrap="square" lIns="0" tIns="0" rIns="0" bIns="0" rtlCol="0" anchor="ctr"/>
          <a:lstStyle/>
          <a:p>
            <a:pPr indent="0" marL="0">
              <a:buNone/>
            </a:pPr>
            <a:r>
              <a:rPr lang="en-US" sz="1500" b="1" dirty="0">
                <a:solidFill>
                  <a:srgbClr val="D4471F"/>
                </a:solidFill>
              </a:rPr>
              <a:t>ここで作る TODO アプリを、</a:t>
            </a:r>
            <a:endParaRPr lang="en-US" sz="1500" dirty="0"/>
          </a:p>
          <a:p>
            <a:pPr indent="0" marL="0">
              <a:buNone/>
            </a:pPr>
            <a:r>
              <a:rPr lang="en-US" sz="1500" b="1" dirty="0">
                <a:solidFill>
                  <a:srgbClr val="D4471F"/>
                </a:solidFill>
              </a:rPr>
              <a:t>Phase 2〜4 でテスト・自動化・公開していきます</a:t>
            </a:r>
            <a:endParaRPr lang="en-US" sz="15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1 の用語（略語と語源）</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14919B"/>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14919B"/>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14919B"/>
                    </a:solidFill>
                  </a:tcPr>
                </a:tc>
              </a:tr>
              <a:tr h="0">
                <a:tc>
                  <a:txBody>
                    <a:bodyPr/>
                    <a:lstStyle/>
                    <a:p>
                      <a:pPr indent="0" marL="0">
                        <a:buNone/>
                      </a:pPr>
                      <a:r>
                        <a:rPr lang="en-US" sz="1600" b="1" dirty="0">
                          <a:solidFill>
                            <a:srgbClr val="14919B"/>
                          </a:solidFill>
                        </a:rPr>
                        <a:t>JSX</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JavaScript XML</a:t>
                      </a:r>
                      <a:endParaRPr lang="en-US" sz="1400" dirty="0"/>
                    </a:p>
                    <a:p>
                      <a:pPr indent="0" marL="0">
                        <a:buNone/>
                      </a:pPr>
                      <a:r>
                        <a:rPr lang="en-US" sz="1400" dirty="0">
                          <a:solidFill>
                            <a:srgbClr val="1B1F2A"/>
                          </a:solidFill>
                        </a:rPr>
                        <a:t>XML＝eXtensible Markup Language（拡張できるマークアップ言語）。JS の中に XML 風のタグを書ける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return の中に &lt;h1&gt;…&lt;/h1&gt; のようなタグを書く React の書き方</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14919B"/>
                          </a:solidFill>
                        </a:rPr>
                        <a:t>props</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properties</a:t>
                      </a:r>
                      <a:endParaRPr lang="en-US" sz="1400" dirty="0"/>
                    </a:p>
                    <a:p>
                      <a:pPr indent="0" marL="0">
                        <a:buNone/>
                      </a:pPr>
                      <a:r>
                        <a:rPr lang="en-US" sz="1400" dirty="0">
                          <a:solidFill>
                            <a:srgbClr val="1B1F2A"/>
                          </a:solidFill>
                        </a:rPr>
                        <a:t>「プロパティ（性質・属性）」の略。HTML の属性（href など）と同じ発想</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親から子の部品へ渡す値。&lt;Header title="TODO" /&gt; の title</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919B"/>
                          </a:solidFill>
                        </a:rPr>
                        <a:t>state</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state</a:t>
                      </a:r>
                      <a:endParaRPr lang="en-US" sz="1400" dirty="0"/>
                    </a:p>
                    <a:p>
                      <a:pPr indent="0" marL="0">
                        <a:buNone/>
                      </a:pPr>
                      <a:r>
                        <a:rPr lang="en-US" sz="1400" dirty="0">
                          <a:solidFill>
                            <a:srgbClr val="1B1F2A"/>
                          </a:solidFill>
                        </a:rPr>
                        <a:t>英語で「状態」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画面の中で変わる値。useState で持ち、変えると画面が描き直される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14919B"/>
                          </a:solidFill>
                        </a:rPr>
                        <a:t>TODO</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to do</a:t>
                      </a:r>
                      <a:endParaRPr lang="en-US" sz="1400" dirty="0"/>
                    </a:p>
                    <a:p>
                      <a:pPr indent="0" marL="0">
                        <a:buNone/>
                      </a:pPr>
                      <a:r>
                        <a:rPr lang="en-US" sz="1400" dirty="0">
                          <a:solidFill>
                            <a:srgbClr val="1B1F2A"/>
                          </a:solidFill>
                        </a:rPr>
                        <a:t>「やるべきこと」。コードにも「// TODO: あとで直す」とメモする習慣がある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本編で作り続けるアプリの題材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4919B"/>
                          </a:solidFill>
                        </a:rPr>
                        <a:t>Git / GitHub</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略語ではない／Git ＋ hub</a:t>
                      </a:r>
                      <a:endParaRPr lang="en-US" sz="1400" dirty="0"/>
                    </a:p>
                    <a:p>
                      <a:pPr indent="0" marL="0">
                        <a:buNone/>
                      </a:pPr>
                      <a:r>
                        <a:rPr lang="en-US" sz="1400" dirty="0">
                          <a:solidFill>
                            <a:srgbClr val="1B1F2A"/>
                          </a:solidFill>
                        </a:rPr>
                        <a:t>Git は Linux の作者 Linus Torvalds が2005年に作成。英国の俗語で「まぬけ」。hub＝車輪の中心</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Git＝変更の履歴を記録するツール。GitHub＝それをネットで共有する場所</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14919B"/>
                          </a:solidFill>
                        </a:rPr>
                        <a:t>PR</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Pull Request</a:t>
                      </a:r>
                      <a:endParaRPr lang="en-US" sz="1400" dirty="0"/>
                    </a:p>
                    <a:p>
                      <a:pPr indent="0" marL="0">
                        <a:buNone/>
                      </a:pPr>
                      <a:r>
                        <a:rPr lang="en-US" sz="1400" dirty="0">
                          <a:solidFill>
                            <a:srgbClr val="1B1F2A"/>
                          </a:solidFill>
                        </a:rPr>
                        <a:t>「私の変更を pull（引き込んで）ください」という request（お願い）</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ブランチの変更を main に入れる前に、見てもらうための申請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2 テスト：なぜテストを書くの？</a:t>
            </a:r>
            <a:endParaRPr lang="en-US" sz="3000" dirty="0"/>
          </a:p>
        </p:txBody>
      </p:sp>
      <p:sp>
        <p:nvSpPr>
          <p:cNvPr id="4" name="Shape 1"/>
          <p:cNvSpPr/>
          <p:nvPr/>
        </p:nvSpPr>
        <p:spPr>
          <a:xfrm>
            <a:off x="548640" y="1371600"/>
            <a:ext cx="5120640" cy="4663440"/>
          </a:xfrm>
          <a:prstGeom prst="roundRect">
            <a:avLst>
              <a:gd name="adj" fmla="val 2353"/>
            </a:avLst>
          </a:prstGeom>
          <a:solidFill>
            <a:srgbClr val="FDF3E3"/>
          </a:solidFill>
          <a:ln w="12700">
            <a:solidFill>
              <a:srgbClr val="FDF3E3"/>
            </a:solidFill>
            <a:prstDash val="solid"/>
          </a:ln>
        </p:spPr>
      </p:sp>
      <p:sp>
        <p:nvSpPr>
          <p:cNvPr id="5" name="Text 2"/>
          <p:cNvSpPr txBox="1"/>
          <p:nvPr/>
        </p:nvSpPr>
        <p:spPr>
          <a:xfrm>
            <a:off x="731520" y="1508760"/>
            <a:ext cx="4754880" cy="4389120"/>
          </a:xfrm>
          <a:prstGeom prst="rect">
            <a:avLst/>
          </a:prstGeom>
          <a:noFill/>
          <a:ln/>
        </p:spPr>
        <p:txBody>
          <a:bodyPr wrap="square" lIns="0" tIns="0" rIns="0" bIns="0" rtlCol="0" anchor="t"/>
          <a:lstStyle/>
          <a:p>
            <a:pPr indent="0" marL="0">
              <a:spcAft>
                <a:spcPts val="600"/>
              </a:spcAft>
              <a:buNone/>
            </a:pPr>
            <a:r>
              <a:rPr lang="en-US" sz="1800" b="1" dirty="0">
                <a:solidFill>
                  <a:srgbClr val="C47F1A"/>
                </a:solidFill>
              </a:rPr>
              <a:t>テストを書く理由</a:t>
            </a:r>
            <a:endParaRPr lang="en-US" sz="1800" dirty="0"/>
          </a:p>
          <a:p>
            <a:pPr indent="0" marL="0">
              <a:spcAft>
                <a:spcPts val="600"/>
              </a:spcAft>
              <a:buNone/>
            </a:pPr>
            <a:r>
              <a:rPr lang="en-US" sz="1500" dirty="0">
                <a:solidFill>
                  <a:srgbClr val="1B1F2A"/>
                </a:solidFill>
              </a:rPr>
              <a:t>・画面を手で触って確かめるのは、毎回やると大変で見落としも出る</a:t>
            </a:r>
            <a:endParaRPr lang="en-US" sz="1800" dirty="0"/>
          </a:p>
          <a:p>
            <a:pPr indent="0" marL="0">
              <a:spcAft>
                <a:spcPts val="600"/>
              </a:spcAft>
              <a:buNone/>
            </a:pPr>
            <a:r>
              <a:rPr lang="en-US" sz="1500" dirty="0">
                <a:solidFill>
                  <a:srgbClr val="1B1F2A"/>
                </a:solidFill>
              </a:rPr>
              <a:t>・1か所直したら別の場所が壊れた（デグレード＝degrade「品質が下がる」）にすぐ気づける</a:t>
            </a:r>
            <a:endParaRPr lang="en-US" sz="1800" dirty="0"/>
          </a:p>
          <a:p>
            <a:pPr indent="0" marL="0">
              <a:spcAft>
                <a:spcPts val="600"/>
              </a:spcAft>
              <a:buNone/>
            </a:pPr>
            <a:r>
              <a:rPr lang="en-US" sz="1500" dirty="0">
                <a:solidFill>
                  <a:srgbClr val="1B1F2A"/>
                </a:solidFill>
              </a:rPr>
              <a:t>・テストがあれば、Phase 3 で GitHub Actions に「毎回自動で」確かめてもらえる</a:t>
            </a:r>
            <a:endParaRPr lang="en-US" sz="1800" dirty="0"/>
          </a:p>
          <a:p>
            <a:pPr indent="0" marL="0">
              <a:spcAft>
                <a:spcPts val="600"/>
              </a:spcAft>
              <a:buNone/>
            </a:pPr>
            <a:r>
              <a:rPr lang="en-US" sz="1500" dirty="0">
                <a:solidFill>
                  <a:srgbClr val="1B1F2A"/>
                </a:solidFill>
              </a:rPr>
              <a:t>・テストは「この部品はこう動くはず」という説明書にもなる</a:t>
            </a:r>
            <a:endParaRPr lang="en-US" sz="1800" dirty="0"/>
          </a:p>
        </p:txBody>
      </p:sp>
      <p:sp>
        <p:nvSpPr>
          <p:cNvPr id="6" name="Shape 3"/>
          <p:cNvSpPr/>
          <p:nvPr/>
        </p:nvSpPr>
        <p:spPr>
          <a:xfrm>
            <a:off x="6629400" y="1463040"/>
            <a:ext cx="1371600" cy="1097280"/>
          </a:xfrm>
          <a:prstGeom prst="roundRect">
            <a:avLst>
              <a:gd name="adj" fmla="val 8333"/>
            </a:avLst>
          </a:prstGeom>
          <a:solidFill>
            <a:srgbClr val="D4471F"/>
          </a:solidFill>
          <a:ln w="12700">
            <a:solidFill>
              <a:srgbClr val="D4471F"/>
            </a:solidFill>
            <a:prstDash val="solid"/>
          </a:ln>
        </p:spPr>
      </p:sp>
      <p:sp>
        <p:nvSpPr>
          <p:cNvPr id="7" name="Text 4"/>
          <p:cNvSpPr txBox="1"/>
          <p:nvPr/>
        </p:nvSpPr>
        <p:spPr>
          <a:xfrm>
            <a:off x="6702552" y="1463040"/>
            <a:ext cx="1225296" cy="1097280"/>
          </a:xfrm>
          <a:prstGeom prst="rect">
            <a:avLst/>
          </a:prstGeom>
          <a:noFill/>
          <a:ln/>
        </p:spPr>
        <p:txBody>
          <a:bodyPr wrap="square" lIns="0" tIns="0" rIns="0" bIns="0" rtlCol="0" anchor="ctr"/>
          <a:lstStyle/>
          <a:p>
            <a:pPr algn="ctr" indent="0" marL="0">
              <a:buNone/>
            </a:pPr>
            <a:r>
              <a:rPr lang="en-US" sz="1500" b="1" dirty="0">
                <a:solidFill>
                  <a:srgbClr val="FFFFFF"/>
                </a:solidFill>
              </a:rPr>
              <a:t>E2E テスト</a:t>
            </a:r>
            <a:endParaRPr lang="en-US" sz="1500" dirty="0"/>
          </a:p>
        </p:txBody>
      </p:sp>
      <p:sp>
        <p:nvSpPr>
          <p:cNvPr id="8" name="Shape 5"/>
          <p:cNvSpPr/>
          <p:nvPr/>
        </p:nvSpPr>
        <p:spPr>
          <a:xfrm>
            <a:off x="6263640" y="2788920"/>
            <a:ext cx="2103120" cy="1097280"/>
          </a:xfrm>
          <a:prstGeom prst="roundRect">
            <a:avLst>
              <a:gd name="adj" fmla="val 8333"/>
            </a:avLst>
          </a:prstGeom>
          <a:solidFill>
            <a:srgbClr val="C47F1A"/>
          </a:solidFill>
          <a:ln w="12700">
            <a:solidFill>
              <a:srgbClr val="C47F1A"/>
            </a:solidFill>
            <a:prstDash val="solid"/>
          </a:ln>
        </p:spPr>
      </p:sp>
      <p:sp>
        <p:nvSpPr>
          <p:cNvPr id="9" name="Text 6"/>
          <p:cNvSpPr txBox="1"/>
          <p:nvPr/>
        </p:nvSpPr>
        <p:spPr>
          <a:xfrm>
            <a:off x="6336792" y="2788920"/>
            <a:ext cx="1956816" cy="1097280"/>
          </a:xfrm>
          <a:prstGeom prst="rect">
            <a:avLst/>
          </a:prstGeom>
          <a:noFill/>
          <a:ln/>
        </p:spPr>
        <p:txBody>
          <a:bodyPr wrap="square" lIns="0" tIns="0" rIns="0" bIns="0" rtlCol="0" anchor="ctr"/>
          <a:lstStyle/>
          <a:p>
            <a:pPr algn="ctr" indent="0" marL="0">
              <a:buNone/>
            </a:pPr>
            <a:r>
              <a:rPr lang="en-US" sz="1500" b="1" dirty="0">
                <a:solidFill>
                  <a:srgbClr val="FFFFFF"/>
                </a:solidFill>
              </a:rPr>
              <a:t>結合テスト</a:t>
            </a:r>
            <a:endParaRPr lang="en-US" sz="1500" dirty="0"/>
          </a:p>
        </p:txBody>
      </p:sp>
      <p:sp>
        <p:nvSpPr>
          <p:cNvPr id="10" name="Shape 7"/>
          <p:cNvSpPr/>
          <p:nvPr/>
        </p:nvSpPr>
        <p:spPr>
          <a:xfrm>
            <a:off x="5897880" y="4114800"/>
            <a:ext cx="2834640" cy="1097280"/>
          </a:xfrm>
          <a:prstGeom prst="roundRect">
            <a:avLst>
              <a:gd name="adj" fmla="val 8333"/>
            </a:avLst>
          </a:prstGeom>
          <a:solidFill>
            <a:srgbClr val="14919B"/>
          </a:solidFill>
          <a:ln w="12700">
            <a:solidFill>
              <a:srgbClr val="14919B"/>
            </a:solidFill>
            <a:prstDash val="solid"/>
          </a:ln>
        </p:spPr>
      </p:sp>
      <p:sp>
        <p:nvSpPr>
          <p:cNvPr id="11" name="Text 8"/>
          <p:cNvSpPr txBox="1"/>
          <p:nvPr/>
        </p:nvSpPr>
        <p:spPr>
          <a:xfrm>
            <a:off x="5971032" y="4114800"/>
            <a:ext cx="2688336" cy="1097280"/>
          </a:xfrm>
          <a:prstGeom prst="rect">
            <a:avLst/>
          </a:prstGeom>
          <a:noFill/>
          <a:ln/>
        </p:spPr>
        <p:txBody>
          <a:bodyPr wrap="square" lIns="0" tIns="0" rIns="0" bIns="0" rtlCol="0" anchor="ctr"/>
          <a:lstStyle/>
          <a:p>
            <a:pPr algn="ctr" indent="0" marL="0">
              <a:buNone/>
            </a:pPr>
            <a:r>
              <a:rPr lang="en-US" sz="1500" b="1" dirty="0">
                <a:solidFill>
                  <a:srgbClr val="FFFFFF"/>
                </a:solidFill>
              </a:rPr>
              <a:t>単体テスト</a:t>
            </a:r>
            <a:endParaRPr lang="en-US" sz="1500" dirty="0"/>
          </a:p>
        </p:txBody>
      </p:sp>
      <p:sp>
        <p:nvSpPr>
          <p:cNvPr id="12" name="Text 9"/>
          <p:cNvSpPr txBox="1"/>
          <p:nvPr/>
        </p:nvSpPr>
        <p:spPr>
          <a:xfrm>
            <a:off x="8915400" y="1463040"/>
            <a:ext cx="2697480" cy="1097280"/>
          </a:xfrm>
          <a:prstGeom prst="rect">
            <a:avLst/>
          </a:prstGeom>
          <a:noFill/>
          <a:ln/>
        </p:spPr>
        <p:txBody>
          <a:bodyPr wrap="square" lIns="0" tIns="0" rIns="0" bIns="0" rtlCol="0" anchor="ctr"/>
          <a:lstStyle/>
          <a:p>
            <a:pPr indent="0" marL="0">
              <a:buNone/>
            </a:pPr>
            <a:r>
              <a:rPr lang="en-US" sz="1300" b="1" dirty="0">
                <a:solidFill>
                  <a:srgbClr val="1B1F2A"/>
                </a:solidFill>
              </a:rPr>
              <a:t>End to End（端から端まで）</a:t>
            </a:r>
            <a:endParaRPr lang="en-US" sz="1300" dirty="0"/>
          </a:p>
          <a:p>
            <a:pPr indent="0" marL="0">
              <a:buNone/>
            </a:pPr>
            <a:r>
              <a:rPr lang="en-US" sz="1300" dirty="0">
                <a:solidFill>
                  <a:srgbClr val="1B1F2A"/>
                </a:solidFill>
              </a:rPr>
              <a:t>ブラウザで最初から最後まで操作。Playwright（発展編 a4）</a:t>
            </a:r>
            <a:endParaRPr lang="en-US" sz="1300" dirty="0"/>
          </a:p>
        </p:txBody>
      </p:sp>
      <p:sp>
        <p:nvSpPr>
          <p:cNvPr id="13" name="Text 10"/>
          <p:cNvSpPr txBox="1"/>
          <p:nvPr/>
        </p:nvSpPr>
        <p:spPr>
          <a:xfrm>
            <a:off x="8915400" y="2788920"/>
            <a:ext cx="2697480" cy="1097280"/>
          </a:xfrm>
          <a:prstGeom prst="rect">
            <a:avLst/>
          </a:prstGeom>
          <a:noFill/>
          <a:ln/>
        </p:spPr>
        <p:txBody>
          <a:bodyPr wrap="square" lIns="0" tIns="0" rIns="0" bIns="0" rtlCol="0" anchor="ctr"/>
          <a:lstStyle/>
          <a:p>
            <a:pPr indent="0" marL="0">
              <a:buNone/>
            </a:pPr>
            <a:r>
              <a:rPr lang="en-US" sz="1300" b="1" dirty="0">
                <a:solidFill>
                  <a:srgbClr val="1B1F2A"/>
                </a:solidFill>
              </a:rPr>
              <a:t>integration（統合）</a:t>
            </a:r>
            <a:endParaRPr lang="en-US" sz="1300" dirty="0"/>
          </a:p>
          <a:p>
            <a:pPr indent="0" marL="0">
              <a:buNone/>
            </a:pPr>
            <a:r>
              <a:rPr lang="en-US" sz="1300" dirty="0">
                <a:solidFill>
                  <a:srgbClr val="1B1F2A"/>
                </a:solidFill>
              </a:rPr>
              <a:t>部品を組み合わせて確かめる。Testing Library で TodoApp</a:t>
            </a:r>
            <a:endParaRPr lang="en-US" sz="1300" dirty="0"/>
          </a:p>
        </p:txBody>
      </p:sp>
      <p:sp>
        <p:nvSpPr>
          <p:cNvPr id="14" name="Text 11"/>
          <p:cNvSpPr txBox="1"/>
          <p:nvPr/>
        </p:nvSpPr>
        <p:spPr>
          <a:xfrm>
            <a:off x="8915400" y="4114800"/>
            <a:ext cx="2697480" cy="1097280"/>
          </a:xfrm>
          <a:prstGeom prst="rect">
            <a:avLst/>
          </a:prstGeom>
          <a:noFill/>
          <a:ln/>
        </p:spPr>
        <p:txBody>
          <a:bodyPr wrap="square" lIns="0" tIns="0" rIns="0" bIns="0" rtlCol="0" anchor="ctr"/>
          <a:lstStyle/>
          <a:p>
            <a:pPr indent="0" marL="0">
              <a:buNone/>
            </a:pPr>
            <a:r>
              <a:rPr lang="en-US" sz="1300" b="1" dirty="0">
                <a:solidFill>
                  <a:srgbClr val="1B1F2A"/>
                </a:solidFill>
              </a:rPr>
              <a:t>unit（単位）</a:t>
            </a:r>
            <a:endParaRPr lang="en-US" sz="1300" dirty="0"/>
          </a:p>
          <a:p>
            <a:pPr indent="0" marL="0">
              <a:buNone/>
            </a:pPr>
            <a:r>
              <a:rPr lang="en-US" sz="1300" dirty="0">
                <a:solidFill>
                  <a:srgbClr val="1B1F2A"/>
                </a:solidFill>
              </a:rPr>
              <a:t>関数1つ・部品1つを確かめる。Jest で lib/todos.js</a:t>
            </a:r>
            <a:endParaRPr lang="en-US" sz="1300" dirty="0"/>
          </a:p>
        </p:txBody>
      </p:sp>
      <p:sp>
        <p:nvSpPr>
          <p:cNvPr id="15" name="Text 12"/>
          <p:cNvSpPr txBox="1"/>
          <p:nvPr/>
        </p:nvSpPr>
        <p:spPr>
          <a:xfrm>
            <a:off x="5943600" y="5532120"/>
            <a:ext cx="5669280" cy="502920"/>
          </a:xfrm>
          <a:prstGeom prst="rect">
            <a:avLst/>
          </a:prstGeom>
          <a:noFill/>
          <a:ln/>
        </p:spPr>
        <p:txBody>
          <a:bodyPr wrap="square" lIns="0" tIns="0" rIns="0" bIns="0" rtlCol="0" anchor="ctr"/>
          <a:lstStyle/>
          <a:p>
            <a:pPr indent="0" marL="0">
              <a:buNone/>
            </a:pPr>
            <a:r>
              <a:rPr lang="en-US" sz="1400" dirty="0">
                <a:solidFill>
                  <a:srgbClr val="5A6B6B"/>
                </a:solidFill>
              </a:rPr>
              <a:t>下ほど速くてたくさん書ける／上ほど本物に近いが遅い。本編は単体と結合が中心</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2 テスト：6コマでやること</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22960"/>
                <a:gridCol w="3200400"/>
                <a:gridCol w="7040880"/>
              </a:tblGrid>
              <a:tr h="0">
                <a:tc>
                  <a:txBody>
                    <a:bodyPr/>
                    <a:lstStyle/>
                    <a:p>
                      <a:pPr indent="0" marL="0">
                        <a:buNone/>
                      </a:pPr>
                      <a:r>
                        <a:rPr lang="en-US" sz="1400" b="1" dirty="0">
                          <a:solidFill>
                            <a:srgbClr val="FFFFFF"/>
                          </a:solidFill>
                        </a:rPr>
                        <a:t>コマ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C47F1A"/>
                    </a:solidFill>
                  </a:tcPr>
                </a:tc>
                <a:tc>
                  <a:txBody>
                    <a:bodyPr/>
                    <a:lstStyle/>
                    <a:p>
                      <a:pPr indent="0" marL="0">
                        <a:buNone/>
                      </a:pPr>
                      <a:r>
                        <a:rPr lang="en-US" sz="1400" b="1" dirty="0">
                          <a:solidFill>
                            <a:srgbClr val="FFFFFF"/>
                          </a:solidFill>
                        </a:rPr>
                        <a:t>タイトル</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C47F1A"/>
                    </a:solidFill>
                  </a:tcPr>
                </a:tc>
                <a:tc>
                  <a:txBody>
                    <a:bodyPr/>
                    <a:lstStyle/>
                    <a:p>
                      <a:pPr indent="0" marL="0">
                        <a:buNone/>
                      </a:pPr>
                      <a:r>
                        <a:rPr lang="en-US" sz="1400" b="1" dirty="0">
                          <a:solidFill>
                            <a:srgbClr val="FFFFFF"/>
                          </a:solidFill>
                        </a:rPr>
                        <a:t>できるようになること</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C47F1A"/>
                    </a:solidFill>
                  </a:tcPr>
                </a:tc>
              </a:tr>
              <a:tr h="0">
                <a:tc>
                  <a:txBody>
                    <a:bodyPr/>
                    <a:lstStyle/>
                    <a:p>
                      <a:pPr indent="0" marL="0">
                        <a:buNone/>
                      </a:pPr>
                      <a:r>
                        <a:rPr lang="en-US" sz="1600" b="1" dirty="0">
                          <a:solidFill>
                            <a:srgbClr val="C47F1A"/>
                          </a:solidFill>
                        </a:rPr>
                        <a:t>08</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テスト入門と Jest の導入</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テストの種類を知り、Jest を入れて npm test で最初のテストを動かす。expect と「マッチャー」（toBe / toEqual）で結果を比べる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C47F1A"/>
                          </a:solidFill>
                        </a:rPr>
                        <a:t>09</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Jest 基礎（関数の単体テスト）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TODO の追加・完了・削除を「純粋関数」（同じ入力なら必ず同じ出力）に切り出し、describe / test.each で整理してテスト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C47F1A"/>
                          </a:solidFill>
                        </a:rPr>
                        <a:t>10</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Testing Library ①（表示）</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render で部品を表示し、getByRole（ボタン・見出しなどの「役割」）で要素を探して、正しく表示されたか確かめる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C47F1A"/>
                          </a:solidFill>
                        </a:rPr>
                        <a:t>11</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Testing Library ②（操作）</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user-event で入力・クリックを再現。jest.fn()（呼ばれたか記録する偽の関数）で「正しく呼ばれたか」を確かめる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C47F1A"/>
                          </a:solidFill>
                        </a:rPr>
                        <a:t>12</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モックと非同期のテスト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ページ移動（next/navigation）や通信（fetch）を偽物に置き換え、成功・失敗や「あとから変わる画面」をテスト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C47F1A"/>
                          </a:solidFill>
                        </a:rPr>
                        <a:t>13</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カバレッジとテスト戦略</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テストされていない行を見つけ、基準を下回ったら失敗させる。Next.js のどこを何でテストするか決める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2 の用語（略語と語源）</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C47F1A"/>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C47F1A"/>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C47F1A"/>
                    </a:solidFill>
                  </a:tcPr>
                </a:tc>
              </a:tr>
              <a:tr h="0">
                <a:tc>
                  <a:txBody>
                    <a:bodyPr/>
                    <a:lstStyle/>
                    <a:p>
                      <a:pPr indent="0" marL="0">
                        <a:buNone/>
                      </a:pPr>
                      <a:r>
                        <a:rPr lang="en-US" sz="1600" b="1" dirty="0">
                          <a:solidFill>
                            <a:srgbClr val="C47F1A"/>
                          </a:solidFill>
                        </a:rPr>
                        <a:t>Jest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略語ではない</a:t>
                      </a:r>
                      <a:endParaRPr lang="en-US" sz="1400" dirty="0"/>
                    </a:p>
                    <a:p>
                      <a:pPr indent="0" marL="0">
                        <a:buNone/>
                      </a:pPr>
                      <a:r>
                        <a:rPr lang="en-US" sz="1400" dirty="0">
                          <a:solidFill>
                            <a:srgbClr val="1B1F2A"/>
                          </a:solidFill>
                        </a:rPr>
                        <a:t>英語で「冗談・おふざけ」。Facebook（現 Meta）が開発し、「楽しい JavaScript テスト」を掲げている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テストを実行するツール。npm test で動く</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C47F1A"/>
                          </a:solidFill>
                        </a:rPr>
                        <a:t>RTL</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React Testing Library</a:t>
                      </a:r>
                      <a:endParaRPr lang="en-US" sz="1400" dirty="0"/>
                    </a:p>
                    <a:p>
                      <a:pPr indent="0" marL="0">
                        <a:buNone/>
                      </a:pPr>
                      <a:r>
                        <a:rPr lang="en-US" sz="1400" dirty="0">
                          <a:solidFill>
                            <a:srgbClr val="1B1F2A"/>
                          </a:solidFill>
                        </a:rPr>
                        <a:t>library は「図書館」→ プログラムでは「便利な部品を集めたもの」</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部品を画面に表示し、ユーザーと同じ目線（ボタン・文字）で確かめる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C47F1A"/>
                          </a:solidFill>
                        </a:rPr>
                        <a:t>DOM / jsdom</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Document Object Model</a:t>
                      </a:r>
                      <a:endParaRPr lang="en-US" sz="1400" dirty="0"/>
                    </a:p>
                    <a:p>
                      <a:pPr indent="0" marL="0">
                        <a:buNone/>
                      </a:pPr>
                      <a:r>
                        <a:rPr lang="en-US" sz="1400" dirty="0">
                          <a:solidFill>
                            <a:srgbClr val="1B1F2A"/>
                          </a:solidFill>
                        </a:rPr>
                        <a:t>HTML を JS から操作できる「木の形」のデータ。jsdom は JS で作った「にせブラウザ」</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Jest はブラウザなしで動くので、jsdom の上に画面を作ってテストする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C47F1A"/>
                          </a:solidFill>
                        </a:rPr>
                        <a:t>E2E</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End to End</a:t>
                      </a:r>
                      <a:endParaRPr lang="en-US" sz="1400" dirty="0"/>
                    </a:p>
                    <a:p>
                      <a:pPr indent="0" marL="0">
                        <a:buNone/>
                      </a:pPr>
                      <a:r>
                        <a:rPr lang="en-US" sz="1400" dirty="0">
                          <a:solidFill>
                            <a:srgbClr val="1B1F2A"/>
                          </a:solidFill>
                        </a:rPr>
                        <a:t>「端から端まで」。画面操作からサーバまで、本物どおりに通して確かめる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本編では扱わず、発展編 a4（Playwright）で体験する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C47F1A"/>
                          </a:solidFill>
                        </a:rPr>
                        <a:t>mock</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mock</a:t>
                      </a:r>
                      <a:endParaRPr lang="en-US" sz="1400" dirty="0"/>
                    </a:p>
                    <a:p>
                      <a:pPr indent="0" marL="0">
                        <a:buNone/>
                      </a:pPr>
                      <a:r>
                        <a:rPr lang="en-US" sz="1400" dirty="0">
                          <a:solidFill>
                            <a:srgbClr val="1B1F2A"/>
                          </a:solidFill>
                        </a:rPr>
                        <a:t>英語で「模造品・まがいもの」。mock-up（模型）と同じ語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通信や画面遷移を偽物に置き換え、テストを速く・安定させる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C47F1A"/>
                          </a:solidFill>
                        </a:rPr>
                        <a:t>coverage</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coverage</a:t>
                      </a:r>
                      <a:endParaRPr lang="en-US" sz="1400" dirty="0"/>
                    </a:p>
                    <a:p>
                      <a:pPr indent="0" marL="0">
                        <a:buNone/>
                      </a:pPr>
                      <a:r>
                        <a:rPr lang="en-US" sz="1400" dirty="0">
                          <a:solidFill>
                            <a:srgbClr val="1B1F2A"/>
                          </a:solidFill>
                        </a:rPr>
                        <a:t>英語で「覆う範囲」。保険の「補償範囲」と同じ語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テストで実行された行の割合。テストされていない場所を見つける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3 GitHub Actions：自動チェックのしくみ</a:t>
            </a:r>
            <a:endParaRPr lang="en-US" sz="3000" dirty="0"/>
          </a:p>
        </p:txBody>
      </p:sp>
      <p:sp>
        <p:nvSpPr>
          <p:cNvPr id="4" name="Shape 1"/>
          <p:cNvSpPr/>
          <p:nvPr/>
        </p:nvSpPr>
        <p:spPr>
          <a:xfrm>
            <a:off x="548640" y="1280160"/>
            <a:ext cx="5852160" cy="640080"/>
          </a:xfrm>
          <a:prstGeom prst="roundRect">
            <a:avLst>
              <a:gd name="adj" fmla="val 14286"/>
            </a:avLst>
          </a:prstGeom>
          <a:solidFill>
            <a:srgbClr val="EEE8FD"/>
          </a:solidFill>
          <a:ln w="12700">
            <a:solidFill>
              <a:srgbClr val="6A4BE0"/>
            </a:solidFill>
            <a:prstDash val="solid"/>
          </a:ln>
        </p:spPr>
      </p:sp>
      <p:sp>
        <p:nvSpPr>
          <p:cNvPr id="5" name="Text 2"/>
          <p:cNvSpPr txBox="1"/>
          <p:nvPr/>
        </p:nvSpPr>
        <p:spPr>
          <a:xfrm>
            <a:off x="621792" y="1280160"/>
            <a:ext cx="5705856" cy="640080"/>
          </a:xfrm>
          <a:prstGeom prst="rect">
            <a:avLst/>
          </a:prstGeom>
          <a:noFill/>
          <a:ln/>
        </p:spPr>
        <p:txBody>
          <a:bodyPr wrap="square" lIns="0" tIns="0" rIns="0" bIns="0" rtlCol="0" anchor="ctr"/>
          <a:lstStyle/>
          <a:p>
            <a:pPr algn="ctr" indent="0" marL="0">
              <a:buNone/>
            </a:pPr>
            <a:r>
              <a:rPr lang="en-US" sz="1500" b="1" dirty="0">
                <a:solidFill>
                  <a:srgbClr val="6A4BE0"/>
                </a:solidFill>
              </a:rPr>
              <a:t>きっかけ（イベント）：PR を出す／main に push する</a:t>
            </a:r>
            <a:endParaRPr lang="en-US" sz="1500" dirty="0"/>
          </a:p>
        </p:txBody>
      </p:sp>
      <p:sp>
        <p:nvSpPr>
          <p:cNvPr id="6" name="Shape 3"/>
          <p:cNvSpPr/>
          <p:nvPr/>
        </p:nvSpPr>
        <p:spPr>
          <a:xfrm>
            <a:off x="3291840" y="1965960"/>
            <a:ext cx="365760" cy="320040"/>
          </a:xfrm>
          <a:prstGeom prst="downArrow">
            <a:avLst/>
          </a:prstGeom>
          <a:solidFill>
            <a:srgbClr val="6A4BE0"/>
          </a:solidFill>
          <a:ln w="12700">
            <a:solidFill>
              <a:srgbClr val="6A4BE0"/>
            </a:solidFill>
            <a:prstDash val="solid"/>
          </a:ln>
        </p:spPr>
      </p:sp>
      <p:sp>
        <p:nvSpPr>
          <p:cNvPr id="7" name="Shape 4"/>
          <p:cNvSpPr/>
          <p:nvPr/>
        </p:nvSpPr>
        <p:spPr>
          <a:xfrm>
            <a:off x="548640" y="2331720"/>
            <a:ext cx="5852160" cy="3429000"/>
          </a:xfrm>
          <a:prstGeom prst="roundRect">
            <a:avLst>
              <a:gd name="adj" fmla="val 2667"/>
            </a:avLst>
          </a:prstGeom>
          <a:solidFill>
            <a:srgbClr val="F5F2FE"/>
          </a:solidFill>
          <a:ln w="12700">
            <a:solidFill>
              <a:srgbClr val="6A4BE0"/>
            </a:solidFill>
            <a:prstDash val="solid"/>
          </a:ln>
        </p:spPr>
      </p:sp>
      <p:sp>
        <p:nvSpPr>
          <p:cNvPr id="8" name="Text 5"/>
          <p:cNvSpPr txBox="1"/>
          <p:nvPr/>
        </p:nvSpPr>
        <p:spPr>
          <a:xfrm>
            <a:off x="731520" y="2423160"/>
            <a:ext cx="5486400" cy="365760"/>
          </a:xfrm>
          <a:prstGeom prst="rect">
            <a:avLst/>
          </a:prstGeom>
          <a:noFill/>
          <a:ln/>
        </p:spPr>
        <p:txBody>
          <a:bodyPr wrap="square" lIns="0" tIns="0" rIns="0" bIns="0" rtlCol="0" anchor="ctr"/>
          <a:lstStyle/>
          <a:p>
            <a:pPr indent="0" marL="0">
              <a:buNone/>
            </a:pPr>
            <a:r>
              <a:rPr lang="en-US" sz="1500" b="1" dirty="0">
                <a:solidFill>
                  <a:srgbClr val="6A4BE0"/>
                </a:solidFill>
              </a:rPr>
              <a:t>ワークフロー（.github/workflows/ci.yml）</a:t>
            </a:r>
            <a:endParaRPr lang="en-US" sz="1500" dirty="0"/>
          </a:p>
        </p:txBody>
      </p:sp>
      <p:sp>
        <p:nvSpPr>
          <p:cNvPr id="9" name="Shape 6"/>
          <p:cNvSpPr/>
          <p:nvPr/>
        </p:nvSpPr>
        <p:spPr>
          <a:xfrm>
            <a:off x="731520" y="2880360"/>
            <a:ext cx="1737360" cy="2103120"/>
          </a:xfrm>
          <a:prstGeom prst="roundRect">
            <a:avLst>
              <a:gd name="adj" fmla="val 4211"/>
            </a:avLst>
          </a:prstGeom>
          <a:solidFill>
            <a:srgbClr val="FFFFFF"/>
          </a:solidFill>
          <a:ln w="12700">
            <a:solidFill>
              <a:srgbClr val="B9A9F5"/>
            </a:solidFill>
            <a:prstDash val="solid"/>
          </a:ln>
        </p:spPr>
      </p:sp>
      <p:sp>
        <p:nvSpPr>
          <p:cNvPr id="10" name="Text 7"/>
          <p:cNvSpPr txBox="1"/>
          <p:nvPr/>
        </p:nvSpPr>
        <p:spPr>
          <a:xfrm>
            <a:off x="841248" y="2971800"/>
            <a:ext cx="1554480" cy="1920240"/>
          </a:xfrm>
          <a:prstGeom prst="rect">
            <a:avLst/>
          </a:prstGeom>
          <a:noFill/>
          <a:ln/>
        </p:spPr>
        <p:txBody>
          <a:bodyPr wrap="square" lIns="0" tIns="0" rIns="0" bIns="0" rtlCol="0" anchor="t"/>
          <a:lstStyle/>
          <a:p>
            <a:pPr indent="0" marL="0">
              <a:buNone/>
            </a:pPr>
            <a:r>
              <a:rPr lang="en-US" sz="1400" b="1" dirty="0">
                <a:solidFill>
                  <a:srgbClr val="6A4BE0"/>
                </a:solidFill>
              </a:rPr>
              <a:t>ジョブ: lint</a:t>
            </a:r>
            <a:endParaRPr lang="en-US" sz="1400" dirty="0"/>
          </a:p>
          <a:p>
            <a:pPr indent="0" marL="0">
              <a:buNone/>
            </a:pPr>
            <a:r>
              <a:rPr lang="en-US" sz="1200" dirty="0">
                <a:solidFill>
                  <a:srgbClr val="5A6B6B"/>
                </a:solidFill>
              </a:rPr>
              <a:t>ステップ</a:t>
            </a:r>
            <a:endParaRPr lang="en-US" sz="1400" dirty="0"/>
          </a:p>
          <a:p>
            <a:pPr indent="0" marL="0">
              <a:buNone/>
            </a:pPr>
            <a:r>
              <a:rPr lang="en-US" sz="1300" dirty="0">
                <a:solidFill>
                  <a:srgbClr val="1B1F2A"/>
                </a:solidFill>
              </a:rPr>
              <a:t>① checkout</a:t>
            </a:r>
            <a:endParaRPr lang="en-US" sz="1400" dirty="0"/>
          </a:p>
          <a:p>
            <a:pPr indent="0" marL="0">
              <a:buNone/>
            </a:pPr>
            <a:r>
              <a:rPr lang="en-US" sz="1300" dirty="0">
                <a:solidFill>
                  <a:srgbClr val="1B1F2A"/>
                </a:solidFill>
              </a:rPr>
              <a:t>② setup-node</a:t>
            </a:r>
            <a:endParaRPr lang="en-US" sz="1400" dirty="0"/>
          </a:p>
          <a:p>
            <a:pPr indent="0" marL="0">
              <a:buNone/>
            </a:pPr>
            <a:r>
              <a:rPr lang="en-US" sz="1300" dirty="0">
                <a:solidFill>
                  <a:srgbClr val="1B1F2A"/>
                </a:solidFill>
              </a:rPr>
              <a:t>③ npm ci</a:t>
            </a:r>
            <a:endParaRPr lang="en-US" sz="1400" dirty="0"/>
          </a:p>
          <a:p>
            <a:pPr indent="0" marL="0">
              <a:buNone/>
            </a:pPr>
            <a:r>
              <a:rPr lang="en-US" sz="1300" dirty="0">
                <a:solidFill>
                  <a:srgbClr val="1B1F2A"/>
                </a:solidFill>
              </a:rPr>
              <a:t>④ npm run lint</a:t>
            </a:r>
            <a:endParaRPr lang="en-US" sz="1400" dirty="0"/>
          </a:p>
        </p:txBody>
      </p:sp>
      <p:sp>
        <p:nvSpPr>
          <p:cNvPr id="11" name="Shape 8"/>
          <p:cNvSpPr/>
          <p:nvPr/>
        </p:nvSpPr>
        <p:spPr>
          <a:xfrm>
            <a:off x="2606040" y="2880360"/>
            <a:ext cx="1737360" cy="2103120"/>
          </a:xfrm>
          <a:prstGeom prst="roundRect">
            <a:avLst>
              <a:gd name="adj" fmla="val 4211"/>
            </a:avLst>
          </a:prstGeom>
          <a:solidFill>
            <a:srgbClr val="FFFFFF"/>
          </a:solidFill>
          <a:ln w="12700">
            <a:solidFill>
              <a:srgbClr val="B9A9F5"/>
            </a:solidFill>
            <a:prstDash val="solid"/>
          </a:ln>
        </p:spPr>
      </p:sp>
      <p:sp>
        <p:nvSpPr>
          <p:cNvPr id="12" name="Text 9"/>
          <p:cNvSpPr txBox="1"/>
          <p:nvPr/>
        </p:nvSpPr>
        <p:spPr>
          <a:xfrm>
            <a:off x="2715768" y="2971800"/>
            <a:ext cx="1554480" cy="1920240"/>
          </a:xfrm>
          <a:prstGeom prst="rect">
            <a:avLst/>
          </a:prstGeom>
          <a:noFill/>
          <a:ln/>
        </p:spPr>
        <p:txBody>
          <a:bodyPr wrap="square" lIns="0" tIns="0" rIns="0" bIns="0" rtlCol="0" anchor="t"/>
          <a:lstStyle/>
          <a:p>
            <a:pPr indent="0" marL="0">
              <a:buNone/>
            </a:pPr>
            <a:r>
              <a:rPr lang="en-US" sz="1400" b="1" dirty="0">
                <a:solidFill>
                  <a:srgbClr val="6A4BE0"/>
                </a:solidFill>
              </a:rPr>
              <a:t>ジョブ: test</a:t>
            </a:r>
            <a:endParaRPr lang="en-US" sz="1400" dirty="0"/>
          </a:p>
          <a:p>
            <a:pPr indent="0" marL="0">
              <a:buNone/>
            </a:pPr>
            <a:r>
              <a:rPr lang="en-US" sz="1200" dirty="0">
                <a:solidFill>
                  <a:srgbClr val="5A6B6B"/>
                </a:solidFill>
              </a:rPr>
              <a:t>ステップ</a:t>
            </a:r>
            <a:endParaRPr lang="en-US" sz="1400" dirty="0"/>
          </a:p>
          <a:p>
            <a:pPr indent="0" marL="0">
              <a:buNone/>
            </a:pPr>
            <a:r>
              <a:rPr lang="en-US" sz="1300" dirty="0">
                <a:solidFill>
                  <a:srgbClr val="1B1F2A"/>
                </a:solidFill>
              </a:rPr>
              <a:t>① checkout</a:t>
            </a:r>
            <a:endParaRPr lang="en-US" sz="1400" dirty="0"/>
          </a:p>
          <a:p>
            <a:pPr indent="0" marL="0">
              <a:buNone/>
            </a:pPr>
            <a:r>
              <a:rPr lang="en-US" sz="1300" dirty="0">
                <a:solidFill>
                  <a:srgbClr val="1B1F2A"/>
                </a:solidFill>
              </a:rPr>
              <a:t>② setup-node</a:t>
            </a:r>
            <a:endParaRPr lang="en-US" sz="1400" dirty="0"/>
          </a:p>
          <a:p>
            <a:pPr indent="0" marL="0">
              <a:buNone/>
            </a:pPr>
            <a:r>
              <a:rPr lang="en-US" sz="1300" dirty="0">
                <a:solidFill>
                  <a:srgbClr val="1B1F2A"/>
                </a:solidFill>
              </a:rPr>
              <a:t>③ npm ci</a:t>
            </a:r>
            <a:endParaRPr lang="en-US" sz="1400" dirty="0"/>
          </a:p>
          <a:p>
            <a:pPr indent="0" marL="0">
              <a:buNone/>
            </a:pPr>
            <a:r>
              <a:rPr lang="en-US" sz="1300" dirty="0">
                <a:solidFill>
                  <a:srgbClr val="1B1F2A"/>
                </a:solidFill>
              </a:rPr>
              <a:t>④ npm run test</a:t>
            </a:r>
            <a:endParaRPr lang="en-US" sz="1400" dirty="0"/>
          </a:p>
        </p:txBody>
      </p:sp>
      <p:sp>
        <p:nvSpPr>
          <p:cNvPr id="13" name="Shape 10"/>
          <p:cNvSpPr/>
          <p:nvPr/>
        </p:nvSpPr>
        <p:spPr>
          <a:xfrm>
            <a:off x="4480560" y="2880360"/>
            <a:ext cx="1737360" cy="2103120"/>
          </a:xfrm>
          <a:prstGeom prst="roundRect">
            <a:avLst>
              <a:gd name="adj" fmla="val 4211"/>
            </a:avLst>
          </a:prstGeom>
          <a:solidFill>
            <a:srgbClr val="FFFFFF"/>
          </a:solidFill>
          <a:ln w="12700">
            <a:solidFill>
              <a:srgbClr val="B9A9F5"/>
            </a:solidFill>
            <a:prstDash val="solid"/>
          </a:ln>
        </p:spPr>
      </p:sp>
      <p:sp>
        <p:nvSpPr>
          <p:cNvPr id="14" name="Text 11"/>
          <p:cNvSpPr txBox="1"/>
          <p:nvPr/>
        </p:nvSpPr>
        <p:spPr>
          <a:xfrm>
            <a:off x="4590288" y="2971800"/>
            <a:ext cx="1554480" cy="1920240"/>
          </a:xfrm>
          <a:prstGeom prst="rect">
            <a:avLst/>
          </a:prstGeom>
          <a:noFill/>
          <a:ln/>
        </p:spPr>
        <p:txBody>
          <a:bodyPr wrap="square" lIns="0" tIns="0" rIns="0" bIns="0" rtlCol="0" anchor="t"/>
          <a:lstStyle/>
          <a:p>
            <a:pPr indent="0" marL="0">
              <a:buNone/>
            </a:pPr>
            <a:r>
              <a:rPr lang="en-US" sz="1400" b="1" dirty="0">
                <a:solidFill>
                  <a:srgbClr val="6A4BE0"/>
                </a:solidFill>
              </a:rPr>
              <a:t>ジョブ: build</a:t>
            </a:r>
            <a:endParaRPr lang="en-US" sz="1400" dirty="0"/>
          </a:p>
          <a:p>
            <a:pPr indent="0" marL="0">
              <a:buNone/>
            </a:pPr>
            <a:r>
              <a:rPr lang="en-US" sz="1200" dirty="0">
                <a:solidFill>
                  <a:srgbClr val="5A6B6B"/>
                </a:solidFill>
              </a:rPr>
              <a:t>ステップ</a:t>
            </a:r>
            <a:endParaRPr lang="en-US" sz="1400" dirty="0"/>
          </a:p>
          <a:p>
            <a:pPr indent="0" marL="0">
              <a:buNone/>
            </a:pPr>
            <a:r>
              <a:rPr lang="en-US" sz="1300" dirty="0">
                <a:solidFill>
                  <a:srgbClr val="1B1F2A"/>
                </a:solidFill>
              </a:rPr>
              <a:t>① checkout</a:t>
            </a:r>
            <a:endParaRPr lang="en-US" sz="1400" dirty="0"/>
          </a:p>
          <a:p>
            <a:pPr indent="0" marL="0">
              <a:buNone/>
            </a:pPr>
            <a:r>
              <a:rPr lang="en-US" sz="1300" dirty="0">
                <a:solidFill>
                  <a:srgbClr val="1B1F2A"/>
                </a:solidFill>
              </a:rPr>
              <a:t>② setup-node</a:t>
            </a:r>
            <a:endParaRPr lang="en-US" sz="1400" dirty="0"/>
          </a:p>
          <a:p>
            <a:pPr indent="0" marL="0">
              <a:buNone/>
            </a:pPr>
            <a:r>
              <a:rPr lang="en-US" sz="1300" dirty="0">
                <a:solidFill>
                  <a:srgbClr val="1B1F2A"/>
                </a:solidFill>
              </a:rPr>
              <a:t>③ npm ci</a:t>
            </a:r>
            <a:endParaRPr lang="en-US" sz="1400" dirty="0"/>
          </a:p>
          <a:p>
            <a:pPr indent="0" marL="0">
              <a:buNone/>
            </a:pPr>
            <a:r>
              <a:rPr lang="en-US" sz="1300" dirty="0">
                <a:solidFill>
                  <a:srgbClr val="1B1F2A"/>
                </a:solidFill>
              </a:rPr>
              <a:t>④ npm run build</a:t>
            </a:r>
            <a:endParaRPr lang="en-US" sz="1400" dirty="0"/>
          </a:p>
        </p:txBody>
      </p:sp>
      <p:sp>
        <p:nvSpPr>
          <p:cNvPr id="15" name="Text 12"/>
          <p:cNvSpPr txBox="1"/>
          <p:nvPr/>
        </p:nvSpPr>
        <p:spPr>
          <a:xfrm>
            <a:off x="731520" y="5074920"/>
            <a:ext cx="5486400" cy="594360"/>
          </a:xfrm>
          <a:prstGeom prst="rect">
            <a:avLst/>
          </a:prstGeom>
          <a:noFill/>
          <a:ln/>
        </p:spPr>
        <p:txBody>
          <a:bodyPr wrap="square" lIns="0" tIns="0" rIns="0" bIns="0" rtlCol="0" anchor="ctr"/>
          <a:lstStyle/>
          <a:p>
            <a:pPr indent="0" marL="0">
              <a:buNone/>
            </a:pPr>
            <a:r>
              <a:rPr lang="en-US" sz="1300" dirty="0">
                <a:solidFill>
                  <a:srgbClr val="1B1F2A"/>
                </a:solidFill>
              </a:rPr>
              <a:t>各ジョブは「ランナー」（ubuntu-latest）＝ GitHub が毎回用意する使い捨てのマシンで動く</a:t>
            </a:r>
            <a:endParaRPr lang="en-US" sz="1300" dirty="0"/>
          </a:p>
        </p:txBody>
      </p:sp>
      <p:sp>
        <p:nvSpPr>
          <p:cNvPr id="16" name="Text 13"/>
          <p:cNvSpPr txBox="1"/>
          <p:nvPr/>
        </p:nvSpPr>
        <p:spPr>
          <a:xfrm>
            <a:off x="548640" y="5897880"/>
            <a:ext cx="5852160" cy="457200"/>
          </a:xfrm>
          <a:prstGeom prst="rect">
            <a:avLst/>
          </a:prstGeom>
          <a:noFill/>
          <a:ln/>
        </p:spPr>
        <p:txBody>
          <a:bodyPr wrap="square" lIns="0" tIns="0" rIns="0" bIns="0" rtlCol="0" anchor="ctr"/>
          <a:lstStyle/>
          <a:p>
            <a:pPr indent="0" marL="0">
              <a:buNone/>
            </a:pPr>
            <a:r>
              <a:rPr lang="en-US" sz="1400" dirty="0">
                <a:solidFill>
                  <a:srgbClr val="5A6B6B"/>
                </a:solidFill>
              </a:rPr>
              <a:t>結果は PR に ✓（成功）／✗（失敗）で表示され、ログで原因を読める</a:t>
            </a:r>
            <a:endParaRPr lang="en-US" sz="1400" dirty="0"/>
          </a:p>
        </p:txBody>
      </p:sp>
      <p:sp>
        <p:nvSpPr>
          <p:cNvPr id="17" name="Shape 14"/>
          <p:cNvSpPr/>
          <p:nvPr/>
        </p:nvSpPr>
        <p:spPr>
          <a:xfrm>
            <a:off x="6675120" y="1280160"/>
            <a:ext cx="4937760" cy="5074920"/>
          </a:xfrm>
          <a:prstGeom prst="roundRect">
            <a:avLst>
              <a:gd name="adj" fmla="val 1852"/>
            </a:avLst>
          </a:prstGeom>
          <a:solidFill>
            <a:srgbClr val="1B1F2A"/>
          </a:solidFill>
          <a:ln w="12700">
            <a:solidFill>
              <a:srgbClr val="1B1F2A"/>
            </a:solidFill>
            <a:prstDash val="solid"/>
          </a:ln>
        </p:spPr>
      </p:sp>
      <p:sp>
        <p:nvSpPr>
          <p:cNvPr id="18" name="Text 15"/>
          <p:cNvSpPr txBox="1"/>
          <p:nvPr/>
        </p:nvSpPr>
        <p:spPr>
          <a:xfrm>
            <a:off x="6858000" y="1417320"/>
            <a:ext cx="4663440" cy="4846320"/>
          </a:xfrm>
          <a:prstGeom prst="rect">
            <a:avLst/>
          </a:prstGeom>
          <a:noFill/>
          <a:ln/>
        </p:spPr>
        <p:txBody>
          <a:bodyPr wrap="square" lIns="0" tIns="0" rIns="0" bIns="0" rtlCol="0" anchor="t"/>
          <a:lstStyle/>
          <a:p>
            <a:pPr indent="0" marL="0">
              <a:buNone/>
            </a:pPr>
            <a:r>
              <a:rPr lang="en-US" sz="1200" dirty="0">
                <a:solidFill>
                  <a:srgbClr val="E6EDF3"/>
                </a:solidFill>
                <a:latin typeface="Courier New" pitchFamily="34" charset="0"/>
                <a:ea typeface="Courier New" pitchFamily="34" charset="-122"/>
                <a:cs typeface="Courier New" pitchFamily="34" charset="-120"/>
              </a:rPr>
              <a:t># .github/workflows/ci.yml</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name: CI</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on:                      # いつ動く？</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pull_request: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branches: [main]</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push:</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branches: [main]</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jobs:</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lint-build:            # ジョブ名</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runs-on: ubuntu-latest  # ランナー</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steps:</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 uses: actions/checkout@v7</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 uses: actions/setup-node@v7</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with:</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node-version: 24</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cache: npm</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 run: npm ci</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 run: npm run lint</a:t>
            </a:r>
            <a:endParaRPr lang="en-US" sz="1200" dirty="0"/>
          </a:p>
          <a:p>
            <a:pPr indent="0" marL="0">
              <a:buNone/>
            </a:pPr>
            <a:r>
              <a:rPr lang="en-US" sz="1200" dirty="0">
                <a:solidFill>
                  <a:srgbClr val="E6EDF3"/>
                </a:solidFill>
                <a:latin typeface="Courier New" pitchFamily="34" charset="0"/>
                <a:ea typeface="Courier New" pitchFamily="34" charset="-122"/>
                <a:cs typeface="Courier New" pitchFamily="34" charset="-120"/>
              </a:rPr>
              <a:t>      - run: npm run build</a:t>
            </a:r>
            <a:endParaRPr lang="en-US" sz="12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3 GitHub Actions：6コマでやること</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22960"/>
                <a:gridCol w="3200400"/>
                <a:gridCol w="7040880"/>
              </a:tblGrid>
              <a:tr h="0">
                <a:tc>
                  <a:txBody>
                    <a:bodyPr/>
                    <a:lstStyle/>
                    <a:p>
                      <a:pPr indent="0" marL="0">
                        <a:buNone/>
                      </a:pPr>
                      <a:r>
                        <a:rPr lang="en-US" sz="1400" b="1" dirty="0">
                          <a:solidFill>
                            <a:srgbClr val="FFFFFF"/>
                          </a:solidFill>
                        </a:rPr>
                        <a:t>コマ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c>
                  <a:txBody>
                    <a:bodyPr/>
                    <a:lstStyle/>
                    <a:p>
                      <a:pPr indent="0" marL="0">
                        <a:buNone/>
                      </a:pPr>
                      <a:r>
                        <a:rPr lang="en-US" sz="1400" b="1" dirty="0">
                          <a:solidFill>
                            <a:srgbClr val="FFFFFF"/>
                          </a:solidFill>
                        </a:rPr>
                        <a:t>タイトル</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c>
                  <a:txBody>
                    <a:bodyPr/>
                    <a:lstStyle/>
                    <a:p>
                      <a:pPr indent="0" marL="0">
                        <a:buNone/>
                      </a:pPr>
                      <a:r>
                        <a:rPr lang="en-US" sz="1400" b="1" dirty="0">
                          <a:solidFill>
                            <a:srgbClr val="FFFFFF"/>
                          </a:solidFill>
                        </a:rPr>
                        <a:t>できるようになること</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r>
              <a:tr h="0">
                <a:tc>
                  <a:txBody>
                    <a:bodyPr/>
                    <a:lstStyle/>
                    <a:p>
                      <a:pPr indent="0" marL="0">
                        <a:buNone/>
                      </a:pPr>
                      <a:r>
                        <a:rPr lang="en-US" sz="1600" b="1" dirty="0">
                          <a:solidFill>
                            <a:srgbClr val="6A4BE0"/>
                          </a:solidFill>
                        </a:rPr>
                        <a:t>14</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Actions 入門（全体像と YAML）</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CI/CD とは何か。ワークフロー・ジョブ・ステップ・アクション・ランナーの関係と、YAML の書き方（インデント・リスト）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15</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はじめてのワークフロー</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.github/workflows/ に置いて push し、Actions タブでログを読む。ランナーは毎回「まっさらなマシン」だと確かめる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6A4BE0"/>
                          </a:solidFill>
                        </a:rPr>
                        <a:t>16</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CI で lint と build</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PR と main への push で npm ci → lint → build を自動実行。失敗した PR のログから原因を見つけて直す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17</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CI でテスト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Jest とカバレッジの基準を CI に追加。ジョブを分けて「同時に動かす／順番に動かす」を設計する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6A4BE0"/>
                          </a:solidFill>
                        </a:rPr>
                        <a:t>18</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ブランチ保護（ルールセット）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main への直接 push を禁止し、「PR＋CI 成功」を必須にする。CI は「知らせる」、ルールセットが「止める」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19</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Secrets と環境変数</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設定値をコードの外へ出す。NEXT_PUBLIC_ 付きはブラウザから見える。秘密の値は Secrets で安全に渡す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3 の用語①（設定ファイルとチェック）</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r>
              <a:tr h="0">
                <a:tc>
                  <a:txBody>
                    <a:bodyPr/>
                    <a:lstStyle/>
                    <a:p>
                      <a:pPr indent="0" marL="0">
                        <a:buNone/>
                      </a:pPr>
                      <a:r>
                        <a:rPr lang="en-US" sz="1600" b="1" dirty="0">
                          <a:solidFill>
                            <a:srgbClr val="6A4BE0"/>
                          </a:solidFill>
                        </a:rPr>
                        <a:t>YAML</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Yet Another Markup Language → YAML Ain't Markup Language</a:t>
                      </a:r>
                      <a:endParaRPr lang="en-US" sz="1400" dirty="0"/>
                    </a:p>
                    <a:p>
                      <a:pPr indent="0" marL="0">
                        <a:buNone/>
                      </a:pPr>
                      <a:r>
                        <a:rPr lang="en-US" sz="1400" dirty="0">
                          <a:solidFill>
                            <a:srgbClr val="1B1F2A"/>
                          </a:solidFill>
                        </a:rPr>
                        <a:t>最初は「また別のマークアップ言語」。のちに「YAML はマークアップ言語じゃない」に変更。自分の名前を中に含む「再帰的な略語」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ワークフローを書く形式。インデント（字下げ）で構造を表す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lint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lint（糸くず）</a:t>
                      </a:r>
                      <a:endParaRPr lang="en-US" sz="1400" dirty="0"/>
                    </a:p>
                    <a:p>
                      <a:pPr indent="0" marL="0">
                        <a:buNone/>
                      </a:pPr>
                      <a:r>
                        <a:rPr lang="en-US" sz="1400" dirty="0">
                          <a:solidFill>
                            <a:srgbClr val="1B1F2A"/>
                          </a:solidFill>
                        </a:rPr>
                        <a:t>服につく「糸くず」。1978年、ベル研究所が C 言語の細かい問題を拾うツールに「糸くず取り」の意味で名づけた</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バグのもとや書き方の乱れを、実行する前に自動で見つけること</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6A4BE0"/>
                          </a:solidFill>
                        </a:rPr>
                        <a:t>ESLint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ECMAScript ＋ lint</a:t>
                      </a:r>
                      <a:endParaRPr lang="en-US" sz="1400" dirty="0"/>
                    </a:p>
                    <a:p>
                      <a:pPr indent="0" marL="0">
                        <a:buNone/>
                      </a:pPr>
                      <a:r>
                        <a:rPr lang="en-US" sz="1400" dirty="0">
                          <a:solidFill>
                            <a:srgbClr val="1B1F2A"/>
                          </a:solidFill>
                        </a:rPr>
                        <a:t>ECMAScript は JS の標準仕様の名前。標準化団体 Ecma International（もとは European Computer Manufacturers Association）から</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npm run lint で動くツール</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build</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build</a:t>
                      </a:r>
                      <a:endParaRPr lang="en-US" sz="1400" dirty="0"/>
                    </a:p>
                    <a:p>
                      <a:pPr indent="0" marL="0">
                        <a:buNone/>
                      </a:pPr>
                      <a:r>
                        <a:rPr lang="en-US" sz="1400" dirty="0">
                          <a:solidFill>
                            <a:srgbClr val="1B1F2A"/>
                          </a:solidFill>
                        </a:rPr>
                        <a:t>英語で「組み立てる・建てる」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ソースコードを公開できる形に変換する。npm run build</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6A4BE0"/>
                          </a:solidFill>
                        </a:rPr>
                        <a:t>npm ci</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clean install</a:t>
                      </a:r>
                      <a:endParaRPr lang="en-US" sz="1400" dirty="0"/>
                    </a:p>
                    <a:p>
                      <a:pPr indent="0" marL="0">
                        <a:buNone/>
                      </a:pPr>
                      <a:r>
                        <a:rPr lang="en-US" sz="1400" dirty="0">
                          <a:solidFill>
                            <a:srgbClr val="1B1F2A"/>
                          </a:solidFill>
                        </a:rPr>
                        <a:t>「まっさらな状態からインストール」。node_modules を消してから入れ直す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package-lock.json どおり正確に入れる。CI ではこちらを使う</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3 の用語②（Actions の部品と秘密の値）</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6A4BE0"/>
                    </a:solidFill>
                  </a:tcPr>
                </a:tc>
              </a:tr>
              <a:tr h="0">
                <a:tc>
                  <a:txBody>
                    <a:bodyPr/>
                    <a:lstStyle/>
                    <a:p>
                      <a:pPr indent="0" marL="0">
                        <a:buNone/>
                      </a:pPr>
                      <a:r>
                        <a:rPr lang="en-US" sz="1600" b="1" dirty="0">
                          <a:solidFill>
                            <a:srgbClr val="6A4BE0"/>
                          </a:solidFill>
                        </a:rPr>
                        <a:t>workflow / job / step</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work ＋ flow ほか</a:t>
                      </a:r>
                      <a:endParaRPr lang="en-US" sz="1400" dirty="0"/>
                    </a:p>
                    <a:p>
                      <a:pPr indent="0" marL="0">
                        <a:buNone/>
                      </a:pPr>
                      <a:r>
                        <a:rPr lang="en-US" sz="1400" dirty="0">
                          <a:solidFill>
                            <a:srgbClr val="1B1F2A"/>
                          </a:solidFill>
                        </a:rPr>
                        <a:t>仕事（work）の流れ（flow）／ひとまとまりの仕事／階段の1段</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ワークフロー＞ジョブ＞ステップの入れ子で自動処理を書く</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runner</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run ＋ er</a:t>
                      </a:r>
                      <a:endParaRPr lang="en-US" sz="1400" dirty="0"/>
                    </a:p>
                    <a:p>
                      <a:pPr indent="0" marL="0">
                        <a:buNone/>
                      </a:pPr>
                      <a:r>
                        <a:rPr lang="en-US" sz="1400" dirty="0">
                          <a:solidFill>
                            <a:srgbClr val="1B1F2A"/>
                          </a:solidFill>
                        </a:rPr>
                        <a:t>「走らせる（実行する）もの」</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ジョブを実行するマシン。GitHub が毎回まっさらな状態で用意する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6A4BE0"/>
                          </a:solidFill>
                        </a:rPr>
                        <a:t>checkout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check ＋ out</a:t>
                      </a:r>
                      <a:endParaRPr lang="en-US" sz="1400" dirty="0"/>
                    </a:p>
                    <a:p>
                      <a:pPr indent="0" marL="0">
                        <a:buNone/>
                      </a:pPr>
                      <a:r>
                        <a:rPr lang="en-US" sz="1400" dirty="0">
                          <a:solidFill>
                            <a:srgbClr val="1B1F2A"/>
                          </a:solidFill>
                        </a:rPr>
                        <a:t>図書館で本を「借り出す」こと。保管場所から取り出す意味</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actions/checkout でリポジトリのコードをランナーに取り出す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ruleset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rule ＋ set</a:t>
                      </a:r>
                      <a:endParaRPr lang="en-US" sz="1400" dirty="0"/>
                    </a:p>
                    <a:p>
                      <a:pPr indent="0" marL="0">
                        <a:buNone/>
                      </a:pPr>
                      <a:r>
                        <a:rPr lang="en-US" sz="1400" dirty="0">
                          <a:solidFill>
                            <a:srgbClr val="1B1F2A"/>
                          </a:solidFill>
                        </a:rPr>
                        <a:t>「規則（rule）のひとそろい（set）」</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main を守るルール。PR と CI の成功を必須にする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6A4BE0"/>
                          </a:solidFill>
                        </a:rPr>
                        <a:t>Secrets</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secret</a:t>
                      </a:r>
                      <a:endParaRPr lang="en-US" sz="1400" dirty="0"/>
                    </a:p>
                    <a:p>
                      <a:pPr indent="0" marL="0">
                        <a:buNone/>
                      </a:pPr>
                      <a:r>
                        <a:rPr lang="en-US" sz="1400" dirty="0">
                          <a:solidFill>
                            <a:srgbClr val="1B1F2A"/>
                          </a:solidFill>
                        </a:rPr>
                        <a:t>「秘密」</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パスワードやトークンを、ログに出さず安全にワークフローへ渡す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6A4BE0"/>
                          </a:solidFill>
                        </a:rPr>
                        <a:t>NEXT_PUBLIC_</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public</a:t>
                      </a:r>
                      <a:endParaRPr lang="en-US" sz="1400" dirty="0"/>
                    </a:p>
                    <a:p>
                      <a:pPr indent="0" marL="0">
                        <a:buNone/>
                      </a:pPr>
                      <a:r>
                        <a:rPr lang="en-US" sz="1400" dirty="0">
                          <a:solidFill>
                            <a:srgbClr val="1B1F2A"/>
                          </a:solidFill>
                        </a:rPr>
                        <a:t>「公開の」。Next.js が決めた名前の目印（接頭辞）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この名前で始まる環境変数はブラウザに埋め込まれ、誰でも見られる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4 CI/CD：どこに公開する？</a:t>
            </a:r>
            <a:endParaRPr lang="en-US" sz="3000" dirty="0"/>
          </a:p>
        </p:txBody>
      </p:sp>
      <p:sp>
        <p:nvSpPr>
          <p:cNvPr id="4" name="Shape 1"/>
          <p:cNvSpPr/>
          <p:nvPr/>
        </p:nvSpPr>
        <p:spPr>
          <a:xfrm>
            <a:off x="548640" y="1280160"/>
            <a:ext cx="5440680" cy="1188720"/>
          </a:xfrm>
          <a:prstGeom prst="roundRect">
            <a:avLst>
              <a:gd name="adj" fmla="val 9231"/>
            </a:avLst>
          </a:prstGeom>
          <a:solidFill>
            <a:srgbClr val="EEF4F3"/>
          </a:solidFill>
          <a:ln w="12700">
            <a:solidFill>
              <a:srgbClr val="EEF4F3"/>
            </a:solidFill>
            <a:prstDash val="solid"/>
          </a:ln>
        </p:spPr>
      </p:sp>
      <p:sp>
        <p:nvSpPr>
          <p:cNvPr id="5" name="Text 2"/>
          <p:cNvSpPr txBox="1"/>
          <p:nvPr/>
        </p:nvSpPr>
        <p:spPr>
          <a:xfrm>
            <a:off x="731520" y="1417320"/>
            <a:ext cx="5074920" cy="91440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静的ホスティング</a:t>
            </a:r>
            <a:endParaRPr lang="en-US" sz="1800" dirty="0"/>
          </a:p>
          <a:p>
            <a:pPr indent="0" marL="0">
              <a:spcAft>
                <a:spcPts val="600"/>
              </a:spcAft>
              <a:buNone/>
            </a:pPr>
            <a:r>
              <a:rPr lang="en-US" sz="1400" dirty="0">
                <a:solidFill>
                  <a:srgbClr val="1B1F2A"/>
                </a:solidFill>
              </a:rPr>
              <a:t>できあがった HTML・CSS・JS のファイルを置いて配るだけ</a:t>
            </a:r>
            <a:endParaRPr lang="en-US" sz="1800" dirty="0"/>
          </a:p>
        </p:txBody>
      </p:sp>
      <p:sp>
        <p:nvSpPr>
          <p:cNvPr id="6" name="Shape 3"/>
          <p:cNvSpPr/>
          <p:nvPr/>
        </p:nvSpPr>
        <p:spPr>
          <a:xfrm>
            <a:off x="6172200" y="1280160"/>
            <a:ext cx="5440680" cy="1188720"/>
          </a:xfrm>
          <a:prstGeom prst="roundRect">
            <a:avLst>
              <a:gd name="adj" fmla="val 9231"/>
            </a:avLst>
          </a:prstGeom>
          <a:solidFill>
            <a:srgbClr val="FBEDE8"/>
          </a:solidFill>
          <a:ln w="12700">
            <a:solidFill>
              <a:srgbClr val="FBEDE8"/>
            </a:solidFill>
            <a:prstDash val="solid"/>
          </a:ln>
        </p:spPr>
      </p:sp>
      <p:sp>
        <p:nvSpPr>
          <p:cNvPr id="7" name="Text 4"/>
          <p:cNvSpPr txBox="1"/>
          <p:nvPr/>
        </p:nvSpPr>
        <p:spPr>
          <a:xfrm>
            <a:off x="6355080" y="1417320"/>
            <a:ext cx="5074920" cy="91440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サーバを動かすホスティング</a:t>
            </a:r>
            <a:endParaRPr lang="en-US" sz="1800" dirty="0"/>
          </a:p>
          <a:p>
            <a:pPr indent="0" marL="0">
              <a:spcAft>
                <a:spcPts val="600"/>
              </a:spcAft>
              <a:buNone/>
            </a:pPr>
            <a:r>
              <a:rPr lang="en-US" sz="1400" dirty="0">
                <a:solidFill>
                  <a:srgbClr val="1B1F2A"/>
                </a:solidFill>
              </a:rPr>
              <a:t>アクセスのたびにサーバでプログラムを動かせる</a:t>
            </a:r>
            <a:endParaRPr lang="en-US" sz="1800" dirty="0"/>
          </a:p>
        </p:txBody>
      </p:sp>
      <p:sp>
        <p:nvSpPr>
          <p:cNvPr id="8" name="Shape 5"/>
          <p:cNvSpPr/>
          <p:nvPr/>
        </p:nvSpPr>
        <p:spPr>
          <a:xfrm>
            <a:off x="548640" y="2697480"/>
            <a:ext cx="5440680" cy="3383280"/>
          </a:xfrm>
          <a:prstGeom prst="roundRect">
            <a:avLst>
              <a:gd name="adj" fmla="val 3243"/>
            </a:avLst>
          </a:prstGeom>
          <a:solidFill>
            <a:srgbClr val="F6F8F8"/>
          </a:solidFill>
          <a:ln w="12700">
            <a:solidFill>
              <a:srgbClr val="F6F8F8"/>
            </a:solidFill>
            <a:prstDash val="solid"/>
          </a:ln>
        </p:spPr>
      </p:sp>
      <p:sp>
        <p:nvSpPr>
          <p:cNvPr id="9" name="Text 6"/>
          <p:cNvSpPr txBox="1"/>
          <p:nvPr/>
        </p:nvSpPr>
        <p:spPr>
          <a:xfrm>
            <a:off x="731520" y="2834640"/>
            <a:ext cx="5074920" cy="310896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GitHub Pages（静的）</a:t>
            </a:r>
            <a:endParaRPr lang="en-US" sz="1800" dirty="0"/>
          </a:p>
          <a:p>
            <a:pPr indent="0" marL="0">
              <a:spcAft>
                <a:spcPts val="600"/>
              </a:spcAft>
              <a:buNone/>
            </a:pPr>
            <a:r>
              <a:rPr lang="en-US" sz="1400" dirty="0">
                <a:solidFill>
                  <a:srgbClr val="1B1F2A"/>
                </a:solidFill>
              </a:rPr>
              <a:t>・GitHub の中で完結して、無料で使える</a:t>
            </a:r>
            <a:endParaRPr lang="en-US" sz="1800" dirty="0"/>
          </a:p>
          <a:p>
            <a:pPr indent="0" marL="0">
              <a:spcAft>
                <a:spcPts val="600"/>
              </a:spcAft>
              <a:buNone/>
            </a:pPr>
            <a:r>
              <a:rPr lang="en-US" sz="1400" dirty="0">
                <a:solidFill>
                  <a:srgbClr val="1B1F2A"/>
                </a:solidFill>
              </a:rPr>
              <a:t>・output: 'export' で静的なファイルに書き出して置く</a:t>
            </a:r>
            <a:endParaRPr lang="en-US" sz="1800" dirty="0"/>
          </a:p>
          <a:p>
            <a:pPr indent="0" marL="0">
              <a:spcAft>
                <a:spcPts val="600"/>
              </a:spcAft>
              <a:buNone/>
            </a:pPr>
            <a:r>
              <a:rPr lang="en-US" sz="1400" dirty="0">
                <a:solidFill>
                  <a:srgbClr val="1B1F2A"/>
                </a:solidFill>
              </a:rPr>
              <a:t>・URL が https://ユーザー名.github.io/リポジトリ名/ なので、basePath と trailingSlash の設定が必要</a:t>
            </a:r>
            <a:endParaRPr lang="en-US" sz="1800" dirty="0"/>
          </a:p>
          <a:p>
            <a:pPr indent="0" marL="0">
              <a:spcAft>
                <a:spcPts val="600"/>
              </a:spcAft>
              <a:buNone/>
            </a:pPr>
            <a:r>
              <a:rPr lang="en-US" sz="1400" dirty="0">
                <a:solidFill>
                  <a:srgbClr val="1B1F2A"/>
                </a:solidFill>
              </a:rPr>
              <a:t>・サーバの機能（アクセスごとの処理）は使えない</a:t>
            </a:r>
            <a:endParaRPr lang="en-US" sz="1800" dirty="0"/>
          </a:p>
        </p:txBody>
      </p:sp>
      <p:sp>
        <p:nvSpPr>
          <p:cNvPr id="10" name="Shape 7"/>
          <p:cNvSpPr/>
          <p:nvPr/>
        </p:nvSpPr>
        <p:spPr>
          <a:xfrm>
            <a:off x="6172200" y="2697480"/>
            <a:ext cx="5440680" cy="3383280"/>
          </a:xfrm>
          <a:prstGeom prst="roundRect">
            <a:avLst>
              <a:gd name="adj" fmla="val 3243"/>
            </a:avLst>
          </a:prstGeom>
          <a:solidFill>
            <a:srgbClr val="F6F8F8"/>
          </a:solidFill>
          <a:ln w="12700">
            <a:solidFill>
              <a:srgbClr val="F6F8F8"/>
            </a:solidFill>
            <a:prstDash val="solid"/>
          </a:ln>
        </p:spPr>
      </p:sp>
      <p:sp>
        <p:nvSpPr>
          <p:cNvPr id="11" name="Text 8"/>
          <p:cNvSpPr txBox="1"/>
          <p:nvPr/>
        </p:nvSpPr>
        <p:spPr>
          <a:xfrm>
            <a:off x="6355080" y="2834640"/>
            <a:ext cx="5074920" cy="310896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Vercel（サーバも動く）</a:t>
            </a:r>
            <a:endParaRPr lang="en-US" sz="1800" dirty="0"/>
          </a:p>
          <a:p>
            <a:pPr indent="0" marL="0">
              <a:spcAft>
                <a:spcPts val="600"/>
              </a:spcAft>
              <a:buNone/>
            </a:pPr>
            <a:r>
              <a:rPr lang="en-US" sz="1400" dirty="0">
                <a:solidFill>
                  <a:srgbClr val="1B1F2A"/>
                </a:solidFill>
              </a:rPr>
              <a:t>・Next.js を開発している会社のサービス。Next.js の機能がほぼそのまま動く</a:t>
            </a:r>
            <a:endParaRPr lang="en-US" sz="1800" dirty="0"/>
          </a:p>
          <a:p>
            <a:pPr indent="0" marL="0">
              <a:spcAft>
                <a:spcPts val="600"/>
              </a:spcAft>
              <a:buNone/>
            </a:pPr>
            <a:r>
              <a:rPr lang="en-US" sz="1400" dirty="0">
                <a:solidFill>
                  <a:srgbClr val="1B1F2A"/>
                </a:solidFill>
              </a:rPr>
              <a:t>・GitHub につなぐと push のたびに自動で公開</a:t>
            </a:r>
            <a:endParaRPr lang="en-US" sz="1800" dirty="0"/>
          </a:p>
          <a:p>
            <a:pPr indent="0" marL="0">
              <a:spcAft>
                <a:spcPts val="600"/>
              </a:spcAft>
              <a:buNone/>
            </a:pPr>
            <a:r>
              <a:rPr lang="en-US" sz="1400" dirty="0">
                <a:solidFill>
                  <a:srgbClr val="1B1F2A"/>
                </a:solidFill>
              </a:rPr>
              <a:t>・PR ごとに「プレビュー URL」ができ、レビューで実物を見られる</a:t>
            </a:r>
            <a:endParaRPr lang="en-US" sz="1800" dirty="0"/>
          </a:p>
          <a:p>
            <a:pPr indent="0" marL="0">
              <a:spcAft>
                <a:spcPts val="600"/>
              </a:spcAft>
              <a:buNone/>
            </a:pPr>
            <a:r>
              <a:rPr lang="en-US" sz="1400" dirty="0">
                <a:solidFill>
                  <a:srgbClr val="1B1F2A"/>
                </a:solidFill>
              </a:rPr>
              <a:t>・本番（Production）とプレビューで環境変数を分けられる</a:t>
            </a:r>
            <a:endParaRPr lang="en-US" sz="1800" dirty="0"/>
          </a:p>
        </p:txBody>
      </p:sp>
      <p:sp>
        <p:nvSpPr>
          <p:cNvPr id="12" name="Text 9"/>
          <p:cNvSpPr txBox="1"/>
          <p:nvPr/>
        </p:nvSpPr>
        <p:spPr>
          <a:xfrm>
            <a:off x="548640" y="6217920"/>
            <a:ext cx="11064240" cy="365760"/>
          </a:xfrm>
          <a:prstGeom prst="rect">
            <a:avLst/>
          </a:prstGeom>
          <a:noFill/>
          <a:ln/>
        </p:spPr>
        <p:txBody>
          <a:bodyPr wrap="square" lIns="0" tIns="0" rIns="0" bIns="0" rtlCol="0" anchor="ctr"/>
          <a:lstStyle/>
          <a:p>
            <a:pPr indent="0" marL="0">
              <a:buNone/>
            </a:pPr>
            <a:r>
              <a:rPr lang="en-US" sz="1400" dirty="0">
                <a:solidFill>
                  <a:srgbClr val="5A6B6B"/>
                </a:solidFill>
              </a:rPr>
              <a:t>この授業では両方に公開して、違いを体験します（コマ21・22）</a:t>
            </a:r>
            <a:endParaRPr lang="en-US" sz="14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4 CI/CD：完成するパイプライン</a:t>
            </a:r>
            <a:endParaRPr lang="en-US" sz="3000" dirty="0"/>
          </a:p>
        </p:txBody>
      </p:sp>
      <p:sp>
        <p:nvSpPr>
          <p:cNvPr id="4" name="Text 1"/>
          <p:cNvSpPr txBox="1"/>
          <p:nvPr/>
        </p:nvSpPr>
        <p:spPr>
          <a:xfrm>
            <a:off x="548640" y="1234440"/>
            <a:ext cx="11064240" cy="411480"/>
          </a:xfrm>
          <a:prstGeom prst="rect">
            <a:avLst/>
          </a:prstGeom>
          <a:noFill/>
          <a:ln/>
        </p:spPr>
        <p:txBody>
          <a:bodyPr wrap="square" lIns="0" tIns="0" rIns="0" bIns="0" rtlCol="0" anchor="ctr"/>
          <a:lstStyle/>
          <a:p>
            <a:pPr indent="0" marL="0">
              <a:buNone/>
            </a:pPr>
            <a:r>
              <a:rPr lang="en-US" sz="1700" b="1" dirty="0">
                <a:solidFill>
                  <a:srgbClr val="6A4BE0"/>
                </a:solidFill>
              </a:rPr>
              <a:t>PR を出したとき：検査だけ</a:t>
            </a:r>
            <a:endParaRPr lang="en-US" sz="1700" dirty="0"/>
          </a:p>
        </p:txBody>
      </p:sp>
      <p:sp>
        <p:nvSpPr>
          <p:cNvPr id="5" name="Shape 2"/>
          <p:cNvSpPr/>
          <p:nvPr/>
        </p:nvSpPr>
        <p:spPr>
          <a:xfrm>
            <a:off x="548640" y="1737360"/>
            <a:ext cx="1920240" cy="960120"/>
          </a:xfrm>
          <a:prstGeom prst="roundRect">
            <a:avLst>
              <a:gd name="adj" fmla="val 9524"/>
            </a:avLst>
          </a:prstGeom>
          <a:solidFill>
            <a:srgbClr val="EEF4F3"/>
          </a:solidFill>
          <a:ln w="12700">
            <a:solidFill>
              <a:srgbClr val="6A4BE0"/>
            </a:solidFill>
            <a:prstDash val="solid"/>
          </a:ln>
        </p:spPr>
      </p:sp>
      <p:sp>
        <p:nvSpPr>
          <p:cNvPr id="6" name="Text 3"/>
          <p:cNvSpPr txBox="1"/>
          <p:nvPr/>
        </p:nvSpPr>
        <p:spPr>
          <a:xfrm>
            <a:off x="621792" y="173736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PR を出す</a:t>
            </a:r>
            <a:endParaRPr lang="en-US" sz="1400" dirty="0"/>
          </a:p>
        </p:txBody>
      </p:sp>
      <p:sp>
        <p:nvSpPr>
          <p:cNvPr id="7" name="Shape 4"/>
          <p:cNvSpPr/>
          <p:nvPr/>
        </p:nvSpPr>
        <p:spPr>
          <a:xfrm>
            <a:off x="2514600" y="2039112"/>
            <a:ext cx="274320" cy="365760"/>
          </a:xfrm>
          <a:prstGeom prst="rightArrow">
            <a:avLst/>
          </a:prstGeom>
          <a:solidFill>
            <a:srgbClr val="F2A541"/>
          </a:solidFill>
          <a:ln w="12700">
            <a:solidFill>
              <a:srgbClr val="F2A541"/>
            </a:solidFill>
            <a:prstDash val="solid"/>
          </a:ln>
        </p:spPr>
      </p:sp>
      <p:sp>
        <p:nvSpPr>
          <p:cNvPr id="8" name="Shape 5"/>
          <p:cNvSpPr/>
          <p:nvPr/>
        </p:nvSpPr>
        <p:spPr>
          <a:xfrm>
            <a:off x="2834640" y="1737360"/>
            <a:ext cx="1920240" cy="960120"/>
          </a:xfrm>
          <a:prstGeom prst="roundRect">
            <a:avLst>
              <a:gd name="adj" fmla="val 9524"/>
            </a:avLst>
          </a:prstGeom>
          <a:solidFill>
            <a:srgbClr val="EEF4F3"/>
          </a:solidFill>
          <a:ln w="12700">
            <a:solidFill>
              <a:srgbClr val="6A4BE0"/>
            </a:solidFill>
            <a:prstDash val="solid"/>
          </a:ln>
        </p:spPr>
      </p:sp>
      <p:sp>
        <p:nvSpPr>
          <p:cNvPr id="9" name="Text 6"/>
          <p:cNvSpPr txBox="1"/>
          <p:nvPr/>
        </p:nvSpPr>
        <p:spPr>
          <a:xfrm>
            <a:off x="2907792" y="173736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lint・test</a:t>
            </a:r>
            <a:endParaRPr lang="en-US" sz="1400" dirty="0"/>
          </a:p>
        </p:txBody>
      </p:sp>
      <p:sp>
        <p:nvSpPr>
          <p:cNvPr id="10" name="Shape 7"/>
          <p:cNvSpPr/>
          <p:nvPr/>
        </p:nvSpPr>
        <p:spPr>
          <a:xfrm>
            <a:off x="4800600" y="2039112"/>
            <a:ext cx="274320" cy="365760"/>
          </a:xfrm>
          <a:prstGeom prst="rightArrow">
            <a:avLst/>
          </a:prstGeom>
          <a:solidFill>
            <a:srgbClr val="F2A541"/>
          </a:solidFill>
          <a:ln w="12700">
            <a:solidFill>
              <a:srgbClr val="F2A541"/>
            </a:solidFill>
            <a:prstDash val="solid"/>
          </a:ln>
        </p:spPr>
      </p:sp>
      <p:sp>
        <p:nvSpPr>
          <p:cNvPr id="11" name="Shape 8"/>
          <p:cNvSpPr/>
          <p:nvPr/>
        </p:nvSpPr>
        <p:spPr>
          <a:xfrm>
            <a:off x="5120640" y="1737360"/>
            <a:ext cx="1920240" cy="960120"/>
          </a:xfrm>
          <a:prstGeom prst="roundRect">
            <a:avLst>
              <a:gd name="adj" fmla="val 9524"/>
            </a:avLst>
          </a:prstGeom>
          <a:solidFill>
            <a:srgbClr val="EEF4F3"/>
          </a:solidFill>
          <a:ln w="12700">
            <a:solidFill>
              <a:srgbClr val="6A4BE0"/>
            </a:solidFill>
            <a:prstDash val="solid"/>
          </a:ln>
        </p:spPr>
      </p:sp>
      <p:sp>
        <p:nvSpPr>
          <p:cNvPr id="12" name="Text 9"/>
          <p:cNvSpPr txBox="1"/>
          <p:nvPr/>
        </p:nvSpPr>
        <p:spPr>
          <a:xfrm>
            <a:off x="5193792" y="173736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build</a:t>
            </a:r>
            <a:endParaRPr lang="en-US" sz="1400" dirty="0"/>
          </a:p>
        </p:txBody>
      </p:sp>
      <p:sp>
        <p:nvSpPr>
          <p:cNvPr id="13" name="Shape 10"/>
          <p:cNvSpPr/>
          <p:nvPr/>
        </p:nvSpPr>
        <p:spPr>
          <a:xfrm>
            <a:off x="7086600" y="2039112"/>
            <a:ext cx="274320" cy="365760"/>
          </a:xfrm>
          <a:prstGeom prst="rightArrow">
            <a:avLst/>
          </a:prstGeom>
          <a:solidFill>
            <a:srgbClr val="F2A541"/>
          </a:solidFill>
          <a:ln w="12700">
            <a:solidFill>
              <a:srgbClr val="F2A541"/>
            </a:solidFill>
            <a:prstDash val="solid"/>
          </a:ln>
        </p:spPr>
      </p:sp>
      <p:sp>
        <p:nvSpPr>
          <p:cNvPr id="14" name="Shape 11"/>
          <p:cNvSpPr/>
          <p:nvPr/>
        </p:nvSpPr>
        <p:spPr>
          <a:xfrm>
            <a:off x="7406640" y="1737360"/>
            <a:ext cx="1920240" cy="960120"/>
          </a:xfrm>
          <a:prstGeom prst="roundRect">
            <a:avLst>
              <a:gd name="adj" fmla="val 9524"/>
            </a:avLst>
          </a:prstGeom>
          <a:solidFill>
            <a:srgbClr val="EEF4F3"/>
          </a:solidFill>
          <a:ln w="12700">
            <a:solidFill>
              <a:srgbClr val="6A4BE0"/>
            </a:solidFill>
            <a:prstDash val="solid"/>
          </a:ln>
        </p:spPr>
      </p:sp>
      <p:sp>
        <p:nvSpPr>
          <p:cNvPr id="15" name="Text 12"/>
          <p:cNvSpPr txBox="1"/>
          <p:nvPr/>
        </p:nvSpPr>
        <p:spPr>
          <a:xfrm>
            <a:off x="7479792" y="173736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レビュー</a:t>
            </a:r>
            <a:endParaRPr lang="en-US" sz="1400" dirty="0"/>
          </a:p>
          <a:p>
            <a:pPr algn="ctr" indent="0" marL="0">
              <a:buNone/>
            </a:pPr>
            <a:r>
              <a:rPr lang="en-US" sz="1400" dirty="0">
                <a:solidFill>
                  <a:srgbClr val="1B1F2A"/>
                </a:solidFill>
              </a:rPr>
              <a:t>（プレビュー URL も確認）</a:t>
            </a:r>
            <a:endParaRPr lang="en-US" sz="1400" dirty="0"/>
          </a:p>
        </p:txBody>
      </p:sp>
      <p:sp>
        <p:nvSpPr>
          <p:cNvPr id="16" name="Shape 13"/>
          <p:cNvSpPr/>
          <p:nvPr/>
        </p:nvSpPr>
        <p:spPr>
          <a:xfrm>
            <a:off x="9372600" y="2039112"/>
            <a:ext cx="274320" cy="365760"/>
          </a:xfrm>
          <a:prstGeom prst="rightArrow">
            <a:avLst/>
          </a:prstGeom>
          <a:solidFill>
            <a:srgbClr val="F2A541"/>
          </a:solidFill>
          <a:ln w="12700">
            <a:solidFill>
              <a:srgbClr val="F2A541"/>
            </a:solidFill>
            <a:prstDash val="solid"/>
          </a:ln>
        </p:spPr>
      </p:sp>
      <p:sp>
        <p:nvSpPr>
          <p:cNvPr id="17" name="Shape 14"/>
          <p:cNvSpPr/>
          <p:nvPr/>
        </p:nvSpPr>
        <p:spPr>
          <a:xfrm>
            <a:off x="9692640" y="1737360"/>
            <a:ext cx="1920240" cy="960120"/>
          </a:xfrm>
          <a:prstGeom prst="roundRect">
            <a:avLst>
              <a:gd name="adj" fmla="val 9524"/>
            </a:avLst>
          </a:prstGeom>
          <a:solidFill>
            <a:srgbClr val="EEF4F3"/>
          </a:solidFill>
          <a:ln w="12700">
            <a:solidFill>
              <a:srgbClr val="6A4BE0"/>
            </a:solidFill>
            <a:prstDash val="solid"/>
          </a:ln>
        </p:spPr>
      </p:sp>
      <p:sp>
        <p:nvSpPr>
          <p:cNvPr id="18" name="Text 15"/>
          <p:cNvSpPr txBox="1"/>
          <p:nvPr/>
        </p:nvSpPr>
        <p:spPr>
          <a:xfrm>
            <a:off x="9765792" y="173736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マージ</a:t>
            </a:r>
            <a:endParaRPr lang="en-US" sz="1400" dirty="0"/>
          </a:p>
        </p:txBody>
      </p:sp>
      <p:sp>
        <p:nvSpPr>
          <p:cNvPr id="19" name="Text 16"/>
          <p:cNvSpPr txBox="1"/>
          <p:nvPr/>
        </p:nvSpPr>
        <p:spPr>
          <a:xfrm>
            <a:off x="548640" y="3017520"/>
            <a:ext cx="11064240" cy="411480"/>
          </a:xfrm>
          <a:prstGeom prst="rect">
            <a:avLst/>
          </a:prstGeom>
          <a:noFill/>
          <a:ln/>
        </p:spPr>
        <p:txBody>
          <a:bodyPr wrap="square" lIns="0" tIns="0" rIns="0" bIns="0" rtlCol="0" anchor="ctr"/>
          <a:lstStyle/>
          <a:p>
            <a:pPr indent="0" marL="0">
              <a:buNone/>
            </a:pPr>
            <a:r>
              <a:rPr lang="en-US" sz="1700" b="1" dirty="0">
                <a:solidFill>
                  <a:srgbClr val="D4471F"/>
                </a:solidFill>
              </a:rPr>
              <a:t>main に入ったとき：検査＋自動で公開</a:t>
            </a:r>
            <a:endParaRPr lang="en-US" sz="1700" dirty="0"/>
          </a:p>
        </p:txBody>
      </p:sp>
      <p:sp>
        <p:nvSpPr>
          <p:cNvPr id="20" name="Shape 17"/>
          <p:cNvSpPr/>
          <p:nvPr/>
        </p:nvSpPr>
        <p:spPr>
          <a:xfrm>
            <a:off x="548640" y="3520440"/>
            <a:ext cx="1920240" cy="960120"/>
          </a:xfrm>
          <a:prstGeom prst="roundRect">
            <a:avLst>
              <a:gd name="adj" fmla="val 9524"/>
            </a:avLst>
          </a:prstGeom>
          <a:solidFill>
            <a:srgbClr val="EEF4F3"/>
          </a:solidFill>
          <a:ln w="12700">
            <a:solidFill>
              <a:srgbClr val="D4471F"/>
            </a:solidFill>
            <a:prstDash val="solid"/>
          </a:ln>
        </p:spPr>
      </p:sp>
      <p:sp>
        <p:nvSpPr>
          <p:cNvPr id="21" name="Text 18"/>
          <p:cNvSpPr txBox="1"/>
          <p:nvPr/>
        </p:nvSpPr>
        <p:spPr>
          <a:xfrm>
            <a:off x="621792" y="352044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main に入る</a:t>
            </a:r>
            <a:endParaRPr lang="en-US" sz="1400" dirty="0"/>
          </a:p>
        </p:txBody>
      </p:sp>
      <p:sp>
        <p:nvSpPr>
          <p:cNvPr id="22" name="Shape 19"/>
          <p:cNvSpPr/>
          <p:nvPr/>
        </p:nvSpPr>
        <p:spPr>
          <a:xfrm>
            <a:off x="2514600" y="3822192"/>
            <a:ext cx="274320" cy="365760"/>
          </a:xfrm>
          <a:prstGeom prst="rightArrow">
            <a:avLst/>
          </a:prstGeom>
          <a:solidFill>
            <a:srgbClr val="F2A541"/>
          </a:solidFill>
          <a:ln w="12700">
            <a:solidFill>
              <a:srgbClr val="F2A541"/>
            </a:solidFill>
            <a:prstDash val="solid"/>
          </a:ln>
        </p:spPr>
      </p:sp>
      <p:sp>
        <p:nvSpPr>
          <p:cNvPr id="23" name="Shape 20"/>
          <p:cNvSpPr/>
          <p:nvPr/>
        </p:nvSpPr>
        <p:spPr>
          <a:xfrm>
            <a:off x="2834640" y="3520440"/>
            <a:ext cx="1920240" cy="960120"/>
          </a:xfrm>
          <a:prstGeom prst="roundRect">
            <a:avLst>
              <a:gd name="adj" fmla="val 9524"/>
            </a:avLst>
          </a:prstGeom>
          <a:solidFill>
            <a:srgbClr val="EEF4F3"/>
          </a:solidFill>
          <a:ln w="12700">
            <a:solidFill>
              <a:srgbClr val="D4471F"/>
            </a:solidFill>
            <a:prstDash val="solid"/>
          </a:ln>
        </p:spPr>
      </p:sp>
      <p:sp>
        <p:nvSpPr>
          <p:cNvPr id="24" name="Text 21"/>
          <p:cNvSpPr txBox="1"/>
          <p:nvPr/>
        </p:nvSpPr>
        <p:spPr>
          <a:xfrm>
            <a:off x="2907792" y="352044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lint・test</a:t>
            </a:r>
            <a:endParaRPr lang="en-US" sz="1400" dirty="0"/>
          </a:p>
        </p:txBody>
      </p:sp>
      <p:sp>
        <p:nvSpPr>
          <p:cNvPr id="25" name="Shape 22"/>
          <p:cNvSpPr/>
          <p:nvPr/>
        </p:nvSpPr>
        <p:spPr>
          <a:xfrm>
            <a:off x="4800600" y="3822192"/>
            <a:ext cx="274320" cy="365760"/>
          </a:xfrm>
          <a:prstGeom prst="rightArrow">
            <a:avLst/>
          </a:prstGeom>
          <a:solidFill>
            <a:srgbClr val="F2A541"/>
          </a:solidFill>
          <a:ln w="12700">
            <a:solidFill>
              <a:srgbClr val="F2A541"/>
            </a:solidFill>
            <a:prstDash val="solid"/>
          </a:ln>
        </p:spPr>
      </p:sp>
      <p:sp>
        <p:nvSpPr>
          <p:cNvPr id="26" name="Shape 23"/>
          <p:cNvSpPr/>
          <p:nvPr/>
        </p:nvSpPr>
        <p:spPr>
          <a:xfrm>
            <a:off x="5120640" y="3520440"/>
            <a:ext cx="1920240" cy="960120"/>
          </a:xfrm>
          <a:prstGeom prst="roundRect">
            <a:avLst>
              <a:gd name="adj" fmla="val 9524"/>
            </a:avLst>
          </a:prstGeom>
          <a:solidFill>
            <a:srgbClr val="EEF4F3"/>
          </a:solidFill>
          <a:ln w="12700">
            <a:solidFill>
              <a:srgbClr val="D4471F"/>
            </a:solidFill>
            <a:prstDash val="solid"/>
          </a:ln>
        </p:spPr>
      </p:sp>
      <p:sp>
        <p:nvSpPr>
          <p:cNvPr id="27" name="Text 24"/>
          <p:cNvSpPr txBox="1"/>
          <p:nvPr/>
        </p:nvSpPr>
        <p:spPr>
          <a:xfrm>
            <a:off x="5193792" y="3520440"/>
            <a:ext cx="1773936" cy="960120"/>
          </a:xfrm>
          <a:prstGeom prst="rect">
            <a:avLst/>
          </a:prstGeom>
          <a:noFill/>
          <a:ln/>
        </p:spPr>
        <p:txBody>
          <a:bodyPr wrap="square" lIns="0" tIns="0" rIns="0" bIns="0" rtlCol="0" anchor="ctr"/>
          <a:lstStyle/>
          <a:p>
            <a:pPr algn="ctr" indent="0" marL="0">
              <a:buNone/>
            </a:pPr>
            <a:r>
              <a:rPr lang="en-US" sz="1400" dirty="0">
                <a:solidFill>
                  <a:srgbClr val="1B1F2A"/>
                </a:solidFill>
              </a:rPr>
              <a:t>build</a:t>
            </a:r>
            <a:endParaRPr lang="en-US" sz="1400" dirty="0"/>
          </a:p>
        </p:txBody>
      </p:sp>
      <p:sp>
        <p:nvSpPr>
          <p:cNvPr id="28" name="Shape 25"/>
          <p:cNvSpPr/>
          <p:nvPr/>
        </p:nvSpPr>
        <p:spPr>
          <a:xfrm>
            <a:off x="7086600" y="3822192"/>
            <a:ext cx="274320" cy="365760"/>
          </a:xfrm>
          <a:prstGeom prst="rightArrow">
            <a:avLst/>
          </a:prstGeom>
          <a:solidFill>
            <a:srgbClr val="F2A541"/>
          </a:solidFill>
          <a:ln w="12700">
            <a:solidFill>
              <a:srgbClr val="F2A541"/>
            </a:solidFill>
            <a:prstDash val="solid"/>
          </a:ln>
        </p:spPr>
      </p:sp>
      <p:sp>
        <p:nvSpPr>
          <p:cNvPr id="29" name="Shape 26"/>
          <p:cNvSpPr/>
          <p:nvPr/>
        </p:nvSpPr>
        <p:spPr>
          <a:xfrm>
            <a:off x="7406640" y="3520440"/>
            <a:ext cx="1920240" cy="960120"/>
          </a:xfrm>
          <a:prstGeom prst="roundRect">
            <a:avLst>
              <a:gd name="adj" fmla="val 9524"/>
            </a:avLst>
          </a:prstGeom>
          <a:solidFill>
            <a:srgbClr val="D4471F"/>
          </a:solidFill>
          <a:ln w="12700">
            <a:solidFill>
              <a:srgbClr val="D4471F"/>
            </a:solidFill>
            <a:prstDash val="solid"/>
          </a:ln>
        </p:spPr>
      </p:sp>
      <p:sp>
        <p:nvSpPr>
          <p:cNvPr id="30" name="Text 27"/>
          <p:cNvSpPr txBox="1"/>
          <p:nvPr/>
        </p:nvSpPr>
        <p:spPr>
          <a:xfrm>
            <a:off x="7479792" y="3520440"/>
            <a:ext cx="1773936" cy="960120"/>
          </a:xfrm>
          <a:prstGeom prst="rect">
            <a:avLst/>
          </a:prstGeom>
          <a:noFill/>
          <a:ln/>
        </p:spPr>
        <p:txBody>
          <a:bodyPr wrap="square" lIns="0" tIns="0" rIns="0" bIns="0" rtlCol="0" anchor="ctr"/>
          <a:lstStyle/>
          <a:p>
            <a:pPr algn="ctr" indent="0" marL="0">
              <a:buNone/>
            </a:pPr>
            <a:r>
              <a:rPr lang="en-US" sz="1400" b="1" dirty="0">
                <a:solidFill>
                  <a:srgbClr val="FFFFFF"/>
                </a:solidFill>
              </a:rPr>
              <a:t>pages-build</a:t>
            </a:r>
            <a:endParaRPr lang="en-US" sz="1400" dirty="0"/>
          </a:p>
          <a:p>
            <a:pPr algn="ctr" indent="0" marL="0">
              <a:buNone/>
            </a:pPr>
            <a:r>
              <a:rPr lang="en-US" sz="1400" b="1" dirty="0">
                <a:solidFill>
                  <a:srgbClr val="FFFFFF"/>
                </a:solidFill>
              </a:rPr>
              <a:t>（Pages 用）</a:t>
            </a:r>
            <a:endParaRPr lang="en-US" sz="1400" dirty="0"/>
          </a:p>
        </p:txBody>
      </p:sp>
      <p:sp>
        <p:nvSpPr>
          <p:cNvPr id="31" name="Shape 28"/>
          <p:cNvSpPr/>
          <p:nvPr/>
        </p:nvSpPr>
        <p:spPr>
          <a:xfrm>
            <a:off x="9372600" y="3822192"/>
            <a:ext cx="274320" cy="365760"/>
          </a:xfrm>
          <a:prstGeom prst="rightArrow">
            <a:avLst/>
          </a:prstGeom>
          <a:solidFill>
            <a:srgbClr val="F2A541"/>
          </a:solidFill>
          <a:ln w="12700">
            <a:solidFill>
              <a:srgbClr val="F2A541"/>
            </a:solidFill>
            <a:prstDash val="solid"/>
          </a:ln>
        </p:spPr>
      </p:sp>
      <p:sp>
        <p:nvSpPr>
          <p:cNvPr id="32" name="Shape 29"/>
          <p:cNvSpPr/>
          <p:nvPr/>
        </p:nvSpPr>
        <p:spPr>
          <a:xfrm>
            <a:off x="9692640" y="3520440"/>
            <a:ext cx="1920240" cy="960120"/>
          </a:xfrm>
          <a:prstGeom prst="roundRect">
            <a:avLst>
              <a:gd name="adj" fmla="val 9524"/>
            </a:avLst>
          </a:prstGeom>
          <a:solidFill>
            <a:srgbClr val="D4471F"/>
          </a:solidFill>
          <a:ln w="12700">
            <a:solidFill>
              <a:srgbClr val="D4471F"/>
            </a:solidFill>
            <a:prstDash val="solid"/>
          </a:ln>
        </p:spPr>
      </p:sp>
      <p:sp>
        <p:nvSpPr>
          <p:cNvPr id="33" name="Text 30"/>
          <p:cNvSpPr txBox="1"/>
          <p:nvPr/>
        </p:nvSpPr>
        <p:spPr>
          <a:xfrm>
            <a:off x="9765792" y="3520440"/>
            <a:ext cx="1773936" cy="960120"/>
          </a:xfrm>
          <a:prstGeom prst="rect">
            <a:avLst/>
          </a:prstGeom>
          <a:noFill/>
          <a:ln/>
        </p:spPr>
        <p:txBody>
          <a:bodyPr wrap="square" lIns="0" tIns="0" rIns="0" bIns="0" rtlCol="0" anchor="ctr"/>
          <a:lstStyle/>
          <a:p>
            <a:pPr algn="ctr" indent="0" marL="0">
              <a:buNone/>
            </a:pPr>
            <a:r>
              <a:rPr lang="en-US" sz="1400" b="1" dirty="0">
                <a:solidFill>
                  <a:srgbClr val="FFFFFF"/>
                </a:solidFill>
              </a:rPr>
              <a:t>pages-deploy</a:t>
            </a:r>
            <a:endParaRPr lang="en-US" sz="1400" dirty="0"/>
          </a:p>
          <a:p>
            <a:pPr algn="ctr" indent="0" marL="0">
              <a:buNone/>
            </a:pPr>
            <a:r>
              <a:rPr lang="en-US" sz="1400" b="1" dirty="0">
                <a:solidFill>
                  <a:srgbClr val="FFFFFF"/>
                </a:solidFill>
              </a:rPr>
              <a:t>（公開）</a:t>
            </a:r>
            <a:endParaRPr lang="en-US" sz="1400" dirty="0"/>
          </a:p>
        </p:txBody>
      </p:sp>
      <p:sp>
        <p:nvSpPr>
          <p:cNvPr id="34" name="Shape 31"/>
          <p:cNvSpPr/>
          <p:nvPr/>
        </p:nvSpPr>
        <p:spPr>
          <a:xfrm>
            <a:off x="548640" y="4846320"/>
            <a:ext cx="11064240" cy="1417320"/>
          </a:xfrm>
          <a:prstGeom prst="roundRect">
            <a:avLst>
              <a:gd name="adj" fmla="val 7742"/>
            </a:avLst>
          </a:prstGeom>
          <a:solidFill>
            <a:srgbClr val="FBEDE8"/>
          </a:solidFill>
          <a:ln w="12700">
            <a:solidFill>
              <a:srgbClr val="FBEDE8"/>
            </a:solidFill>
            <a:prstDash val="solid"/>
          </a:ln>
        </p:spPr>
      </p:sp>
      <p:sp>
        <p:nvSpPr>
          <p:cNvPr id="35" name="Text 32"/>
          <p:cNvSpPr txBox="1"/>
          <p:nvPr/>
        </p:nvSpPr>
        <p:spPr>
          <a:xfrm>
            <a:off x="731520" y="4983480"/>
            <a:ext cx="10698480" cy="1143000"/>
          </a:xfrm>
          <a:prstGeom prst="rect">
            <a:avLst/>
          </a:prstGeom>
          <a:noFill/>
          <a:ln/>
        </p:spPr>
        <p:txBody>
          <a:bodyPr wrap="square" lIns="0" tIns="0" rIns="0" bIns="0" rtlCol="0" anchor="t"/>
          <a:lstStyle/>
          <a:p>
            <a:pPr indent="0" marL="0">
              <a:spcAft>
                <a:spcPts val="600"/>
              </a:spcAft>
              <a:buNone/>
            </a:pPr>
            <a:r>
              <a:rPr lang="en-US" sz="1800" b="1" dirty="0">
                <a:solidFill>
                  <a:srgbClr val="D4471F"/>
                </a:solidFill>
              </a:rPr>
              <a:t>ポイント</a:t>
            </a:r>
            <a:endParaRPr lang="en-US" sz="1800" dirty="0"/>
          </a:p>
          <a:p>
            <a:pPr indent="0" marL="0">
              <a:spcAft>
                <a:spcPts val="600"/>
              </a:spcAft>
              <a:buNone/>
            </a:pPr>
            <a:r>
              <a:rPr lang="en-US" sz="1400" dirty="0">
                <a:solidFill>
                  <a:srgbClr val="1B1F2A"/>
                </a:solidFill>
              </a:rPr>
              <a:t>ci.yml 1本の中で、if: を使って PR と main の動きを書き分ける。どこかで失敗したら先には進まない（needs）。Vercel も main に入ると本番 URL を自動更新。公開後に問題が見つかったら git revert で戻す</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4 CI/CD：6コマでやること</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822960"/>
                <a:gridCol w="3200400"/>
                <a:gridCol w="7040880"/>
              </a:tblGrid>
              <a:tr h="0">
                <a:tc>
                  <a:txBody>
                    <a:bodyPr/>
                    <a:lstStyle/>
                    <a:p>
                      <a:pPr indent="0" marL="0">
                        <a:buNone/>
                      </a:pPr>
                      <a:r>
                        <a:rPr lang="en-US" sz="1400" b="1" dirty="0">
                          <a:solidFill>
                            <a:srgbClr val="FFFFFF"/>
                          </a:solidFill>
                        </a:rPr>
                        <a:t>コマ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c>
                  <a:txBody>
                    <a:bodyPr/>
                    <a:lstStyle/>
                    <a:p>
                      <a:pPr indent="0" marL="0">
                        <a:buNone/>
                      </a:pPr>
                      <a:r>
                        <a:rPr lang="en-US" sz="1400" b="1" dirty="0">
                          <a:solidFill>
                            <a:srgbClr val="FFFFFF"/>
                          </a:solidFill>
                        </a:rPr>
                        <a:t>タイトル</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c>
                  <a:txBody>
                    <a:bodyPr/>
                    <a:lstStyle/>
                    <a:p>
                      <a:pPr indent="0" marL="0">
                        <a:buNone/>
                      </a:pPr>
                      <a:r>
                        <a:rPr lang="en-US" sz="1400" b="1" dirty="0">
                          <a:solidFill>
                            <a:srgbClr val="FFFFFF"/>
                          </a:solidFill>
                        </a:rPr>
                        <a:t>できるようになること</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r>
              <a:tr h="0">
                <a:tc>
                  <a:txBody>
                    <a:bodyPr/>
                    <a:lstStyle/>
                    <a:p>
                      <a:pPr indent="0" marL="0">
                        <a:buNone/>
                      </a:pPr>
                      <a:r>
                        <a:rPr lang="en-US" sz="1600" b="1" dirty="0">
                          <a:solidFill>
                            <a:srgbClr val="D4471F"/>
                          </a:solidFill>
                        </a:rPr>
                        <a:t>20</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デプロイ先の比較と選定</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静的ホスティングとサーバ付きの違い。output: 'export' を試し、GitHub Pages と Vercel を比べて選ぶ</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21</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Vercel へのデプロイ</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リポジトリをつないで公開。本番とプレビューで環境変数を分け、PR ごとのプレビュー URL で確認・以前の版に戻す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D4471F"/>
                          </a:solidFill>
                        </a:rPr>
                        <a:t>22</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GitHub Pages へのデプロイ</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Pages 向けビルドのときだけ export・basePath・trailingSlash を有効にし、Actions で公開する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23</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CI/CD パイプラインの完成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CI とデプロイを1本に。PR は検査だけ、main は検査＋公開。Issue → PR → マージ → 公開を一人で回す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D4471F"/>
                          </a:solidFill>
                        </a:rPr>
                        <a:t>24</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トラブルシューティング演習</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「どこで・何が・なぜ」で絞り込む。「手元では通るのに CI で落ちる」典型的な原因を知る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25</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チーム開発シミュレーション</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Issue を分担して並行開発。レビュー必須のルールでレビューし合い、コンフリクトを相談して解決する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4 の用語①（公開まわり）</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r>
              <a:tr h="0">
                <a:tc>
                  <a:txBody>
                    <a:bodyPr/>
                    <a:lstStyle/>
                    <a:p>
                      <a:pPr indent="0" marL="0">
                        <a:buNone/>
                      </a:pPr>
                      <a:r>
                        <a:rPr lang="en-US" sz="1600" b="1" dirty="0">
                          <a:solidFill>
                            <a:srgbClr val="D4471F"/>
                          </a:solidFill>
                        </a:rPr>
                        <a:t>deploy</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déployer（フランス語）</a:t>
                      </a:r>
                      <a:endParaRPr lang="en-US" sz="1400" dirty="0"/>
                    </a:p>
                    <a:p>
                      <a:pPr indent="0" marL="0">
                        <a:buNone/>
                      </a:pPr>
                      <a:r>
                        <a:rPr lang="en-US" sz="1400" dirty="0">
                          <a:solidFill>
                            <a:srgbClr val="1B1F2A"/>
                          </a:solidFill>
                        </a:rPr>
                        <a:t>「広げる」が元の意味。軍隊を各地へ「配備」する意味を経て、ソフトを使える場所に置く意味に</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アプリをインターネット上に置き、誰でも見られるようにすること</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URL</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Uniform Resource Locator</a:t>
                      </a:r>
                      <a:endParaRPr lang="en-US" sz="1400" dirty="0"/>
                    </a:p>
                    <a:p>
                      <a:pPr indent="0" marL="0">
                        <a:buNone/>
                      </a:pPr>
                      <a:r>
                        <a:rPr lang="en-US" sz="1400" dirty="0">
                          <a:solidFill>
                            <a:srgbClr val="1B1F2A"/>
                          </a:solidFill>
                        </a:rPr>
                        <a:t>「統一された形式で、資源（ページやファイル）の場所を示すもの」＝ Web 上の住所</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公開すると https://… の公開 URL が発行される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D4471F"/>
                          </a:solidFill>
                        </a:rPr>
                        <a:t>static（静的）</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static</a:t>
                      </a:r>
                      <a:endParaRPr lang="en-US" sz="1400" dirty="0"/>
                    </a:p>
                    <a:p>
                      <a:pPr indent="0" marL="0">
                        <a:buNone/>
                      </a:pPr>
                      <a:r>
                        <a:rPr lang="en-US" sz="1400" dirty="0">
                          <a:solidFill>
                            <a:srgbClr val="1B1F2A"/>
                          </a:solidFill>
                        </a:rPr>
                        <a:t>「動かない・固定の」。反対は dynamic（動的）</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完成済みのファイルを置くだけのサイト。GitHub Pages はこれ</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basePath / trailingSlash</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base ＋ path ／ trailing ＋ slash</a:t>
                      </a:r>
                      <a:endParaRPr lang="en-US" sz="1400" dirty="0"/>
                    </a:p>
                    <a:p>
                      <a:pPr indent="0" marL="0">
                        <a:buNone/>
                      </a:pPr>
                      <a:r>
                        <a:rPr lang="en-US" sz="1400" dirty="0">
                          <a:solidFill>
                            <a:srgbClr val="1B1F2A"/>
                          </a:solidFill>
                        </a:rPr>
                        <a:t>base＝土台、path＝道。trailing＝後ろに続く、slash＝「/」</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Pages の URL は /リポジトリ名/ から始まるので、その土台と末尾の / を設定する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D4471F"/>
                          </a:solidFill>
                        </a:rPr>
                        <a:t>artifact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artifact</a:t>
                      </a:r>
                      <a:endParaRPr lang="en-US" sz="1400" dirty="0"/>
                    </a:p>
                    <a:p>
                      <a:pPr indent="0" marL="0">
                        <a:buNone/>
                      </a:pPr>
                      <a:r>
                        <a:rPr lang="en-US" sz="1400" dirty="0">
                          <a:solidFill>
                            <a:srgbClr val="1B1F2A"/>
                          </a:solidFill>
                        </a:rPr>
                        <a:t>「人工物・成果物」。ラテン語 arte（技で）＋ factum（作られたもの）</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ワークフローで作ったファイル（ビルド結果など）を保存・受け渡しする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4 の用語②（運用とチーム開発）</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1920240"/>
                <a:gridCol w="5303520"/>
                <a:gridCol w="3840480"/>
              </a:tblGrid>
              <a:tr h="0">
                <a:tc>
                  <a:txBody>
                    <a:bodyPr/>
                    <a:lstStyle/>
                    <a:p>
                      <a:pPr indent="0" marL="0">
                        <a:buNone/>
                      </a:pPr>
                      <a:r>
                        <a:rPr lang="en-US" sz="1400" b="1" dirty="0">
                          <a:solidFill>
                            <a:srgbClr val="FFFFFF"/>
                          </a:solidFill>
                        </a:rPr>
                        <a:t>用語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c>
                  <a:txBody>
                    <a:bodyPr/>
                    <a:lstStyle/>
                    <a:p>
                      <a:pPr indent="0" marL="0">
                        <a:buNone/>
                      </a:pPr>
                      <a:r>
                        <a:rPr lang="en-US" sz="1400" b="1" dirty="0">
                          <a:solidFill>
                            <a:srgbClr val="FFFFFF"/>
                          </a:solidFill>
                        </a:rPr>
                        <a:t>元の英語・語源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c>
                  <a:txBody>
                    <a:bodyPr/>
                    <a:lstStyle/>
                    <a:p>
                      <a:pPr indent="0" marL="0">
                        <a:buNone/>
                      </a:pPr>
                      <a:r>
                        <a:rPr lang="en-US" sz="1400" b="1" dirty="0">
                          <a:solidFill>
                            <a:srgbClr val="FFFFFF"/>
                          </a:solidFill>
                        </a:rPr>
                        <a:t>この授業では</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D4471F"/>
                    </a:solidFill>
                  </a:tcPr>
                </a:tc>
              </a:tr>
              <a:tr h="0">
                <a:tc>
                  <a:txBody>
                    <a:bodyPr/>
                    <a:lstStyle/>
                    <a:p>
                      <a:pPr indent="0" marL="0">
                        <a:buNone/>
                      </a:pPr>
                      <a:r>
                        <a:rPr lang="en-US" sz="1600" b="1" dirty="0">
                          <a:solidFill>
                            <a:srgbClr val="D4471F"/>
                          </a:solidFill>
                        </a:rPr>
                        <a:t>pipeline</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pipe ＋ line</a:t>
                      </a:r>
                      <a:endParaRPr lang="en-US" sz="1400" dirty="0"/>
                    </a:p>
                    <a:p>
                      <a:pPr indent="0" marL="0">
                        <a:buNone/>
                      </a:pPr>
                      <a:r>
                        <a:rPr lang="en-US" sz="1400" dirty="0">
                          <a:solidFill>
                            <a:srgbClr val="1B1F2A"/>
                          </a:solidFill>
                        </a:rPr>
                        <a:t>パイプ（管）をつないだ線。石油やガスを順に送る管が元の意味</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lint → test → build → 公開を1本につなぎ、順に自動で流すしくみ</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Production / Preview</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production ／ pre ＋ view</a:t>
                      </a:r>
                      <a:endParaRPr lang="en-US" sz="1400" dirty="0"/>
                    </a:p>
                    <a:p>
                      <a:pPr indent="0" marL="0">
                        <a:buNone/>
                      </a:pPr>
                      <a:r>
                        <a:rPr lang="en-US" sz="1400" dirty="0">
                          <a:solidFill>
                            <a:srgbClr val="1B1F2A"/>
                          </a:solidFill>
                        </a:rPr>
                        <a:t>production＝生産→「本番」。preview＝前もって（pre）見る（view）</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Vercel の本番環境と、PR ごとの確認用環境</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D4471F"/>
                          </a:solidFill>
                        </a:rPr>
                        <a:t>revert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re ＋ vert</a:t>
                      </a:r>
                      <a:endParaRPr lang="en-US" sz="1400" dirty="0"/>
                    </a:p>
                    <a:p>
                      <a:pPr indent="0" marL="0">
                        <a:buNone/>
                      </a:pPr>
                      <a:r>
                        <a:rPr lang="en-US" sz="1400" dirty="0">
                          <a:solidFill>
                            <a:srgbClr val="1B1F2A"/>
                          </a:solidFill>
                        </a:rPr>
                        <a:t>re（元へ）＋ vert（向ける）＝「元に戻す」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公開後に問題が出たら、その変更を打ち消すコミットを作って戻す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Issue</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issue</a:t>
                      </a:r>
                      <a:endParaRPr lang="en-US" sz="1400" dirty="0"/>
                    </a:p>
                    <a:p>
                      <a:pPr indent="0" marL="0">
                        <a:buNone/>
                      </a:pPr>
                      <a:r>
                        <a:rPr lang="en-US" sz="1400" dirty="0">
                          <a:solidFill>
                            <a:srgbClr val="1B1F2A"/>
                          </a:solidFill>
                        </a:rPr>
                        <a:t>「問題・論点」</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やること・バグを登録する GitHub の機能。Issue → PR の順で開発する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D4471F"/>
                          </a:solidFill>
                        </a:rPr>
                        <a:t>review</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re ＋ view</a:t>
                      </a:r>
                      <a:endParaRPr lang="en-US" sz="1400" dirty="0"/>
                    </a:p>
                    <a:p>
                      <a:pPr indent="0" marL="0">
                        <a:buNone/>
                      </a:pPr>
                      <a:r>
                        <a:rPr lang="en-US" sz="1400" dirty="0">
                          <a:solidFill>
                            <a:srgbClr val="1B1F2A"/>
                          </a:solidFill>
                        </a:rPr>
                        <a:t>「もう一度見る」→「見直す・批評する」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他の人の PR のコードとプレビューを見て、意見を書く</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D4471F"/>
                          </a:solidFill>
                        </a:rPr>
                        <a:t>conflict</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con ＋ flict</a:t>
                      </a:r>
                      <a:endParaRPr lang="en-US" sz="1400" dirty="0"/>
                    </a:p>
                    <a:p>
                      <a:pPr indent="0" marL="0">
                        <a:buNone/>
                      </a:pPr>
                      <a:r>
                        <a:rPr lang="en-US" sz="1400" dirty="0">
                          <a:solidFill>
                            <a:srgbClr val="1B1F2A"/>
                          </a:solidFill>
                        </a:rPr>
                        <a:t>ラテン語 con（共に）＋ fligere（打つ）＝「ぶつかり合い・衝突」</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2人が同じ行を変えたときに起きる。相談して正しい形に直す</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Phase 5：個人制作で全部をつなげる</a:t>
            </a:r>
            <a:endParaRPr lang="en-US" sz="3000" dirty="0"/>
          </a:p>
        </p:txBody>
      </p:sp>
      <p:sp>
        <p:nvSpPr>
          <p:cNvPr id="4" name="Shape 1"/>
          <p:cNvSpPr/>
          <p:nvPr/>
        </p:nvSpPr>
        <p:spPr>
          <a:xfrm>
            <a:off x="822960" y="1737360"/>
            <a:ext cx="731520" cy="731520"/>
          </a:xfrm>
          <a:prstGeom prst="ellipse">
            <a:avLst/>
          </a:prstGeom>
          <a:solidFill>
            <a:srgbClr val="2E86AB"/>
          </a:solidFill>
          <a:ln w="12700">
            <a:solidFill>
              <a:srgbClr val="2E86AB"/>
            </a:solidFill>
            <a:prstDash val="solid"/>
          </a:ln>
        </p:spPr>
      </p:sp>
      <p:sp>
        <p:nvSpPr>
          <p:cNvPr id="5" name="Text 2"/>
          <p:cNvSpPr txBox="1"/>
          <p:nvPr/>
        </p:nvSpPr>
        <p:spPr>
          <a:xfrm>
            <a:off x="822960" y="17373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26</a:t>
            </a:r>
            <a:endParaRPr lang="en-US" sz="1800" dirty="0"/>
          </a:p>
        </p:txBody>
      </p:sp>
      <p:sp>
        <p:nvSpPr>
          <p:cNvPr id="6" name="Text 3"/>
          <p:cNvSpPr txBox="1"/>
          <p:nvPr/>
        </p:nvSpPr>
        <p:spPr>
          <a:xfrm>
            <a:off x="365760" y="2606040"/>
            <a:ext cx="1645920" cy="457200"/>
          </a:xfrm>
          <a:prstGeom prst="rect">
            <a:avLst/>
          </a:prstGeom>
          <a:noFill/>
          <a:ln/>
        </p:spPr>
        <p:txBody>
          <a:bodyPr wrap="square" lIns="0" tIns="0" rIns="0" bIns="0" rtlCol="0" anchor="ctr"/>
          <a:lstStyle/>
          <a:p>
            <a:pPr algn="ctr" indent="0" marL="0">
              <a:buNone/>
            </a:pPr>
            <a:r>
              <a:rPr lang="en-US" sz="1500" dirty="0">
                <a:solidFill>
                  <a:srgbClr val="1B1F2A"/>
                </a:solidFill>
              </a:rPr>
              <a:t>企画・設計</a:t>
            </a:r>
            <a:endParaRPr lang="en-US" sz="1500" dirty="0"/>
          </a:p>
        </p:txBody>
      </p:sp>
      <p:sp>
        <p:nvSpPr>
          <p:cNvPr id="7" name="Shape 4"/>
          <p:cNvSpPr/>
          <p:nvPr/>
        </p:nvSpPr>
        <p:spPr>
          <a:xfrm>
            <a:off x="3063240" y="1737360"/>
            <a:ext cx="731520" cy="731520"/>
          </a:xfrm>
          <a:prstGeom prst="ellipse">
            <a:avLst/>
          </a:prstGeom>
          <a:solidFill>
            <a:srgbClr val="2E86AB"/>
          </a:solidFill>
          <a:ln w="12700">
            <a:solidFill>
              <a:srgbClr val="2E86AB"/>
            </a:solidFill>
            <a:prstDash val="solid"/>
          </a:ln>
        </p:spPr>
      </p:sp>
      <p:sp>
        <p:nvSpPr>
          <p:cNvPr id="8" name="Text 5"/>
          <p:cNvSpPr txBox="1"/>
          <p:nvPr/>
        </p:nvSpPr>
        <p:spPr>
          <a:xfrm>
            <a:off x="3063240" y="17373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27</a:t>
            </a:r>
            <a:endParaRPr lang="en-US" sz="1800" dirty="0"/>
          </a:p>
        </p:txBody>
      </p:sp>
      <p:sp>
        <p:nvSpPr>
          <p:cNvPr id="9" name="Text 6"/>
          <p:cNvSpPr txBox="1"/>
          <p:nvPr/>
        </p:nvSpPr>
        <p:spPr>
          <a:xfrm>
            <a:off x="2606040" y="2606040"/>
            <a:ext cx="1645920" cy="457200"/>
          </a:xfrm>
          <a:prstGeom prst="rect">
            <a:avLst/>
          </a:prstGeom>
          <a:noFill/>
          <a:ln/>
        </p:spPr>
        <p:txBody>
          <a:bodyPr wrap="square" lIns="0" tIns="0" rIns="0" bIns="0" rtlCol="0" anchor="ctr"/>
          <a:lstStyle/>
          <a:p>
            <a:pPr algn="ctr" indent="0" marL="0">
              <a:buNone/>
            </a:pPr>
            <a:r>
              <a:rPr lang="en-US" sz="1500" dirty="0">
                <a:solidFill>
                  <a:srgbClr val="1B1F2A"/>
                </a:solidFill>
              </a:rPr>
              <a:t>実装</a:t>
            </a:r>
            <a:endParaRPr lang="en-US" sz="1500" dirty="0"/>
          </a:p>
        </p:txBody>
      </p:sp>
      <p:sp>
        <p:nvSpPr>
          <p:cNvPr id="10" name="Shape 7"/>
          <p:cNvSpPr/>
          <p:nvPr/>
        </p:nvSpPr>
        <p:spPr>
          <a:xfrm>
            <a:off x="5303520" y="1737360"/>
            <a:ext cx="731520" cy="731520"/>
          </a:xfrm>
          <a:prstGeom prst="ellipse">
            <a:avLst/>
          </a:prstGeom>
          <a:solidFill>
            <a:srgbClr val="2E86AB"/>
          </a:solidFill>
          <a:ln w="12700">
            <a:solidFill>
              <a:srgbClr val="2E86AB"/>
            </a:solidFill>
            <a:prstDash val="solid"/>
          </a:ln>
        </p:spPr>
      </p:sp>
      <p:sp>
        <p:nvSpPr>
          <p:cNvPr id="11" name="Text 8"/>
          <p:cNvSpPr txBox="1"/>
          <p:nvPr/>
        </p:nvSpPr>
        <p:spPr>
          <a:xfrm>
            <a:off x="5303520" y="17373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28</a:t>
            </a:r>
            <a:endParaRPr lang="en-US" sz="1800" dirty="0"/>
          </a:p>
        </p:txBody>
      </p:sp>
      <p:sp>
        <p:nvSpPr>
          <p:cNvPr id="12" name="Text 9"/>
          <p:cNvSpPr txBox="1"/>
          <p:nvPr/>
        </p:nvSpPr>
        <p:spPr>
          <a:xfrm>
            <a:off x="4846320" y="2606040"/>
            <a:ext cx="1645920" cy="457200"/>
          </a:xfrm>
          <a:prstGeom prst="rect">
            <a:avLst/>
          </a:prstGeom>
          <a:noFill/>
          <a:ln/>
        </p:spPr>
        <p:txBody>
          <a:bodyPr wrap="square" lIns="0" tIns="0" rIns="0" bIns="0" rtlCol="0" anchor="ctr"/>
          <a:lstStyle/>
          <a:p>
            <a:pPr algn="ctr" indent="0" marL="0">
              <a:buNone/>
            </a:pPr>
            <a:r>
              <a:rPr lang="en-US" sz="1500" dirty="0">
                <a:solidFill>
                  <a:srgbClr val="1B1F2A"/>
                </a:solidFill>
              </a:rPr>
              <a:t>テストと CI/CD</a:t>
            </a:r>
            <a:endParaRPr lang="en-US" sz="1500" dirty="0"/>
          </a:p>
        </p:txBody>
      </p:sp>
      <p:sp>
        <p:nvSpPr>
          <p:cNvPr id="13" name="Shape 10"/>
          <p:cNvSpPr/>
          <p:nvPr/>
        </p:nvSpPr>
        <p:spPr>
          <a:xfrm>
            <a:off x="7543800" y="1737360"/>
            <a:ext cx="731520" cy="731520"/>
          </a:xfrm>
          <a:prstGeom prst="ellipse">
            <a:avLst/>
          </a:prstGeom>
          <a:solidFill>
            <a:srgbClr val="2E86AB"/>
          </a:solidFill>
          <a:ln w="12700">
            <a:solidFill>
              <a:srgbClr val="2E86AB"/>
            </a:solidFill>
            <a:prstDash val="solid"/>
          </a:ln>
        </p:spPr>
      </p:sp>
      <p:sp>
        <p:nvSpPr>
          <p:cNvPr id="14" name="Text 11"/>
          <p:cNvSpPr txBox="1"/>
          <p:nvPr/>
        </p:nvSpPr>
        <p:spPr>
          <a:xfrm>
            <a:off x="7543800" y="17373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29</a:t>
            </a:r>
            <a:endParaRPr lang="en-US" sz="1800" dirty="0"/>
          </a:p>
        </p:txBody>
      </p:sp>
      <p:sp>
        <p:nvSpPr>
          <p:cNvPr id="15" name="Text 12"/>
          <p:cNvSpPr txBox="1"/>
          <p:nvPr/>
        </p:nvSpPr>
        <p:spPr>
          <a:xfrm>
            <a:off x="7086600" y="2606040"/>
            <a:ext cx="1645920" cy="457200"/>
          </a:xfrm>
          <a:prstGeom prst="rect">
            <a:avLst/>
          </a:prstGeom>
          <a:noFill/>
          <a:ln/>
        </p:spPr>
        <p:txBody>
          <a:bodyPr wrap="square" lIns="0" tIns="0" rIns="0" bIns="0" rtlCol="0" anchor="ctr"/>
          <a:lstStyle/>
          <a:p>
            <a:pPr algn="ctr" indent="0" marL="0">
              <a:buNone/>
            </a:pPr>
            <a:r>
              <a:rPr lang="en-US" sz="1500" dirty="0">
                <a:solidFill>
                  <a:srgbClr val="1B1F2A"/>
                </a:solidFill>
              </a:rPr>
              <a:t>発表準備</a:t>
            </a:r>
            <a:endParaRPr lang="en-US" sz="1500" dirty="0"/>
          </a:p>
        </p:txBody>
      </p:sp>
      <p:sp>
        <p:nvSpPr>
          <p:cNvPr id="16" name="Shape 13"/>
          <p:cNvSpPr/>
          <p:nvPr/>
        </p:nvSpPr>
        <p:spPr>
          <a:xfrm>
            <a:off x="9784080" y="1737360"/>
            <a:ext cx="731520" cy="731520"/>
          </a:xfrm>
          <a:prstGeom prst="ellipse">
            <a:avLst/>
          </a:prstGeom>
          <a:solidFill>
            <a:srgbClr val="2E86AB"/>
          </a:solidFill>
          <a:ln w="12700">
            <a:solidFill>
              <a:srgbClr val="2E86AB"/>
            </a:solidFill>
            <a:prstDash val="solid"/>
          </a:ln>
        </p:spPr>
      </p:sp>
      <p:sp>
        <p:nvSpPr>
          <p:cNvPr id="17" name="Text 14"/>
          <p:cNvSpPr txBox="1"/>
          <p:nvPr/>
        </p:nvSpPr>
        <p:spPr>
          <a:xfrm>
            <a:off x="9784080" y="17373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rPr>
              <a:t>30</a:t>
            </a:r>
            <a:endParaRPr lang="en-US" sz="1800" dirty="0"/>
          </a:p>
        </p:txBody>
      </p:sp>
      <p:sp>
        <p:nvSpPr>
          <p:cNvPr id="18" name="Text 15"/>
          <p:cNvSpPr txBox="1"/>
          <p:nvPr/>
        </p:nvSpPr>
        <p:spPr>
          <a:xfrm>
            <a:off x="9326880" y="2606040"/>
            <a:ext cx="1645920" cy="457200"/>
          </a:xfrm>
          <a:prstGeom prst="rect">
            <a:avLst/>
          </a:prstGeom>
          <a:noFill/>
          <a:ln/>
        </p:spPr>
        <p:txBody>
          <a:bodyPr wrap="square" lIns="0" tIns="0" rIns="0" bIns="0" rtlCol="0" anchor="ctr"/>
          <a:lstStyle/>
          <a:p>
            <a:pPr algn="ctr" indent="0" marL="0">
              <a:buNone/>
            </a:pPr>
            <a:r>
              <a:rPr lang="en-US" sz="1500" dirty="0">
                <a:solidFill>
                  <a:srgbClr val="1B1F2A"/>
                </a:solidFill>
              </a:rPr>
              <a:t>最終発表</a:t>
            </a:r>
            <a:endParaRPr lang="en-US" sz="1500" dirty="0"/>
          </a:p>
        </p:txBody>
      </p:sp>
      <p:sp>
        <p:nvSpPr>
          <p:cNvPr id="19" name="Shape 16"/>
          <p:cNvSpPr/>
          <p:nvPr/>
        </p:nvSpPr>
        <p:spPr>
          <a:xfrm>
            <a:off x="548640" y="3383280"/>
            <a:ext cx="11064240" cy="2286000"/>
          </a:xfrm>
          <a:prstGeom prst="roundRect">
            <a:avLst>
              <a:gd name="adj" fmla="val 4800"/>
            </a:avLst>
          </a:prstGeom>
          <a:solidFill>
            <a:srgbClr val="EEF4F3"/>
          </a:solidFill>
          <a:ln w="12700">
            <a:solidFill>
              <a:srgbClr val="EEF4F3"/>
            </a:solidFill>
            <a:prstDash val="solid"/>
          </a:ln>
        </p:spPr>
      </p:sp>
      <p:sp>
        <p:nvSpPr>
          <p:cNvPr id="20" name="Text 17"/>
          <p:cNvSpPr txBox="1"/>
          <p:nvPr/>
        </p:nvSpPr>
        <p:spPr>
          <a:xfrm>
            <a:off x="731520" y="3520440"/>
            <a:ext cx="10698480" cy="2011680"/>
          </a:xfrm>
          <a:prstGeom prst="rect">
            <a:avLst/>
          </a:prstGeom>
          <a:noFill/>
          <a:ln/>
        </p:spPr>
        <p:txBody>
          <a:bodyPr wrap="square" lIns="0" tIns="0" rIns="0" bIns="0" rtlCol="0" anchor="t"/>
          <a:lstStyle/>
          <a:p>
            <a:pPr indent="0" marL="0">
              <a:spcAft>
                <a:spcPts val="600"/>
              </a:spcAft>
              <a:buNone/>
            </a:pPr>
            <a:r>
              <a:rPr lang="en-US" sz="1800" b="1" dirty="0">
                <a:solidFill>
                  <a:srgbClr val="2E86AB"/>
                </a:solidFill>
              </a:rPr>
              <a:t>ゴール（例：ポモドーロタイマー）</a:t>
            </a:r>
            <a:endParaRPr lang="en-US" sz="1800" dirty="0"/>
          </a:p>
          <a:p>
            <a:pPr indent="0" marL="0">
              <a:spcAft>
                <a:spcPts val="600"/>
              </a:spcAft>
              <a:buNone/>
            </a:pPr>
            <a:r>
              <a:rPr lang="en-US" sz="1400" dirty="0">
                <a:solidFill>
                  <a:srgbClr val="1B1F2A"/>
                </a:solidFill>
              </a:rPr>
              <a:t>自分のアプリを Next.js で作り、テストを書き、GitHub Actions で CI を回し、公開 URL で発表する。</a:t>
            </a:r>
            <a:endParaRPr lang="en-US" sz="1800" dirty="0"/>
          </a:p>
          <a:p>
            <a:pPr indent="0" marL="0">
              <a:spcAft>
                <a:spcPts val="600"/>
              </a:spcAft>
              <a:buNone/>
            </a:pPr>
            <a:r>
              <a:rPr lang="en-US" sz="1400" dirty="0">
                <a:solidFill>
                  <a:srgbClr val="1B1F2A"/>
                </a:solidFill>
              </a:rPr>
              <a:t>「README の URL を開けば動く」「PR にチェックの ✓ が付いている」状態が完成形です。</a:t>
            </a:r>
            <a:endParaRPr lang="en-US" sz="1800" dirty="0"/>
          </a:p>
          <a:p>
            <a:pPr indent="0" marL="0">
              <a:spcAft>
                <a:spcPts val="600"/>
              </a:spcAft>
              <a:buNone/>
            </a:pPr>
            <a:r>
              <a:rPr lang="en-US" sz="1400" dirty="0">
                <a:solidFill>
                  <a:srgbClr val="1B1F2A"/>
                </a:solidFill>
              </a:rPr>
              <a:t>ポモドーロ（pomodoro）はイタリア語で「トマト」。トマト型のキッチンタイマーで25分集中する勉強法が名前の由来</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発展編（任意）：6コマと用語</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64240" cy="914400"/>
        </p:xfrm>
        <a:graphic>
          <a:graphicData uri="http://schemas.openxmlformats.org/drawingml/2006/table">
            <a:tbl>
              <a:tblPr/>
              <a:tblGrid>
                <a:gridCol w="822960"/>
                <a:gridCol w="6766560"/>
                <a:gridCol w="3474720"/>
              </a:tblGrid>
              <a:tr h="0">
                <a:tc>
                  <a:txBody>
                    <a:bodyPr/>
                    <a:lstStyle/>
                    <a:p>
                      <a:pPr indent="0" marL="0">
                        <a:buNone/>
                      </a:pPr>
                      <a:r>
                        <a:rPr lang="en-US" sz="1400" b="1" dirty="0">
                          <a:solidFill>
                            <a:srgbClr val="FFFFFF"/>
                          </a:solidFill>
                        </a:rPr>
                        <a:t>コマ</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2E86AB"/>
                    </a:solidFill>
                  </a:tcPr>
                </a:tc>
                <a:tc>
                  <a:txBody>
                    <a:bodyPr/>
                    <a:lstStyle/>
                    <a:p>
                      <a:pPr indent="0" marL="0">
                        <a:buNone/>
                      </a:pPr>
                      <a:r>
                        <a:rPr lang="en-US" sz="1400" b="1" dirty="0">
                          <a:solidFill>
                            <a:srgbClr val="FFFFFF"/>
                          </a:solidFill>
                        </a:rPr>
                        <a:t>名前と語源</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2E86AB"/>
                    </a:solidFill>
                  </a:tcPr>
                </a:tc>
                <a:tc>
                  <a:txBody>
                    <a:bodyPr/>
                    <a:lstStyle/>
                    <a:p>
                      <a:pPr indent="0" marL="0">
                        <a:buNone/>
                      </a:pPr>
                      <a:r>
                        <a:rPr lang="en-US" sz="1400" b="1" dirty="0">
                          <a:solidFill>
                            <a:srgbClr val="FFFFFF"/>
                          </a:solidFill>
                        </a:rPr>
                        <a:t>何をする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2E86AB"/>
                    </a:solidFill>
                  </a:tcPr>
                </a:tc>
              </a:tr>
              <a:tr h="0">
                <a:tc>
                  <a:txBody>
                    <a:bodyPr/>
                    <a:lstStyle/>
                    <a:p>
                      <a:pPr indent="0" marL="0">
                        <a:buNone/>
                      </a:pPr>
                      <a:r>
                        <a:rPr lang="en-US" sz="1600" b="1" dirty="0">
                          <a:solidFill>
                            <a:srgbClr val="2E86AB"/>
                          </a:solidFill>
                        </a:rPr>
                        <a:t>a1</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TypeScript</a:t>
                      </a:r>
                      <a:endParaRPr lang="en-US" sz="1400" dirty="0"/>
                    </a:p>
                    <a:p>
                      <a:pPr indent="0" marL="0">
                        <a:buNone/>
                      </a:pPr>
                      <a:r>
                        <a:rPr lang="en-US" sz="1400" dirty="0">
                          <a:solidFill>
                            <a:srgbClr val="1B1F2A"/>
                          </a:solidFill>
                        </a:rPr>
                        <a:t>Type（型）＋ JavaScript。値の「型」を決めて、間違いを書いた時点で見つける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TODO アプリを TypeScript に書き換える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2E86AB"/>
                          </a:solidFill>
                        </a:rPr>
                        <a:t>a2</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Tailwind CSS v4</a:t>
                      </a:r>
                      <a:endParaRPr lang="en-US" sz="1400" dirty="0"/>
                    </a:p>
                    <a:p>
                      <a:pPr indent="0" marL="0">
                        <a:buNone/>
                      </a:pPr>
                      <a:r>
                        <a:rPr lang="en-US" sz="1400" dirty="0">
                          <a:solidFill>
                            <a:srgbClr val="1B1F2A"/>
                          </a:solidFill>
                        </a:rPr>
                        <a:t>tailwind＝「追い風」。CSS＝Cascading Style Sheets（cascade＝段々に流れ落ちる滝。スタイルが重なって上書きされる）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クラス名を並べるだけで見た目を整える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E86AB"/>
                          </a:solidFill>
                        </a:rPr>
                        <a:t>a3</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MSW（Mock Service Worker）</a:t>
                      </a:r>
                      <a:endParaRPr lang="en-US" sz="1400" dirty="0"/>
                    </a:p>
                    <a:p>
                      <a:pPr indent="0" marL="0">
                        <a:buNone/>
                      </a:pPr>
                      <a:r>
                        <a:rPr lang="en-US" sz="1400" dirty="0">
                          <a:solidFill>
                            <a:srgbClr val="1B1F2A"/>
                          </a:solidFill>
                        </a:rPr>
                        <a:t>Service Worker はブラウザの裏で通信を仲介するしくみ。API（Application Programming Interface＝プログラム同士の窓口）の偽物を作る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テストでもブラウザでも、同じ「にせ API」を使う</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2E86AB"/>
                          </a:solidFill>
                        </a:rPr>
                        <a:t>a4</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Playwright（E2E）</a:t>
                      </a:r>
                      <a:endParaRPr lang="en-US" sz="1400" dirty="0"/>
                    </a:p>
                    <a:p>
                      <a:pPr indent="0" marL="0">
                        <a:buNone/>
                      </a:pPr>
                      <a:r>
                        <a:rPr lang="en-US" sz="1400" dirty="0">
                          <a:solidFill>
                            <a:srgbClr val="1B1F2A"/>
                          </a:solidFill>
                        </a:rPr>
                        <a:t>playwright＝「劇作家」。wright は「作る職人」（shipwright＝船大工）。台本どおりにブラウザを操作する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本物のブラウザで最初から最後まで操作するテスト</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E86AB"/>
                          </a:solidFill>
                        </a:rPr>
                        <a:t>a5</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b="1" dirty="0">
                          <a:solidFill>
                            <a:srgbClr val="1B1F2A"/>
                          </a:solidFill>
                        </a:rPr>
                        <a:t>Composite Action・Dependabot</a:t>
                      </a:r>
                      <a:endParaRPr lang="en-US" sz="1400" dirty="0"/>
                    </a:p>
                    <a:p>
                      <a:pPr indent="0" marL="0">
                        <a:buNone/>
                      </a:pPr>
                      <a:r>
                        <a:rPr lang="en-US" sz="1400" dirty="0">
                          <a:solidFill>
                            <a:srgbClr val="1B1F2A"/>
                          </a:solidFill>
                        </a:rPr>
                        <a:t>composite＝「組み合わせた」。Dependabot＝dependency（依存する部品）＋ bot（robot の略）</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c>
                  <a:txBody>
                    <a:bodyPr/>
                    <a:lstStyle/>
                    <a:p>
                      <a:pPr indent="0" marL="0">
                        <a:buNone/>
                      </a:pPr>
                      <a:r>
                        <a:rPr lang="en-US" sz="1400" dirty="0">
                          <a:solidFill>
                            <a:srgbClr val="1B1F2A"/>
                          </a:solidFill>
                        </a:rPr>
                        <a:t>キャッシュで CI を速くし、部品の更新 PR を自動で作らせる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EEF4F3"/>
                    </a:solidFill>
                  </a:tcPr>
                </a:tc>
              </a:tr>
              <a:tr h="0">
                <a:tc>
                  <a:txBody>
                    <a:bodyPr/>
                    <a:lstStyle/>
                    <a:p>
                      <a:pPr indent="0" marL="0">
                        <a:buNone/>
                      </a:pPr>
                      <a:r>
                        <a:rPr lang="en-US" sz="1600" b="1" dirty="0">
                          <a:solidFill>
                            <a:srgbClr val="2E86AB"/>
                          </a:solidFill>
                        </a:rPr>
                        <a:t>a6</a:t>
                      </a:r>
                      <a:endParaRPr lang="en-US" sz="16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b="1" dirty="0">
                          <a:solidFill>
                            <a:srgbClr val="1B1F2A"/>
                          </a:solidFill>
                        </a:rPr>
                        <a:t>MSW 総合演習</a:t>
                      </a:r>
                      <a:endParaRPr lang="en-US" sz="1400" dirty="0"/>
                    </a:p>
                    <a:p>
                      <a:pPr indent="0" marL="0">
                        <a:buNone/>
                      </a:pPr>
                      <a:r>
                        <a:rPr lang="en-US" sz="1400" dirty="0">
                          <a:solidFill>
                            <a:srgbClr val="1B1F2A"/>
                          </a:solidFill>
                        </a:rPr>
                        <a:t>ポケモン図鑑を題材に、独立した Next.js プロジェクトで MSW を総まとめ</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c>
                  <a:txBody>
                    <a:bodyPr/>
                    <a:lstStyle/>
                    <a:p>
                      <a:pPr indent="0" marL="0">
                        <a:buNone/>
                      </a:pPr>
                      <a:r>
                        <a:rPr lang="en-US" sz="1400" dirty="0">
                          <a:solidFill>
                            <a:srgbClr val="1B1F2A"/>
                          </a:solidFill>
                        </a:rPr>
                        <a:t>偽 API と本物の PokeAPI を切り替えて開発・テストする</a:t>
                      </a:r>
                      <a:endParaRPr lang="en-US" sz="1400" dirty="0"/>
                    </a:p>
                  </a:txBody>
                  <a:tcPr marL="101600" marR="101600" marT="63500" marB="63500" anchor="ctr">
                    <a:lnL w="9525" cap="flat" cmpd="sng" algn="ctr">
                      <a:solidFill>
                        <a:srgbClr val="CFDCDB"/>
                      </a:solidFill>
                      <a:prstDash val="solid"/>
                      <a:round/>
                      <a:headEnd type="none" w="med" len="med"/>
                      <a:tailEnd type="none" w="med" len="med"/>
                    </a:lnL>
                    <a:lnR w="9525" cap="flat" cmpd="sng" algn="ctr">
                      <a:solidFill>
                        <a:srgbClr val="CFDCDB"/>
                      </a:solidFill>
                      <a:prstDash val="solid"/>
                      <a:round/>
                      <a:headEnd type="none" w="med" len="med"/>
                      <a:tailEnd type="none" w="med" len="med"/>
                    </a:lnR>
                    <a:lnT w="9525" cap="flat" cmpd="sng" algn="ctr">
                      <a:solidFill>
                        <a:srgbClr val="CFDCDB"/>
                      </a:solidFill>
                      <a:prstDash val="solid"/>
                      <a:round/>
                      <a:headEnd type="none" w="med" len="med"/>
                      <a:tailEnd type="none" w="med" len="med"/>
                    </a:lnT>
                    <a:lnB w="9525" cap="flat" cmpd="sng" algn="ctr">
                      <a:solidFill>
                        <a:srgbClr val="CFDC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p>
            <a:pPr indent="0" marL="0">
              <a:buNone/>
            </a:pPr>
            <a:r>
              <a:rPr lang="en-US" sz="3000" b="1" dirty="0">
                <a:solidFill>
                  <a:srgbClr val="0F3D3E"/>
                </a:solidFill>
              </a:rPr>
              <a:t>授業の進め方とお願い</a:t>
            </a:r>
            <a:endParaRPr lang="en-US" sz="3000" dirty="0"/>
          </a:p>
        </p:txBody>
      </p:sp>
      <p:sp>
        <p:nvSpPr>
          <p:cNvPr id="4" name="Shape 1"/>
          <p:cNvSpPr/>
          <p:nvPr/>
        </p:nvSpPr>
        <p:spPr>
          <a:xfrm>
            <a:off x="548640" y="1371600"/>
            <a:ext cx="5394960" cy="3840480"/>
          </a:xfrm>
          <a:prstGeom prst="roundRect">
            <a:avLst>
              <a:gd name="adj" fmla="val 2857"/>
            </a:avLst>
          </a:prstGeom>
          <a:solidFill>
            <a:srgbClr val="EEF4F3"/>
          </a:solidFill>
          <a:ln w="12700">
            <a:solidFill>
              <a:srgbClr val="EEF4F3"/>
            </a:solidFill>
            <a:prstDash val="solid"/>
          </a:ln>
        </p:spPr>
      </p:sp>
      <p:sp>
        <p:nvSpPr>
          <p:cNvPr id="5" name="Text 2"/>
          <p:cNvSpPr txBox="1"/>
          <p:nvPr/>
        </p:nvSpPr>
        <p:spPr>
          <a:xfrm>
            <a:off x="731520" y="1508760"/>
            <a:ext cx="5029200" cy="3566160"/>
          </a:xfrm>
          <a:prstGeom prst="rect">
            <a:avLst/>
          </a:prstGeom>
          <a:noFill/>
          <a:ln/>
        </p:spPr>
        <p:txBody>
          <a:bodyPr wrap="square" lIns="0" tIns="0" rIns="0" bIns="0" rtlCol="0" anchor="t"/>
          <a:lstStyle/>
          <a:p>
            <a:pPr indent="0" marL="0">
              <a:spcAft>
                <a:spcPts val="600"/>
              </a:spcAft>
              <a:buNone/>
            </a:pPr>
            <a:r>
              <a:rPr lang="en-US" sz="1800" b="1" dirty="0">
                <a:solidFill>
                  <a:srgbClr val="14919B"/>
                </a:solidFill>
              </a:rPr>
              <a:t>毎回の流れ</a:t>
            </a:r>
            <a:endParaRPr lang="en-US" sz="1800" dirty="0"/>
          </a:p>
          <a:p>
            <a:pPr indent="0" marL="0">
              <a:spcAft>
                <a:spcPts val="600"/>
              </a:spcAft>
              <a:buNone/>
            </a:pPr>
            <a:r>
              <a:rPr lang="en-US" sz="1700" dirty="0">
                <a:solidFill>
                  <a:srgbClr val="1B1F2A"/>
                </a:solidFill>
              </a:rPr>
              <a:t>① 導入：今日やる理由</a:t>
            </a:r>
            <a:endParaRPr lang="en-US" sz="1800" dirty="0"/>
          </a:p>
          <a:p>
            <a:pPr indent="0" marL="0">
              <a:spcAft>
                <a:spcPts val="600"/>
              </a:spcAft>
              <a:buNone/>
            </a:pPr>
            <a:r>
              <a:rPr lang="en-US" sz="1700" dirty="0">
                <a:solidFill>
                  <a:srgbClr val="1B1F2A"/>
                </a:solidFill>
              </a:rPr>
              <a:t>② 本題：先生と一緒に打つ</a:t>
            </a:r>
            <a:endParaRPr lang="en-US" sz="1800" dirty="0"/>
          </a:p>
          <a:p>
            <a:pPr indent="0" marL="0">
              <a:spcAft>
                <a:spcPts val="600"/>
              </a:spcAft>
              <a:buNone/>
            </a:pPr>
            <a:r>
              <a:rPr lang="en-US" sz="1700" dirty="0">
                <a:solidFill>
                  <a:srgbClr val="1B1F2A"/>
                </a:solidFill>
              </a:rPr>
              <a:t>③ 演習：自分で解く（解答例は折りたたみ）</a:t>
            </a:r>
            <a:endParaRPr lang="en-US" sz="1800" dirty="0"/>
          </a:p>
          <a:p>
            <a:pPr indent="0" marL="0">
              <a:spcAft>
                <a:spcPts val="600"/>
              </a:spcAft>
              <a:buNone/>
            </a:pPr>
            <a:r>
              <a:rPr lang="en-US" sz="1700" dirty="0">
                <a:solidFill>
                  <a:srgbClr val="1B1F2A"/>
                </a:solidFill>
              </a:rPr>
              <a:t>④ まとめ：詰まりやすいポイントの確認</a:t>
            </a:r>
            <a:endParaRPr lang="en-US" sz="1800" dirty="0"/>
          </a:p>
          <a:p>
            <a:pPr indent="0" marL="0">
              <a:spcAft>
                <a:spcPts val="600"/>
              </a:spcAft>
              <a:buNone/>
            </a:pPr>
            <a:r>
              <a:rPr lang="en-US" sz="1700" dirty="0">
                <a:solidFill>
                  <a:srgbClr val="1B1F2A"/>
                </a:solidFill>
              </a:rPr>
              <a:t>⑤ 課題：基礎／応用／チャレンジ</a:t>
            </a:r>
            <a:endParaRPr lang="en-US" sz="1800" dirty="0"/>
          </a:p>
        </p:txBody>
      </p:sp>
      <p:sp>
        <p:nvSpPr>
          <p:cNvPr id="6" name="Shape 3"/>
          <p:cNvSpPr/>
          <p:nvPr/>
        </p:nvSpPr>
        <p:spPr>
          <a:xfrm>
            <a:off x="6217920" y="1371600"/>
            <a:ext cx="5394960" cy="3840480"/>
          </a:xfrm>
          <a:prstGeom prst="roundRect">
            <a:avLst>
              <a:gd name="adj" fmla="val 2857"/>
            </a:avLst>
          </a:prstGeom>
          <a:solidFill>
            <a:srgbClr val="FDF3E3"/>
          </a:solidFill>
          <a:ln w="12700">
            <a:solidFill>
              <a:srgbClr val="FDF3E3"/>
            </a:solidFill>
            <a:prstDash val="solid"/>
          </a:ln>
        </p:spPr>
      </p:sp>
      <p:sp>
        <p:nvSpPr>
          <p:cNvPr id="7" name="Text 4"/>
          <p:cNvSpPr txBox="1"/>
          <p:nvPr/>
        </p:nvSpPr>
        <p:spPr>
          <a:xfrm>
            <a:off x="6400800" y="1508760"/>
            <a:ext cx="5029200" cy="3566160"/>
          </a:xfrm>
          <a:prstGeom prst="rect">
            <a:avLst/>
          </a:prstGeom>
          <a:noFill/>
          <a:ln/>
        </p:spPr>
        <p:txBody>
          <a:bodyPr wrap="square" lIns="0" tIns="0" rIns="0" bIns="0" rtlCol="0" anchor="t"/>
          <a:lstStyle/>
          <a:p>
            <a:pPr indent="0" marL="0">
              <a:spcAft>
                <a:spcPts val="600"/>
              </a:spcAft>
              <a:buNone/>
            </a:pPr>
            <a:r>
              <a:rPr lang="en-US" sz="1800" b="1" dirty="0">
                <a:solidFill>
                  <a:srgbClr val="C47F1A"/>
                </a:solidFill>
              </a:rPr>
              <a:t>うまくいくコツ</a:t>
            </a:r>
            <a:endParaRPr lang="en-US" sz="1800" dirty="0"/>
          </a:p>
          <a:p>
            <a:pPr indent="0" marL="0">
              <a:spcAft>
                <a:spcPts val="600"/>
              </a:spcAft>
              <a:buNone/>
            </a:pPr>
            <a:r>
              <a:rPr lang="en-US" sz="1700" dirty="0">
                <a:solidFill>
                  <a:srgbClr val="1B1F2A"/>
                </a:solidFill>
              </a:rPr>
              <a:t>・エラーは全文を読む。そのまま貼って質問する</a:t>
            </a:r>
            <a:endParaRPr lang="en-US" sz="1800" dirty="0"/>
          </a:p>
          <a:p>
            <a:pPr indent="0" marL="0">
              <a:spcAft>
                <a:spcPts val="600"/>
              </a:spcAft>
              <a:buNone/>
            </a:pPr>
            <a:r>
              <a:rPr lang="en-US" sz="1700" dirty="0">
                <a:solidFill>
                  <a:srgbClr val="1B1F2A"/>
                </a:solidFill>
              </a:rPr>
              <a:t>・コピペより手で打つ（理由も一緒に覚える）</a:t>
            </a:r>
            <a:endParaRPr lang="en-US" sz="1800" dirty="0"/>
          </a:p>
          <a:p>
            <a:pPr indent="0" marL="0">
              <a:spcAft>
                <a:spcPts val="600"/>
              </a:spcAft>
              <a:buNone/>
            </a:pPr>
            <a:r>
              <a:rPr lang="en-US" sz="1700" dirty="0">
                <a:solidFill>
                  <a:srgbClr val="1B1F2A"/>
                </a:solidFill>
              </a:rPr>
              <a:t>・小さくコミット、こまめに push</a:t>
            </a:r>
            <a:endParaRPr lang="en-US" sz="1800" dirty="0"/>
          </a:p>
          <a:p>
            <a:pPr indent="0" marL="0">
              <a:spcAft>
                <a:spcPts val="600"/>
              </a:spcAft>
              <a:buNone/>
            </a:pPr>
            <a:r>
              <a:rPr lang="en-US" sz="1700" dirty="0">
                <a:solidFill>
                  <a:srgbClr val="1B1F2A"/>
                </a:solidFill>
              </a:rPr>
              <a:t>・知らない略語は、元の英語を調べると覚えやすい</a:t>
            </a:r>
            <a:endParaRPr lang="en-US" sz="1800" dirty="0"/>
          </a:p>
          <a:p>
            <a:pPr indent="0" marL="0">
              <a:spcAft>
                <a:spcPts val="600"/>
              </a:spcAft>
              <a:buNone/>
            </a:pPr>
            <a:r>
              <a:rPr lang="en-US" sz="1700" dirty="0">
                <a:solidFill>
                  <a:srgbClr val="1B1F2A"/>
                </a:solidFill>
              </a:rPr>
              <a:t>・休んだら、教材の Markdown を1コマ読めば追いつける</a:t>
            </a:r>
            <a:endParaRPr lang="en-US" sz="1800" dirty="0"/>
          </a:p>
        </p:txBody>
      </p:sp>
      <p:sp>
        <p:nvSpPr>
          <p:cNvPr id="25" name="Slide Number Placeholder 0"/>
          <p:cNvSpPr>
            <a:spLocks noGrp="1"/>
          </p:cNvSpPr>
          <p:nvPr>
            <p:ph type="sldNum" sz="quarter" idx="4294967295"/>
          </p:nvPr>
        </p:nvSpPr>
        <p:spPr>
          <a:xfrm>
            <a:off x="1133856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A8A"/>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p>
            <a:pPr indent="0" marL="0">
              <a:buNone/>
            </a:pPr>
            <a:r>
              <a:rPr lang="en-US" sz="4400" b="1" dirty="0">
                <a:solidFill>
                  <a:srgbClr val="FFFFFF"/>
                </a:solidFill>
              </a:rPr>
              <a:t>この後は：コマ1 環境構築</a:t>
            </a:r>
            <a:endParaRPr lang="en-US" sz="4400" dirty="0"/>
          </a:p>
        </p:txBody>
      </p:sp>
      <p:sp>
        <p:nvSpPr>
          <p:cNvPr id="4" name="Text 0"/>
          <p:cNvSpPr/>
          <p:nvPr>
            <p:ph idx="101" type="body" hasCustomPrompt="1"/>
          </p:nvPr>
        </p:nvSpPr>
        <p:spPr>
          <a:xfrm>
            <a:off x="731520" y="3474720"/>
            <a:ext cx="10698480" cy="1280160"/>
          </a:xfrm>
          <a:prstGeom prst="rect">
            <a:avLst/>
          </a:prstGeom>
          <a:noFill/>
          <a:ln/>
        </p:spPr>
        <p:txBody>
          <a:bodyPr wrap="square" rtlCol="0" anchor="t"/>
          <a:lstStyle/>
          <a:p>
            <a:pPr indent="0" marL="0">
              <a:buNone/>
            </a:pPr>
            <a:r>
              <a:rPr lang="en-US" sz="2000" dirty="0">
                <a:solidFill>
                  <a:srgbClr val="BFE3E2"/>
                </a:solidFill>
              </a:rPr>
              <a:t>Node.js・Git・VS Code をそろえて、Next.js プロジェクトを動かします</a:t>
            </a:r>
            <a:endParaRPr lang="en-US" sz="2000" dirty="0"/>
          </a:p>
          <a:p>
            <a:pPr indent="0" marL="0">
              <a:buNone/>
            </a:pPr>
            <a:r>
              <a:rPr lang="en-US" sz="2000" dirty="0">
                <a:solidFill>
                  <a:srgbClr val="BFE3E2"/>
                </a:solidFill>
              </a:rPr>
              <a:t>PC と GitHub アカウントを準備してきてください</a:t>
            </a:r>
            <a:endParaRPr lang="en-US" sz="2000" dirty="0"/>
          </a:p>
        </p:txBody>
      </p:sp>
    </p:spTree>
  </p:cSld>
  <p:clrMapOvr>
    <a:masterClrMapping/>
  </p:clrMapOvr>
</p:sld>
</file>

<file path=ppt/theme/theme1.xml><?xml version="1.0" encoding="utf-8"?>
<a:theme xmlns:a="http://schemas.openxmlformats.org/drawingml/2006/main" name="WebFront">
  <a:themeElements>
    <a:clrScheme name="WebFront">
      <a:dk1>
        <a:srgbClr val="1B1F2A"/>
      </a:dk1>
      <a:lt1>
        <a:srgbClr val="FFFFFF"/>
      </a:lt1>
      <a:dk2>
        <a:srgbClr val="0F3D3E"/>
      </a:dk2>
      <a:lt2>
        <a:srgbClr val="EEF4F3"/>
      </a:lt2>
      <a:accent1>
        <a:srgbClr val="14919B"/>
      </a:accent1>
      <a:accent2>
        <a:srgbClr val="C47F1A"/>
      </a:accent2>
      <a:accent3>
        <a:srgbClr val="6A4BE0"/>
      </a:accent3>
      <a:accent4>
        <a:srgbClr val="D4471F"/>
      </a:accent4>
      <a:accent5>
        <a:srgbClr val="2E86AB"/>
      </a:accent5>
      <a:accent6>
        <a:srgbClr val="4CAF50"/>
      </a:accent6>
      <a:hlink>
        <a:srgbClr val="14919B"/>
      </a:hlink>
      <a:folHlink>
        <a:srgbClr val="6A4BE0"/>
      </a:folHlink>
    </a:clrScheme>
    <a:fontScheme name="WebFront">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Webフロントエンド 授業ガイダンス</dc:title>
  <dc:subject>PptxGenJS Presentation</dc:subject>
  <dc:creator>PptxGenJS</dc:creator>
  <cp:lastModifiedBy>PptxGenJS</cp:lastModifiedBy>
  <cp:revision>1</cp:revision>
  <dcterms:created xsi:type="dcterms:W3CDTF">2026-10-05T11:33:33Z</dcterms:created>
  <dcterms:modified xsi:type="dcterms:W3CDTF">2026-10-05T11:33:33Z</dcterms:modified>
</cp:coreProperties>
</file>